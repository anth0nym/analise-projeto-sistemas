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3406B6-85D4-4D3E-B33A-8AC659BED378}">
  <a:tblStyle styleId="{DD3406B6-85D4-4D3E-B33A-8AC659BED37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F9D8034-3FCC-48F4-A0C0-902DE1BD5031}"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4ffa9ac2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4ffa9ac2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6e55d207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6e55d207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6e55d2071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6e55d2071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6e55d207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6e55d207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6e5623de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6e5623de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6e5623de2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6e5623de2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6e5623de2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6e5623de2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6e5623de2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6e5623de2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6e5623de2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6e5623de2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6e5623de2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6e5623de2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6e5623de2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6e5623de2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6e5623de2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6e5623de2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e8cac5e7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e8cac5e7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712103d9b2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712103d9b2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c19aa4a0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c19aa4a0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c19aa4a0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c19aa4a0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6e5623de2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6e5623de2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6fcfc001a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6fcfc001a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6fcfc001a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6fcfc001a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6fcfc001ae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6fcfc001a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6fcfc001ae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6fcfc001ae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6fcfc001ae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6fcfc001ae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6fcfc001ae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6fcfc001ae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fcfc001ae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fcfc001ae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6fcfc001ae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6fcfc001ae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6fcfc001ae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6fcfc001ae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6fcfc001ae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6fcfc001ae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6fcfc001ae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6fcfc001ae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09bdd518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09bdd518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4c1446cd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64c1446cd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0e958241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0e958241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64c1446cd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64c1446cd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0e958241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0e958241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65e6b4c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965e6b4c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48a42a13c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48a42a13c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6fcfc001ae_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6fcfc001ae_1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48a42a13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48a42a13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6fcfc001ae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6fcfc001ae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df9259913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df9259913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df9259913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df9259913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712103d9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712103d9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712103d9b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712103d9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712103d9b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712103d9b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20df57219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20df57219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20df57219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20df57219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20df57219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20df57219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20df57219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20df57219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20df57219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20df57219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20df57219c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20df57219c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20df57219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20df57219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20df57219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20df57219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20df57219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20df57219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20df57219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20df57219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20df57219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20df57219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20df57219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20df57219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20df57219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20df57219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20df57219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20df57219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20df57219c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20df57219c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20df57219c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20df57219c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20df57219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20df57219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20df57219c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20df57219c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41340d354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41340d354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20df57219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220df57219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20df57219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20df57219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20df57219c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20df57219c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20df57219c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20df57219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20df57219c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20df57219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20df57219c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20df57219c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20df57219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20df57219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e298e1244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e298e1244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65e6b4cb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65e6b4cb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20df57219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20df57219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20df57219c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20df57219c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2253afa9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2253afa9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20df57219c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20df57219c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20df57219c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20df57219c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20df57219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20df57219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20df57219c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20df57219c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20df57219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20df57219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20df57219c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20df57219c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20df57219c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20df57219c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a420ee27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a420ee27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20df57219c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20df57219c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20df57219c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20df57219c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20df57219c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220df57219c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220df57219c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220df57219c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712103d9b2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712103d9b2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712103d9b2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712103d9b2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712103d9b2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712103d9b2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712103d9b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712103d9b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712103d9b2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712103d9b2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712103d9b2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712103d9b2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712103d9b2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712103d9b2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712103d9b2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712103d9b2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712103d9b2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712103d9b2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712103d9b2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712103d9b2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712103d9b2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712103d9b2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a5827fbfc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a5827fbfc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44478eaff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44478eaff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712103d9b2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712103d9b2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712103d9b2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712103d9b2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712103d9b2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712103d9b2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712103d9b2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712103d9b2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712103d9b2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712103d9b2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138967b63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138967b63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712103d9b2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712103d9b2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712103d9b2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712103d9b2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712103d9b2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712103d9b2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a5827fbfc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a5827fbfc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1df9259913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1df9259913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1df9259913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1df9259913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1df9259913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1df9259913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1df925991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1df925991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2594bc7c2c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2594bc7c2c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594bc7c2c4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594bc7c2c4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594bc7c2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2594bc7c2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594bc7c2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2594bc7c2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2594bc7c2c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2594bc7c2c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2594bc7c2c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2594bc7c2c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7acaa44ec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27acaa44ec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1e6d86e274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1e6d86e274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94166cd8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94166cd8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creativecommons.org/licenses/by/3.0/b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hyperlink" Target="https://www.chrislucian.com/2019/09/mob-programming-financial-benefits.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hyperlink" Target="https://github.blog/news-insights/product-news/introducing-github-copilot-ai-pair-programmer/"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hyperlink" Target="https://code.visualstudio.com/docs/copilot/ai-powered-suggestion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hyperlink" Target="https://claude.com/blog/code-review"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1.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3.png"/><Relationship Id="rId4" Type="http://schemas.openxmlformats.org/officeDocument/2006/relationships/image" Target="../media/image37.png"/><Relationship Id="rId5"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4.png"/><Relationship Id="rId4" Type="http://schemas.openxmlformats.org/officeDocument/2006/relationships/image" Target="../media/image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3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3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4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3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3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3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6.png"/><Relationship Id="rId4" Type="http://schemas.openxmlformats.org/officeDocument/2006/relationships/image" Target="../media/image4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3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3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3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3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4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16936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sz="2400"/>
              <a:t>Engenharia de Software Moderna</a:t>
            </a:r>
            <a:endParaRPr sz="2400"/>
          </a:p>
          <a:p>
            <a:pPr indent="0" lvl="0" marL="0" rtl="0" algn="ctr">
              <a:spcBef>
                <a:spcPts val="0"/>
              </a:spcBef>
              <a:spcAft>
                <a:spcPts val="0"/>
              </a:spcAft>
              <a:buNone/>
            </a:pPr>
            <a:r>
              <a:t/>
            </a:r>
            <a:endParaRPr sz="3200"/>
          </a:p>
          <a:p>
            <a:pPr indent="0" lvl="0" marL="0" rtl="0" algn="ctr">
              <a:spcBef>
                <a:spcPts val="0"/>
              </a:spcBef>
              <a:spcAft>
                <a:spcPts val="0"/>
              </a:spcAft>
              <a:buNone/>
            </a:pPr>
            <a:r>
              <a:rPr b="1" lang="pt-BR" sz="3200"/>
              <a:t>Cap. 2 - Processos</a:t>
            </a:r>
            <a:endParaRPr b="1" sz="3200"/>
          </a:p>
          <a:p>
            <a:pPr indent="0" lvl="0" marL="0" rtl="0" algn="ctr">
              <a:spcBef>
                <a:spcPts val="0"/>
              </a:spcBef>
              <a:spcAft>
                <a:spcPts val="0"/>
              </a:spcAft>
              <a:buNone/>
            </a:pPr>
            <a:r>
              <a:t/>
            </a:r>
            <a:endParaRPr sz="3000"/>
          </a:p>
          <a:p>
            <a:pPr indent="0" lvl="0" marL="0" rtl="0" algn="ctr">
              <a:spcBef>
                <a:spcPts val="0"/>
              </a:spcBef>
              <a:spcAft>
                <a:spcPts val="0"/>
              </a:spcAft>
              <a:buNone/>
            </a:pPr>
            <a:r>
              <a:rPr lang="pt-BR" sz="2400"/>
              <a:t>Prof. Marco Tulio Valente</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pt-BR" sz="1400"/>
              <a:t>https://engsoftmoderna.info</a:t>
            </a:r>
            <a:endParaRPr sz="1400"/>
          </a:p>
        </p:txBody>
      </p:sp>
      <p:sp>
        <p:nvSpPr>
          <p:cNvPr id="55" name="Google Shape;55;p1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6" name="Google Shape;56;p13"/>
          <p:cNvSpPr txBox="1"/>
          <p:nvPr/>
        </p:nvSpPr>
        <p:spPr>
          <a:xfrm>
            <a:off x="751450" y="4455775"/>
            <a:ext cx="7695900" cy="5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200">
                <a:solidFill>
                  <a:srgbClr val="FF0000"/>
                </a:solidFill>
                <a:highlight>
                  <a:schemeClr val="lt1"/>
                </a:highlight>
              </a:rPr>
              <a:t>Licença </a:t>
            </a:r>
            <a:r>
              <a:rPr lang="pt-BR" sz="1200" u="sng">
                <a:solidFill>
                  <a:srgbClr val="FF0000"/>
                </a:solidFill>
                <a:highlight>
                  <a:schemeClr val="lt1"/>
                </a:highlight>
                <a:hlinkClick r:id="rId3">
                  <a:extLst>
                    <a:ext uri="{A12FA001-AC4F-418D-AE19-62706E023703}">
                      <ahyp:hlinkClr val="tx"/>
                    </a:ext>
                  </a:extLst>
                </a:hlinkClick>
              </a:rPr>
              <a:t>CC-BY</a:t>
            </a:r>
            <a:r>
              <a:rPr lang="pt-BR" sz="1200">
                <a:solidFill>
                  <a:srgbClr val="FF0000"/>
                </a:solidFill>
                <a:highlight>
                  <a:schemeClr val="lt1"/>
                </a:highlight>
              </a:rPr>
              <a:t>; permite copiar, distribuir, adaptar etc; porém, </a:t>
            </a:r>
            <a:r>
              <a:rPr b="1" lang="pt-BR" sz="1200">
                <a:solidFill>
                  <a:srgbClr val="FF0000"/>
                </a:solidFill>
                <a:highlight>
                  <a:schemeClr val="lt1"/>
                </a:highlight>
              </a:rPr>
              <a:t>créditos devem ser dados ao autor dos slides</a:t>
            </a:r>
            <a:endParaRPr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Engenharia Tradicional</a:t>
            </a:r>
            <a:endParaRPr/>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3" name="Google Shape;63;p14"/>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Civil, mecânica, elétrica, aviação, automobilística, etc</a:t>
            </a:r>
            <a:endParaRPr sz="2400"/>
          </a:p>
          <a:p>
            <a:pPr indent="-381000" lvl="0" marL="457200" rtl="0" algn="l">
              <a:lnSpc>
                <a:spcPct val="114000"/>
              </a:lnSpc>
              <a:spcBef>
                <a:spcPts val="1000"/>
              </a:spcBef>
              <a:spcAft>
                <a:spcPts val="0"/>
              </a:spcAft>
              <a:buSzPts val="2400"/>
              <a:buChar char="●"/>
            </a:pPr>
            <a:r>
              <a:rPr lang="pt-BR" sz="2400"/>
              <a:t>Projeto com d</a:t>
            </a:r>
            <a:r>
              <a:rPr lang="pt-BR" sz="2400"/>
              <a:t>uas características:</a:t>
            </a:r>
            <a:endParaRPr sz="2400"/>
          </a:p>
          <a:p>
            <a:pPr indent="-381000" lvl="1" marL="914400" rtl="0" algn="l">
              <a:lnSpc>
                <a:spcPct val="114000"/>
              </a:lnSpc>
              <a:spcBef>
                <a:spcPts val="1000"/>
              </a:spcBef>
              <a:spcAft>
                <a:spcPts val="0"/>
              </a:spcAft>
              <a:buSzPts val="2400"/>
              <a:buChar char="○"/>
            </a:pPr>
            <a:r>
              <a:rPr lang="pt-BR" sz="2400"/>
              <a:t>Planejamento detalhado (</a:t>
            </a:r>
            <a:r>
              <a:rPr i="1" lang="pt-BR" sz="2400"/>
              <a:t>big upfront design</a:t>
            </a:r>
            <a:r>
              <a:rPr lang="pt-BR" sz="2400"/>
              <a:t>)</a:t>
            </a:r>
            <a:endParaRPr sz="2400"/>
          </a:p>
          <a:p>
            <a:pPr indent="-381000" lvl="1" marL="914400" rtl="0" algn="l">
              <a:lnSpc>
                <a:spcPct val="114000"/>
              </a:lnSpc>
              <a:spcBef>
                <a:spcPts val="1000"/>
              </a:spcBef>
              <a:spcAft>
                <a:spcPts val="0"/>
              </a:spcAft>
              <a:buSzPts val="2400"/>
              <a:buChar char="○"/>
            </a:pPr>
            <a:r>
              <a:rPr lang="pt-BR" sz="2400"/>
              <a:t>Sequencial </a:t>
            </a:r>
            <a:endParaRPr sz="2400"/>
          </a:p>
          <a:p>
            <a:pPr indent="-381000" lvl="0" marL="457200" rtl="0" algn="l">
              <a:lnSpc>
                <a:spcPct val="114000"/>
              </a:lnSpc>
              <a:spcBef>
                <a:spcPts val="1000"/>
              </a:spcBef>
              <a:spcAft>
                <a:spcPts val="0"/>
              </a:spcAft>
              <a:buSzPts val="2400"/>
              <a:buChar char="●"/>
            </a:pPr>
            <a:r>
              <a:rPr lang="pt-BR" sz="2400"/>
              <a:t>Isto é, Waterfall, há milhares de anos</a:t>
            </a:r>
            <a:endParaRPr sz="2400"/>
          </a:p>
          <a:p>
            <a:pPr indent="0" lvl="0" marL="457200" marR="0" rtl="0" algn="l">
              <a:lnSpc>
                <a:spcPct val="114000"/>
              </a:lnSpc>
              <a:spcBef>
                <a:spcPts val="1000"/>
              </a:spcBef>
              <a:spcAft>
                <a:spcPts val="0"/>
              </a:spcAft>
              <a:buNone/>
            </a:pPr>
            <a:r>
              <a:t/>
            </a:r>
            <a:endParaRPr sz="2400"/>
          </a:p>
          <a:p>
            <a:pPr indent="0" lvl="0" marL="914400" marR="0" rtl="0" algn="l">
              <a:lnSpc>
                <a:spcPct val="114000"/>
              </a:lnSpc>
              <a:spcBef>
                <a:spcPts val="1000"/>
              </a:spcBef>
              <a:spcAft>
                <a:spcPts val="1000"/>
              </a:spcAft>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Natural que ES começasse usando Waterfall</a:t>
            </a:r>
            <a:endParaRPr/>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0" name="Google Shape;70;p15"/>
          <p:cNvPicPr preferRelativeResize="0"/>
          <p:nvPr/>
        </p:nvPicPr>
        <p:blipFill>
          <a:blip r:embed="rId3">
            <a:alphaModFix/>
          </a:blip>
          <a:stretch>
            <a:fillRect/>
          </a:stretch>
        </p:blipFill>
        <p:spPr>
          <a:xfrm>
            <a:off x="304800" y="1170125"/>
            <a:ext cx="6042473" cy="3820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No entanto: Waterfall não funcionou com software!</a:t>
            </a:r>
            <a:endParaRPr/>
          </a:p>
        </p:txBody>
      </p:sp>
      <p:sp>
        <p:nvSpPr>
          <p:cNvPr id="76" name="Google Shape;7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Software é diferente</a:t>
            </a:r>
            <a:endParaRPr/>
          </a:p>
        </p:txBody>
      </p:sp>
      <p:sp>
        <p:nvSpPr>
          <p:cNvPr id="82" name="Google Shape;8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83" name="Google Shape;83;p17"/>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Engenharia de Software ≠ Engenharia Tradicional</a:t>
            </a:r>
            <a:endParaRPr sz="2400"/>
          </a:p>
          <a:p>
            <a:pPr indent="-381000" lvl="0" marL="457200" marR="0" rtl="0" algn="l">
              <a:lnSpc>
                <a:spcPct val="114000"/>
              </a:lnSpc>
              <a:spcBef>
                <a:spcPts val="1000"/>
              </a:spcBef>
              <a:spcAft>
                <a:spcPts val="0"/>
              </a:spcAft>
              <a:buSzPts val="2400"/>
              <a:buChar char="●"/>
            </a:pPr>
            <a:r>
              <a:rPr lang="pt-BR" sz="2400"/>
              <a:t>Software  ≠  (carro, ponte, casa, avião, celular, etc)</a:t>
            </a:r>
            <a:endParaRPr sz="2400"/>
          </a:p>
          <a:p>
            <a:pPr indent="-381000" lvl="0" marL="457200" marR="0" rtl="0" algn="l">
              <a:lnSpc>
                <a:spcPct val="114000"/>
              </a:lnSpc>
              <a:spcBef>
                <a:spcPts val="1000"/>
              </a:spcBef>
              <a:spcAft>
                <a:spcPts val="0"/>
              </a:spcAft>
              <a:buSzPts val="2400"/>
              <a:buChar char="●"/>
            </a:pPr>
            <a:r>
              <a:rPr lang="pt-BR" sz="2400"/>
              <a:t>Software ≠ (produtos físicos)</a:t>
            </a:r>
            <a:endParaRPr sz="2400"/>
          </a:p>
          <a:p>
            <a:pPr indent="-381000" lvl="0" marL="457200" marR="0" rtl="0" algn="l">
              <a:lnSpc>
                <a:spcPct val="114000"/>
              </a:lnSpc>
              <a:spcBef>
                <a:spcPts val="1000"/>
              </a:spcBef>
              <a:spcAft>
                <a:spcPts val="0"/>
              </a:spcAft>
              <a:buSzPts val="2400"/>
              <a:buChar char="●"/>
            </a:pPr>
            <a:r>
              <a:rPr lang="pt-BR" sz="2400"/>
              <a:t>Software é abstrato e "adaptável</a:t>
            </a:r>
            <a:r>
              <a:rPr lang="pt-BR" sz="2400"/>
              <a:t>"</a:t>
            </a:r>
            <a:endParaRPr sz="2400"/>
          </a:p>
          <a:p>
            <a:pPr indent="0" lvl="0" marL="914400" marR="0" rtl="0" algn="l">
              <a:lnSpc>
                <a:spcPct val="114000"/>
              </a:lnSpc>
              <a:spcBef>
                <a:spcPts val="1000"/>
              </a:spcBef>
              <a:spcAft>
                <a:spcPts val="100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Dificuldade 1: Requisitos</a:t>
            </a:r>
            <a:endParaRPr/>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90" name="Google Shape;90;p18"/>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Clientes não sabem o que querem (em um software)</a:t>
            </a:r>
            <a:endParaRPr sz="2400"/>
          </a:p>
          <a:p>
            <a:pPr indent="-381000" lvl="1" marL="914400" marR="0" rtl="0" algn="l">
              <a:lnSpc>
                <a:spcPct val="114000"/>
              </a:lnSpc>
              <a:spcBef>
                <a:spcPts val="1000"/>
              </a:spcBef>
              <a:spcAft>
                <a:spcPts val="0"/>
              </a:spcAft>
              <a:buSzPts val="2400"/>
              <a:buChar char="○"/>
            </a:pPr>
            <a:r>
              <a:rPr lang="pt-BR" sz="2400"/>
              <a:t>Funcionalidades são "infinitas" (difícil prever)</a:t>
            </a:r>
            <a:endParaRPr sz="2400"/>
          </a:p>
          <a:p>
            <a:pPr indent="-381000" lvl="1" marL="914400" marR="0" rtl="0" algn="l">
              <a:lnSpc>
                <a:spcPct val="114000"/>
              </a:lnSpc>
              <a:spcBef>
                <a:spcPts val="1000"/>
              </a:spcBef>
              <a:spcAft>
                <a:spcPts val="0"/>
              </a:spcAft>
              <a:buSzPts val="2400"/>
              <a:buChar char="○"/>
            </a:pPr>
            <a:r>
              <a:rPr lang="pt-BR" sz="2400"/>
              <a:t>Mundo muda!</a:t>
            </a:r>
            <a:endParaRPr sz="2400"/>
          </a:p>
          <a:p>
            <a:pPr indent="-381000" lvl="0" marL="457200" marR="0" rtl="0" algn="l">
              <a:lnSpc>
                <a:spcPct val="114000"/>
              </a:lnSpc>
              <a:spcBef>
                <a:spcPts val="1000"/>
              </a:spcBef>
              <a:spcAft>
                <a:spcPts val="0"/>
              </a:spcAft>
              <a:buSzPts val="2400"/>
              <a:buChar char="●"/>
            </a:pPr>
            <a:r>
              <a:rPr lang="pt-BR" sz="2400"/>
              <a:t>Não dá mais para ficar 1 ano levantando requisitos, 1 ano projetando, 1 ano implementando, etc</a:t>
            </a:r>
            <a:endParaRPr sz="2400"/>
          </a:p>
          <a:p>
            <a:pPr indent="-381000" lvl="0" marL="457200" marR="0" rtl="0" algn="l">
              <a:lnSpc>
                <a:spcPct val="114000"/>
              </a:lnSpc>
              <a:spcBef>
                <a:spcPts val="1000"/>
              </a:spcBef>
              <a:spcAft>
                <a:spcPts val="0"/>
              </a:spcAft>
              <a:buSzPts val="2400"/>
              <a:buChar char="●"/>
            </a:pPr>
            <a:r>
              <a:rPr lang="pt-BR" sz="2400"/>
              <a:t>Quando o software ficar pronto, </a:t>
            </a:r>
            <a:endParaRPr sz="2400"/>
          </a:p>
          <a:p>
            <a:pPr indent="0" lvl="0" marL="457200" marR="0" rtl="0" algn="l">
              <a:lnSpc>
                <a:spcPct val="114000"/>
              </a:lnSpc>
              <a:spcBef>
                <a:spcPts val="1000"/>
              </a:spcBef>
              <a:spcAft>
                <a:spcPts val="0"/>
              </a:spcAft>
              <a:buNone/>
            </a:pPr>
            <a:r>
              <a:rPr lang="pt-BR" sz="2400"/>
              <a:t>ele estará obsoleto!</a:t>
            </a:r>
            <a:endParaRPr sz="2400"/>
          </a:p>
          <a:p>
            <a:pPr indent="0" lvl="0" marL="0" marR="0" rtl="0" algn="l">
              <a:lnSpc>
                <a:spcPct val="114000"/>
              </a:lnSpc>
              <a:spcBef>
                <a:spcPts val="1000"/>
              </a:spcBef>
              <a:spcAft>
                <a:spcPts val="0"/>
              </a:spcAft>
              <a:buNone/>
            </a:pPr>
            <a:r>
              <a:t/>
            </a:r>
            <a:endParaRPr sz="2400"/>
          </a:p>
          <a:p>
            <a:pPr indent="0" lvl="0" marL="914400" marR="0" rtl="0" algn="l">
              <a:lnSpc>
                <a:spcPct val="114000"/>
              </a:lnSpc>
              <a:spcBef>
                <a:spcPts val="1000"/>
              </a:spcBef>
              <a:spcAft>
                <a:spcPts val="1000"/>
              </a:spcAft>
              <a:buNone/>
            </a:pPr>
            <a:r>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Dificuldade 2: Documentações Detalhadas</a:t>
            </a:r>
            <a:endParaRPr/>
          </a:p>
        </p:txBody>
      </p:sp>
      <p:sp>
        <p:nvSpPr>
          <p:cNvPr id="96" name="Google Shape;9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97" name="Google Shape;97;p19"/>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Verbosas e pouco úteis</a:t>
            </a:r>
            <a:endParaRPr sz="2400"/>
          </a:p>
          <a:p>
            <a:pPr indent="-381000" lvl="0" marL="457200" marR="0" rtl="0" algn="l">
              <a:lnSpc>
                <a:spcPct val="114000"/>
              </a:lnSpc>
              <a:spcBef>
                <a:spcPts val="1000"/>
              </a:spcBef>
              <a:spcAft>
                <a:spcPts val="0"/>
              </a:spcAft>
              <a:buSzPts val="2400"/>
              <a:buChar char="●"/>
            </a:pPr>
            <a:r>
              <a:rPr lang="pt-BR" sz="2400"/>
              <a:t>Na prática, desconsideradas durante implementação</a:t>
            </a:r>
            <a:endParaRPr sz="2400"/>
          </a:p>
          <a:p>
            <a:pPr indent="-381000" lvl="0" marL="457200" marR="0" rtl="0" algn="l">
              <a:lnSpc>
                <a:spcPct val="114000"/>
              </a:lnSpc>
              <a:spcBef>
                <a:spcPts val="1000"/>
              </a:spcBef>
              <a:spcAft>
                <a:spcPts val="0"/>
              </a:spcAft>
              <a:buSzPts val="2400"/>
              <a:buChar char="●"/>
            </a:pPr>
            <a:r>
              <a:rPr i="1" lang="pt-BR" sz="2400"/>
              <a:t>Plan-and-document</a:t>
            </a:r>
            <a:r>
              <a:rPr lang="pt-BR" sz="2400"/>
              <a:t> não funcionou com software</a:t>
            </a:r>
            <a:endParaRPr sz="2400"/>
          </a:p>
          <a:p>
            <a:pPr indent="0" lvl="0" marL="0" marR="0" rtl="0" algn="l">
              <a:lnSpc>
                <a:spcPct val="114000"/>
              </a:lnSpc>
              <a:spcBef>
                <a:spcPts val="1000"/>
              </a:spcBef>
              <a:spcAft>
                <a:spcPts val="0"/>
              </a:spcAft>
              <a:buNone/>
            </a:pPr>
            <a:r>
              <a:t/>
            </a:r>
            <a:endParaRPr sz="2400"/>
          </a:p>
          <a:p>
            <a:pPr indent="0" lvl="0" marL="0" marR="0" rtl="0" algn="l">
              <a:lnSpc>
                <a:spcPct val="114000"/>
              </a:lnSpc>
              <a:spcBef>
                <a:spcPts val="1000"/>
              </a:spcBef>
              <a:spcAft>
                <a:spcPts val="0"/>
              </a:spcAft>
              <a:buNone/>
            </a:pPr>
            <a:r>
              <a:t/>
            </a:r>
            <a:endParaRPr sz="2400"/>
          </a:p>
          <a:p>
            <a:pPr indent="0" lvl="0" marL="914400" marR="0" rtl="0" algn="l">
              <a:lnSpc>
                <a:spcPct val="114000"/>
              </a:lnSpc>
              <a:spcBef>
                <a:spcPts val="1000"/>
              </a:spcBef>
              <a:spcAft>
                <a:spcPts val="1000"/>
              </a:spcAft>
              <a:buNone/>
            </a:pPr>
            <a:r>
              <a:t/>
            </a:r>
            <a:endParaRPr sz="2400"/>
          </a:p>
        </p:txBody>
      </p:sp>
      <p:pic>
        <p:nvPicPr>
          <p:cNvPr id="98" name="Google Shape;98;p19"/>
          <p:cNvPicPr preferRelativeResize="0"/>
          <p:nvPr/>
        </p:nvPicPr>
        <p:blipFill>
          <a:blip r:embed="rId3">
            <a:alphaModFix/>
          </a:blip>
          <a:stretch>
            <a:fillRect/>
          </a:stretch>
        </p:blipFill>
        <p:spPr>
          <a:xfrm>
            <a:off x="657225" y="3052763"/>
            <a:ext cx="2800350" cy="1628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Manifesto Ágil (2001)</a:t>
            </a:r>
            <a:endParaRPr/>
          </a:p>
        </p:txBody>
      </p:sp>
      <p:sp>
        <p:nvSpPr>
          <p:cNvPr id="104" name="Google Shape;10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105" name="Google Shape;105;p20"/>
          <p:cNvPicPr preferRelativeResize="0"/>
          <p:nvPr/>
        </p:nvPicPr>
        <p:blipFill>
          <a:blip r:embed="rId3">
            <a:alphaModFix/>
          </a:blip>
          <a:stretch>
            <a:fillRect/>
          </a:stretch>
        </p:blipFill>
        <p:spPr>
          <a:xfrm>
            <a:off x="994700" y="1211300"/>
            <a:ext cx="4633325" cy="347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1593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Ideia central: desenvolvimento iterativo</a:t>
            </a:r>
            <a:endParaRPr/>
          </a:p>
        </p:txBody>
      </p:sp>
      <p:sp>
        <p:nvSpPr>
          <p:cNvPr id="111" name="Google Shape;111;p21"/>
          <p:cNvSpPr txBox="1"/>
          <p:nvPr>
            <p:ph idx="12" type="sldNum"/>
          </p:nvPr>
        </p:nvSpPr>
        <p:spPr>
          <a:xfrm>
            <a:off x="8396258" y="45870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112" name="Google Shape;112;p21"/>
          <p:cNvPicPr preferRelativeResize="0"/>
          <p:nvPr/>
        </p:nvPicPr>
        <p:blipFill>
          <a:blip r:embed="rId3">
            <a:alphaModFix/>
          </a:blip>
          <a:stretch>
            <a:fillRect/>
          </a:stretch>
        </p:blipFill>
        <p:spPr>
          <a:xfrm>
            <a:off x="616000" y="1093925"/>
            <a:ext cx="6623000" cy="884650"/>
          </a:xfrm>
          <a:prstGeom prst="rect">
            <a:avLst/>
          </a:prstGeom>
          <a:noFill/>
          <a:ln>
            <a:noFill/>
          </a:ln>
        </p:spPr>
      </p:pic>
      <p:pic>
        <p:nvPicPr>
          <p:cNvPr id="113" name="Google Shape;113;p21"/>
          <p:cNvPicPr preferRelativeResize="0"/>
          <p:nvPr/>
        </p:nvPicPr>
        <p:blipFill>
          <a:blip r:embed="rId4">
            <a:alphaModFix/>
          </a:blip>
          <a:stretch>
            <a:fillRect/>
          </a:stretch>
        </p:blipFill>
        <p:spPr>
          <a:xfrm>
            <a:off x="235025" y="2373900"/>
            <a:ext cx="7694974" cy="1595275"/>
          </a:xfrm>
          <a:prstGeom prst="rect">
            <a:avLst/>
          </a:prstGeom>
          <a:noFill/>
          <a:ln>
            <a:noFill/>
          </a:ln>
        </p:spPr>
      </p:pic>
      <p:sp>
        <p:nvSpPr>
          <p:cNvPr id="114" name="Google Shape;114;p21"/>
          <p:cNvSpPr txBox="1"/>
          <p:nvPr/>
        </p:nvSpPr>
        <p:spPr>
          <a:xfrm>
            <a:off x="756100" y="644050"/>
            <a:ext cx="21459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800">
                <a:solidFill>
                  <a:srgbClr val="FF0000"/>
                </a:solidFill>
              </a:rPr>
              <a:t>Waterfall</a:t>
            </a:r>
            <a:endParaRPr sz="1800">
              <a:solidFill>
                <a:srgbClr val="FF0000"/>
              </a:solidFill>
            </a:endParaRPr>
          </a:p>
        </p:txBody>
      </p:sp>
      <p:sp>
        <p:nvSpPr>
          <p:cNvPr id="115" name="Google Shape;115;p21"/>
          <p:cNvSpPr txBox="1"/>
          <p:nvPr/>
        </p:nvSpPr>
        <p:spPr>
          <a:xfrm>
            <a:off x="304100" y="1953775"/>
            <a:ext cx="9456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800">
                <a:solidFill>
                  <a:srgbClr val="FF0000"/>
                </a:solidFill>
              </a:rPr>
              <a:t>Ágil</a:t>
            </a:r>
            <a:endParaRPr sz="180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Desenvolvimento iterativo</a:t>
            </a:r>
            <a:endParaRPr/>
          </a:p>
        </p:txBody>
      </p:sp>
      <p:sp>
        <p:nvSpPr>
          <p:cNvPr id="121" name="Google Shape;12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22" name="Google Shape;122;p22"/>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Suponha um sistema imenso, complexo etc</a:t>
            </a:r>
            <a:endParaRPr sz="2400"/>
          </a:p>
          <a:p>
            <a:pPr indent="-381000" lvl="0" marL="457200" marR="0" rtl="0" algn="l">
              <a:lnSpc>
                <a:spcPct val="114000"/>
              </a:lnSpc>
              <a:spcBef>
                <a:spcPts val="1000"/>
              </a:spcBef>
              <a:spcAft>
                <a:spcPts val="0"/>
              </a:spcAft>
              <a:buSzPts val="2400"/>
              <a:buChar char="●"/>
            </a:pPr>
            <a:r>
              <a:rPr lang="pt-BR" sz="2400"/>
              <a:t>Qual o menor "incremento de sistema" eu consigo implementar em 15 dias e validar com o usuário?</a:t>
            </a:r>
            <a:endParaRPr sz="2400"/>
          </a:p>
          <a:p>
            <a:pPr indent="-381000" lvl="0" marL="457200" marR="0" rtl="0" algn="l">
              <a:lnSpc>
                <a:spcPct val="114000"/>
              </a:lnSpc>
              <a:spcBef>
                <a:spcPts val="1000"/>
              </a:spcBef>
              <a:spcAft>
                <a:spcPts val="0"/>
              </a:spcAft>
              <a:buSzPts val="2400"/>
              <a:buChar char="●"/>
            </a:pPr>
            <a:r>
              <a:rPr lang="pt-BR" sz="2400"/>
              <a:t>Validar é muito importante! </a:t>
            </a:r>
            <a:endParaRPr sz="2400"/>
          </a:p>
          <a:p>
            <a:pPr indent="-381000" lvl="0" marL="457200" marR="0" rtl="0" algn="l">
              <a:lnSpc>
                <a:spcPct val="114000"/>
              </a:lnSpc>
              <a:spcBef>
                <a:spcPts val="1000"/>
              </a:spcBef>
              <a:spcAft>
                <a:spcPts val="1000"/>
              </a:spcAft>
              <a:buSzPts val="2400"/>
              <a:buChar char="●"/>
            </a:pPr>
            <a:r>
              <a:rPr lang="pt-BR" sz="2400"/>
              <a:t>Cliente não sabe o que quer!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Reforçando: </a:t>
            </a:r>
            <a:r>
              <a:rPr lang="pt-BR">
                <a:solidFill>
                  <a:srgbClr val="FF0000"/>
                </a:solidFill>
              </a:rPr>
              <a:t>ágil = iterativo</a:t>
            </a:r>
            <a:endParaRPr>
              <a:solidFill>
                <a:srgbClr val="FF0000"/>
              </a:solidFill>
            </a:endParaRPr>
          </a:p>
        </p:txBody>
      </p:sp>
      <p:sp>
        <p:nvSpPr>
          <p:cNvPr id="128" name="Google Shape;12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Outros pontos importantes (1)</a:t>
            </a:r>
            <a:endParaRPr/>
          </a:p>
        </p:txBody>
      </p:sp>
      <p:sp>
        <p:nvSpPr>
          <p:cNvPr id="134" name="Google Shape;13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35" name="Google Shape;135;p24"/>
          <p:cNvSpPr txBox="1"/>
          <p:nvPr>
            <p:ph idx="1" type="body"/>
          </p:nvPr>
        </p:nvSpPr>
        <p:spPr>
          <a:xfrm>
            <a:off x="311700" y="1076275"/>
            <a:ext cx="8520600" cy="17247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Menor ênfase em documentação</a:t>
            </a:r>
            <a:endParaRPr sz="2400"/>
          </a:p>
          <a:p>
            <a:pPr indent="-381000" lvl="0" marL="457200" marR="0" rtl="0" algn="l">
              <a:lnSpc>
                <a:spcPct val="114000"/>
              </a:lnSpc>
              <a:spcBef>
                <a:spcPts val="1000"/>
              </a:spcBef>
              <a:spcAft>
                <a:spcPts val="0"/>
              </a:spcAft>
              <a:buSzPts val="2400"/>
              <a:buChar char="●"/>
            </a:pPr>
            <a:r>
              <a:rPr lang="pt-BR" sz="2400"/>
              <a:t>Menor ênfase em </a:t>
            </a:r>
            <a:r>
              <a:rPr i="1" lang="pt-BR" sz="2400"/>
              <a:t>big upfront design</a:t>
            </a:r>
            <a:endParaRPr i="1" sz="2400"/>
          </a:p>
          <a:p>
            <a:pPr indent="-381000" lvl="0" marL="457200" marR="0" rtl="0" algn="l">
              <a:lnSpc>
                <a:spcPct val="114000"/>
              </a:lnSpc>
              <a:spcBef>
                <a:spcPts val="1000"/>
              </a:spcBef>
              <a:spcAft>
                <a:spcPts val="1000"/>
              </a:spcAft>
              <a:buSzPts val="2400"/>
              <a:buChar char="●"/>
            </a:pPr>
            <a:r>
              <a:rPr lang="pt-BR" sz="2400"/>
              <a:t>Envolvimento constante do cliente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Outros pontos importantes (2)</a:t>
            </a:r>
            <a:endParaRPr/>
          </a:p>
        </p:txBody>
      </p:sp>
      <p:sp>
        <p:nvSpPr>
          <p:cNvPr id="141" name="Google Shape;141;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42" name="Google Shape;142;p25"/>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Novas práticas de programação </a:t>
            </a:r>
            <a:endParaRPr sz="2400"/>
          </a:p>
          <a:p>
            <a:pPr indent="-381000" lvl="1" marL="914400" marR="0" rtl="0" algn="l">
              <a:lnSpc>
                <a:spcPct val="114000"/>
              </a:lnSpc>
              <a:spcBef>
                <a:spcPts val="1000"/>
              </a:spcBef>
              <a:spcAft>
                <a:spcPts val="1000"/>
              </a:spcAft>
              <a:buSzPts val="2400"/>
              <a:buChar char="○"/>
            </a:pPr>
            <a:r>
              <a:rPr lang="pt-BR" sz="2400"/>
              <a:t>Testes, refactoring, integração contínua, etc</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3600"/>
              <a:t>Métodos Ágeis</a:t>
            </a:r>
            <a:endParaRPr b="1" sz="3600"/>
          </a:p>
        </p:txBody>
      </p:sp>
      <p:sp>
        <p:nvSpPr>
          <p:cNvPr id="148" name="Google Shape;14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54" name="Google Shape;154;p27"/>
          <p:cNvSpPr txBox="1"/>
          <p:nvPr>
            <p:ph idx="1" type="body"/>
          </p:nvPr>
        </p:nvSpPr>
        <p:spPr>
          <a:xfrm>
            <a:off x="464100" y="1609675"/>
            <a:ext cx="8520600" cy="820500"/>
          </a:xfrm>
          <a:prstGeom prst="rect">
            <a:avLst/>
          </a:prstGeom>
        </p:spPr>
        <p:txBody>
          <a:bodyPr anchorCtr="0" anchor="t" bIns="91425" lIns="91425" spcFirstLastPara="1" rIns="91425" wrap="square" tIns="91425">
            <a:noAutofit/>
          </a:bodyPr>
          <a:lstStyle/>
          <a:p>
            <a:pPr indent="0" lvl="0" marL="0" marR="0" rtl="0" algn="ctr">
              <a:lnSpc>
                <a:spcPct val="114000"/>
              </a:lnSpc>
              <a:spcBef>
                <a:spcPts val="0"/>
              </a:spcBef>
              <a:spcAft>
                <a:spcPts val="0"/>
              </a:spcAft>
              <a:buNone/>
            </a:pPr>
            <a:r>
              <a:rPr lang="pt-BR" sz="3400"/>
              <a:t>Agilidade =  aprendizado + geração de valor contínuos</a:t>
            </a:r>
            <a:endParaRPr b="1" sz="3400"/>
          </a:p>
          <a:p>
            <a:pPr indent="0" lvl="0" marL="457200" marR="0" rtl="0" algn="ctr">
              <a:lnSpc>
                <a:spcPct val="114000"/>
              </a:lnSpc>
              <a:spcBef>
                <a:spcPts val="1000"/>
              </a:spcBef>
              <a:spcAft>
                <a:spcPts val="1000"/>
              </a:spcAft>
              <a:buNone/>
            </a:pPr>
            <a:r>
              <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28"/>
          <p:cNvSpPr txBox="1"/>
          <p:nvPr>
            <p:ph idx="12" type="sldNum"/>
          </p:nvPr>
        </p:nvSpPr>
        <p:spPr>
          <a:xfrm>
            <a:off x="319058" y="45870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60" name="Google Shape;160;p28"/>
          <p:cNvSpPr/>
          <p:nvPr/>
        </p:nvSpPr>
        <p:spPr>
          <a:xfrm>
            <a:off x="2123150" y="1644300"/>
            <a:ext cx="1789200" cy="824700"/>
          </a:xfrm>
          <a:prstGeom prst="rect">
            <a:avLst/>
          </a:prstGeom>
          <a:solidFill>
            <a:srgbClr val="FCFC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100"/>
              <a:t>Devs</a:t>
            </a:r>
            <a:endParaRPr sz="2100"/>
          </a:p>
        </p:txBody>
      </p:sp>
      <p:sp>
        <p:nvSpPr>
          <p:cNvPr id="161" name="Google Shape;161;p28"/>
          <p:cNvSpPr/>
          <p:nvPr/>
        </p:nvSpPr>
        <p:spPr>
          <a:xfrm>
            <a:off x="5171150" y="1644300"/>
            <a:ext cx="1789200" cy="824700"/>
          </a:xfrm>
          <a:prstGeom prst="rect">
            <a:avLst/>
          </a:prstGeom>
          <a:solidFill>
            <a:srgbClr val="FCFC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100"/>
              <a:t>Clientes</a:t>
            </a:r>
            <a:endParaRPr sz="2100"/>
          </a:p>
        </p:txBody>
      </p:sp>
      <p:sp>
        <p:nvSpPr>
          <p:cNvPr id="162" name="Google Shape;162;p28"/>
          <p:cNvSpPr txBox="1"/>
          <p:nvPr/>
        </p:nvSpPr>
        <p:spPr>
          <a:xfrm>
            <a:off x="3893250" y="516225"/>
            <a:ext cx="1389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t>aprendizado</a:t>
            </a:r>
            <a:endParaRPr b="1" sz="1600"/>
          </a:p>
        </p:txBody>
      </p:sp>
      <p:sp>
        <p:nvSpPr>
          <p:cNvPr id="163" name="Google Shape;163;p28"/>
          <p:cNvSpPr txBox="1"/>
          <p:nvPr/>
        </p:nvSpPr>
        <p:spPr>
          <a:xfrm>
            <a:off x="3363050" y="3235400"/>
            <a:ext cx="2795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600"/>
              <a:t>valor</a:t>
            </a:r>
            <a:r>
              <a:rPr lang="pt-BR" sz="1600"/>
              <a:t> </a:t>
            </a:r>
            <a:endParaRPr sz="1600"/>
          </a:p>
          <a:p>
            <a:pPr indent="0" lvl="0" marL="0" rtl="0" algn="ctr">
              <a:spcBef>
                <a:spcPts val="0"/>
              </a:spcBef>
              <a:spcAft>
                <a:spcPts val="0"/>
              </a:spcAft>
              <a:buNone/>
            </a:pPr>
            <a:r>
              <a:rPr lang="pt-BR" sz="1600"/>
              <a:t>(resolver problemas </a:t>
            </a:r>
            <a:endParaRPr sz="1600"/>
          </a:p>
          <a:p>
            <a:pPr indent="0" lvl="0" marL="0" rtl="0" algn="ctr">
              <a:spcBef>
                <a:spcPts val="0"/>
              </a:spcBef>
              <a:spcAft>
                <a:spcPts val="0"/>
              </a:spcAft>
              <a:buNone/>
            </a:pPr>
            <a:r>
              <a:rPr lang="pt-BR" sz="1600"/>
              <a:t>usando software)</a:t>
            </a:r>
            <a:endParaRPr sz="1600"/>
          </a:p>
        </p:txBody>
      </p:sp>
      <p:sp>
        <p:nvSpPr>
          <p:cNvPr id="164" name="Google Shape;164;p28"/>
          <p:cNvSpPr/>
          <p:nvPr/>
        </p:nvSpPr>
        <p:spPr>
          <a:xfrm>
            <a:off x="3064425" y="2478465"/>
            <a:ext cx="3048000" cy="777300"/>
          </a:xfrm>
          <a:prstGeom prst="curvedUp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8"/>
          <p:cNvSpPr/>
          <p:nvPr/>
        </p:nvSpPr>
        <p:spPr>
          <a:xfrm rot="5400000">
            <a:off x="4122975" y="-311400"/>
            <a:ext cx="727500" cy="32085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Métodos Ágeis que Vamos Estudar</a:t>
            </a:r>
            <a:endParaRPr/>
          </a:p>
        </p:txBody>
      </p:sp>
      <p:sp>
        <p:nvSpPr>
          <p:cNvPr id="171" name="Google Shape;171;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72" name="Google Shape;172;p29"/>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Extreme Programming (XP)</a:t>
            </a:r>
            <a:endParaRPr sz="2400"/>
          </a:p>
          <a:p>
            <a:pPr indent="-381000" lvl="0" marL="457200" marR="0" rtl="0" algn="l">
              <a:lnSpc>
                <a:spcPct val="114000"/>
              </a:lnSpc>
              <a:spcBef>
                <a:spcPts val="1000"/>
              </a:spcBef>
              <a:spcAft>
                <a:spcPts val="0"/>
              </a:spcAft>
              <a:buSzPts val="2400"/>
              <a:buChar char="●"/>
            </a:pPr>
            <a:r>
              <a:rPr lang="pt-BR" sz="2400"/>
              <a:t>Scrum</a:t>
            </a:r>
            <a:endParaRPr sz="2400"/>
          </a:p>
          <a:p>
            <a:pPr indent="-381000" lvl="0" marL="457200" marR="0" rtl="0" algn="l">
              <a:lnSpc>
                <a:spcPct val="114000"/>
              </a:lnSpc>
              <a:spcBef>
                <a:spcPts val="1000"/>
              </a:spcBef>
              <a:spcAft>
                <a:spcPts val="1000"/>
              </a:spcAft>
              <a:buSzPts val="2400"/>
              <a:buChar char="●"/>
            </a:pPr>
            <a:r>
              <a:rPr lang="pt-BR" sz="2400"/>
              <a:t>Kanban</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3600"/>
              <a:t>Extreme Programming (XP)</a:t>
            </a:r>
            <a:endParaRPr b="1" sz="3600"/>
          </a:p>
        </p:txBody>
      </p:sp>
      <p:sp>
        <p:nvSpPr>
          <p:cNvPr id="178" name="Google Shape;17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Extreme Programming</a:t>
            </a:r>
            <a:endParaRPr/>
          </a:p>
        </p:txBody>
      </p:sp>
      <p:sp>
        <p:nvSpPr>
          <p:cNvPr id="184" name="Google Shape;18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185" name="Google Shape;185;p31"/>
          <p:cNvPicPr preferRelativeResize="0"/>
          <p:nvPr/>
        </p:nvPicPr>
        <p:blipFill>
          <a:blip r:embed="rId3">
            <a:alphaModFix/>
          </a:blip>
          <a:stretch>
            <a:fillRect/>
          </a:stretch>
        </p:blipFill>
        <p:spPr>
          <a:xfrm>
            <a:off x="304800" y="789125"/>
            <a:ext cx="2095500" cy="3171825"/>
          </a:xfrm>
          <a:prstGeom prst="rect">
            <a:avLst/>
          </a:prstGeom>
          <a:noFill/>
          <a:ln>
            <a:noFill/>
          </a:ln>
        </p:spPr>
      </p:pic>
      <p:sp>
        <p:nvSpPr>
          <p:cNvPr id="186" name="Google Shape;186;p31"/>
          <p:cNvSpPr txBox="1"/>
          <p:nvPr/>
        </p:nvSpPr>
        <p:spPr>
          <a:xfrm>
            <a:off x="931900" y="4099525"/>
            <a:ext cx="10029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Kent Beck</a:t>
            </a:r>
            <a:endParaRPr/>
          </a:p>
        </p:txBody>
      </p:sp>
      <p:pic>
        <p:nvPicPr>
          <p:cNvPr id="187" name="Google Shape;187;p31"/>
          <p:cNvPicPr preferRelativeResize="0"/>
          <p:nvPr/>
        </p:nvPicPr>
        <p:blipFill>
          <a:blip r:embed="rId4">
            <a:alphaModFix/>
          </a:blip>
          <a:stretch>
            <a:fillRect/>
          </a:stretch>
        </p:blipFill>
        <p:spPr>
          <a:xfrm>
            <a:off x="2647150" y="850550"/>
            <a:ext cx="1973350" cy="2467975"/>
          </a:xfrm>
          <a:prstGeom prst="rect">
            <a:avLst/>
          </a:prstGeom>
          <a:noFill/>
          <a:ln>
            <a:noFill/>
          </a:ln>
        </p:spPr>
      </p:pic>
      <p:sp>
        <p:nvSpPr>
          <p:cNvPr id="188" name="Google Shape;188;p31"/>
          <p:cNvSpPr txBox="1"/>
          <p:nvPr/>
        </p:nvSpPr>
        <p:spPr>
          <a:xfrm>
            <a:off x="3370300" y="3413725"/>
            <a:ext cx="5922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1999</a:t>
            </a:r>
            <a:endParaRPr/>
          </a:p>
        </p:txBody>
      </p:sp>
      <p:pic>
        <p:nvPicPr>
          <p:cNvPr id="189" name="Google Shape;189;p31"/>
          <p:cNvPicPr preferRelativeResize="0"/>
          <p:nvPr/>
        </p:nvPicPr>
        <p:blipFill>
          <a:blip r:embed="rId5">
            <a:alphaModFix/>
          </a:blip>
          <a:stretch>
            <a:fillRect/>
          </a:stretch>
        </p:blipFill>
        <p:spPr>
          <a:xfrm>
            <a:off x="4938550" y="844411"/>
            <a:ext cx="1973350" cy="2474114"/>
          </a:xfrm>
          <a:prstGeom prst="rect">
            <a:avLst/>
          </a:prstGeom>
          <a:noFill/>
          <a:ln>
            <a:noFill/>
          </a:ln>
        </p:spPr>
      </p:pic>
      <p:sp>
        <p:nvSpPr>
          <p:cNvPr id="190" name="Google Shape;190;p31"/>
          <p:cNvSpPr txBox="1"/>
          <p:nvPr/>
        </p:nvSpPr>
        <p:spPr>
          <a:xfrm>
            <a:off x="5732500" y="3413725"/>
            <a:ext cx="5922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2004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chemeClr val="dk2"/>
                </a:solidFill>
              </a:rPr>
              <a:t>XP = Valores + Princípios + Práticas</a:t>
            </a:r>
            <a:endParaRPr>
              <a:solidFill>
                <a:schemeClr val="dk2"/>
              </a:solidFill>
            </a:endParaRPr>
          </a:p>
        </p:txBody>
      </p:sp>
      <p:sp>
        <p:nvSpPr>
          <p:cNvPr id="196" name="Google Shape;196;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97" name="Google Shape;197;p32"/>
          <p:cNvSpPr/>
          <p:nvPr/>
        </p:nvSpPr>
        <p:spPr>
          <a:xfrm>
            <a:off x="2521600" y="1759175"/>
            <a:ext cx="1332600" cy="687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Valores</a:t>
            </a:r>
            <a:endParaRPr/>
          </a:p>
        </p:txBody>
      </p:sp>
      <p:sp>
        <p:nvSpPr>
          <p:cNvPr id="203" name="Google Shape;203;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04" name="Google Shape;204;p33"/>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Comunicação</a:t>
            </a:r>
            <a:endParaRPr sz="2400"/>
          </a:p>
          <a:p>
            <a:pPr indent="-381000" lvl="0" marL="457200" marR="0" rtl="0" algn="l">
              <a:lnSpc>
                <a:spcPct val="114000"/>
              </a:lnSpc>
              <a:spcBef>
                <a:spcPts val="1000"/>
              </a:spcBef>
              <a:spcAft>
                <a:spcPts val="0"/>
              </a:spcAft>
              <a:buSzPts val="2400"/>
              <a:buChar char="●"/>
            </a:pPr>
            <a:r>
              <a:rPr lang="pt-BR" sz="2400"/>
              <a:t>Simplicidade</a:t>
            </a:r>
            <a:endParaRPr sz="2400"/>
          </a:p>
          <a:p>
            <a:pPr indent="-381000" lvl="0" marL="457200" marR="0" rtl="0" algn="l">
              <a:lnSpc>
                <a:spcPct val="114000"/>
              </a:lnSpc>
              <a:spcBef>
                <a:spcPts val="1000"/>
              </a:spcBef>
              <a:spcAft>
                <a:spcPts val="0"/>
              </a:spcAft>
              <a:buSzPts val="2400"/>
              <a:buChar char="●"/>
            </a:pPr>
            <a:r>
              <a:rPr lang="pt-BR" sz="2400"/>
              <a:t>Feedback</a:t>
            </a:r>
            <a:endParaRPr sz="2400"/>
          </a:p>
          <a:p>
            <a:pPr indent="-381000" lvl="0" marL="457200" marR="0" rtl="0" algn="l">
              <a:lnSpc>
                <a:spcPct val="114000"/>
              </a:lnSpc>
              <a:spcBef>
                <a:spcPts val="1000"/>
              </a:spcBef>
              <a:spcAft>
                <a:spcPts val="0"/>
              </a:spcAft>
              <a:buSzPts val="2400"/>
              <a:buChar char="●"/>
            </a:pPr>
            <a:r>
              <a:rPr lang="pt-BR" sz="2400"/>
              <a:t>Coragem</a:t>
            </a:r>
            <a:endParaRPr sz="2400"/>
          </a:p>
          <a:p>
            <a:pPr indent="-381000" lvl="0" marL="457200" marR="0" rtl="0" algn="l">
              <a:lnSpc>
                <a:spcPct val="114000"/>
              </a:lnSpc>
              <a:spcBef>
                <a:spcPts val="1000"/>
              </a:spcBef>
              <a:spcAft>
                <a:spcPts val="0"/>
              </a:spcAft>
              <a:buSzPts val="2400"/>
              <a:buChar char="●"/>
            </a:pPr>
            <a:r>
              <a:rPr lang="pt-BR" sz="2400"/>
              <a:t>Respeito </a:t>
            </a:r>
            <a:endParaRPr sz="2400"/>
          </a:p>
          <a:p>
            <a:pPr indent="-381000" lvl="0" marL="457200" marR="0" rtl="0" algn="l">
              <a:lnSpc>
                <a:spcPct val="114000"/>
              </a:lnSpc>
              <a:spcBef>
                <a:spcPts val="1000"/>
              </a:spcBef>
              <a:spcAft>
                <a:spcPts val="1000"/>
              </a:spcAft>
              <a:buSzPts val="2400"/>
              <a:buChar char="●"/>
            </a:pPr>
            <a:r>
              <a:rPr lang="pt-BR" sz="2400"/>
              <a:t>Ambiente de Trabalho</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chemeClr val="dk2"/>
                </a:solidFill>
              </a:rPr>
              <a:t>Valores ou cultura são fundamentais em software!</a:t>
            </a:r>
            <a:endParaRPr>
              <a:solidFill>
                <a:schemeClr val="dk2"/>
              </a:solidFill>
            </a:endParaRPr>
          </a:p>
        </p:txBody>
      </p:sp>
      <p:sp>
        <p:nvSpPr>
          <p:cNvPr id="210" name="Google Shape;210;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907500" y="3688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XP = Valores + Princípios + Práticas</a:t>
            </a:r>
            <a:endParaRPr/>
          </a:p>
        </p:txBody>
      </p:sp>
      <p:sp>
        <p:nvSpPr>
          <p:cNvPr id="216" name="Google Shape;216;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17" name="Google Shape;217;p35"/>
          <p:cNvSpPr/>
          <p:nvPr/>
        </p:nvSpPr>
        <p:spPr>
          <a:xfrm>
            <a:off x="2902600" y="249975"/>
            <a:ext cx="1723800" cy="795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pic>
        <p:nvPicPr>
          <p:cNvPr id="218" name="Google Shape;218;p35"/>
          <p:cNvPicPr preferRelativeResize="0"/>
          <p:nvPr/>
        </p:nvPicPr>
        <p:blipFill>
          <a:blip r:embed="rId3">
            <a:alphaModFix/>
          </a:blip>
          <a:stretch>
            <a:fillRect/>
          </a:stretch>
        </p:blipFill>
        <p:spPr>
          <a:xfrm>
            <a:off x="586050" y="1413550"/>
            <a:ext cx="4762500" cy="1314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Princípios</a:t>
            </a:r>
            <a:endParaRPr/>
          </a:p>
        </p:txBody>
      </p:sp>
      <p:sp>
        <p:nvSpPr>
          <p:cNvPr id="224" name="Google Shape;224;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25" name="Google Shape;225;p36"/>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Viabilidade econômica</a:t>
            </a:r>
            <a:endParaRPr sz="2400"/>
          </a:p>
          <a:p>
            <a:pPr indent="-381000" lvl="0" marL="457200" marR="0" rtl="0" algn="l">
              <a:lnSpc>
                <a:spcPct val="114000"/>
              </a:lnSpc>
              <a:spcBef>
                <a:spcPts val="1000"/>
              </a:spcBef>
              <a:spcAft>
                <a:spcPts val="0"/>
              </a:spcAft>
              <a:buSzPts val="2400"/>
              <a:buChar char="●"/>
            </a:pPr>
            <a:r>
              <a:rPr lang="pt-BR" sz="2400"/>
              <a:t>Melhorias Contínuas</a:t>
            </a:r>
            <a:endParaRPr sz="2400"/>
          </a:p>
          <a:p>
            <a:pPr indent="-381000" lvl="0" marL="457200" marR="0" rtl="0" algn="l">
              <a:lnSpc>
                <a:spcPct val="114000"/>
              </a:lnSpc>
              <a:spcBef>
                <a:spcPts val="1000"/>
              </a:spcBef>
              <a:spcAft>
                <a:spcPts val="0"/>
              </a:spcAft>
              <a:buSzPts val="2400"/>
              <a:buChar char="●"/>
            </a:pPr>
            <a:r>
              <a:rPr lang="pt-BR" sz="2400"/>
              <a:t>Falhas Acontecem</a:t>
            </a:r>
            <a:endParaRPr sz="2400"/>
          </a:p>
          <a:p>
            <a:pPr indent="-381000" lvl="0" marL="457200" marR="0" rtl="0" algn="l">
              <a:lnSpc>
                <a:spcPct val="114000"/>
              </a:lnSpc>
              <a:spcBef>
                <a:spcPts val="1000"/>
              </a:spcBef>
              <a:spcAft>
                <a:spcPts val="0"/>
              </a:spcAft>
              <a:buSzPts val="2400"/>
              <a:buChar char="●"/>
            </a:pPr>
            <a:r>
              <a:rPr lang="pt-BR" sz="2400"/>
              <a:t>Baby Steps</a:t>
            </a:r>
            <a:endParaRPr sz="2400"/>
          </a:p>
          <a:p>
            <a:pPr indent="-381000" lvl="0" marL="457200" marR="0" rtl="0" algn="l">
              <a:lnSpc>
                <a:spcPct val="114000"/>
              </a:lnSpc>
              <a:spcBef>
                <a:spcPts val="1000"/>
              </a:spcBef>
              <a:spcAft>
                <a:spcPts val="0"/>
              </a:spcAft>
              <a:buSzPts val="2400"/>
              <a:buChar char="●"/>
            </a:pPr>
            <a:r>
              <a:rPr lang="pt-BR" sz="2400"/>
              <a:t>Responsabilidade</a:t>
            </a:r>
            <a:endParaRPr sz="2400"/>
          </a:p>
          <a:p>
            <a:pPr indent="0" lvl="0" marL="914400" marR="0" rtl="0" algn="l">
              <a:lnSpc>
                <a:spcPct val="114000"/>
              </a:lnSpc>
              <a:spcBef>
                <a:spcPts val="1000"/>
              </a:spcBef>
              <a:spcAft>
                <a:spcPts val="1000"/>
              </a:spcAft>
              <a:buNone/>
            </a:pPr>
            <a:r>
              <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XP = Valores + Princípios + Práticas</a:t>
            </a:r>
            <a:endParaRPr/>
          </a:p>
        </p:txBody>
      </p:sp>
      <p:sp>
        <p:nvSpPr>
          <p:cNvPr id="231" name="Google Shape;231;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32" name="Google Shape;232;p37"/>
          <p:cNvSpPr/>
          <p:nvPr/>
        </p:nvSpPr>
        <p:spPr>
          <a:xfrm>
            <a:off x="6026800" y="1697775"/>
            <a:ext cx="1559400" cy="795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38" name="Google Shape;238;p38"/>
          <p:cNvPicPr preferRelativeResize="0"/>
          <p:nvPr/>
        </p:nvPicPr>
        <p:blipFill>
          <a:blip r:embed="rId3">
            <a:alphaModFix/>
          </a:blip>
          <a:stretch>
            <a:fillRect/>
          </a:stretch>
        </p:blipFill>
        <p:spPr>
          <a:xfrm>
            <a:off x="152400" y="179525"/>
            <a:ext cx="8839199" cy="3012021"/>
          </a:xfrm>
          <a:prstGeom prst="rect">
            <a:avLst/>
          </a:prstGeom>
          <a:noFill/>
          <a:ln>
            <a:noFill/>
          </a:ln>
        </p:spPr>
      </p:pic>
      <p:sp>
        <p:nvSpPr>
          <p:cNvPr id="239" name="Google Shape;239;p38"/>
          <p:cNvSpPr/>
          <p:nvPr/>
        </p:nvSpPr>
        <p:spPr>
          <a:xfrm>
            <a:off x="2803575" y="1276350"/>
            <a:ext cx="1898400" cy="286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8"/>
          <p:cNvSpPr/>
          <p:nvPr/>
        </p:nvSpPr>
        <p:spPr>
          <a:xfrm>
            <a:off x="5775375" y="1276350"/>
            <a:ext cx="2620800" cy="286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8"/>
          <p:cNvSpPr txBox="1"/>
          <p:nvPr/>
        </p:nvSpPr>
        <p:spPr>
          <a:xfrm>
            <a:off x="349975" y="3238600"/>
            <a:ext cx="2237700" cy="48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600">
                <a:solidFill>
                  <a:srgbClr val="FF0000"/>
                </a:solidFill>
              </a:rPr>
              <a:t>Iremos estudar em Scrum</a:t>
            </a:r>
            <a:endParaRPr sz="1600">
              <a:solidFill>
                <a:srgbClr val="FF0000"/>
              </a:solidFill>
            </a:endParaRPr>
          </a:p>
        </p:txBody>
      </p:sp>
      <p:sp>
        <p:nvSpPr>
          <p:cNvPr id="242" name="Google Shape;242;p38"/>
          <p:cNvSpPr txBox="1"/>
          <p:nvPr/>
        </p:nvSpPr>
        <p:spPr>
          <a:xfrm>
            <a:off x="3036494" y="3269585"/>
            <a:ext cx="2427300" cy="48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1600">
                <a:solidFill>
                  <a:srgbClr val="FF0000"/>
                </a:solidFill>
              </a:rPr>
              <a:t>Testes e TDD = Cap. 8</a:t>
            </a:r>
            <a:endParaRPr sz="1600">
              <a:solidFill>
                <a:srgbClr val="FF0000"/>
              </a:solidFill>
            </a:endParaRPr>
          </a:p>
          <a:p>
            <a:pPr indent="0" lvl="0" marL="0" rtl="0" algn="l">
              <a:lnSpc>
                <a:spcPct val="115000"/>
              </a:lnSpc>
              <a:spcBef>
                <a:spcPts val="0"/>
              </a:spcBef>
              <a:spcAft>
                <a:spcPts val="0"/>
              </a:spcAft>
              <a:buNone/>
            </a:pPr>
            <a:r>
              <a:rPr lang="pt-BR" sz="1600">
                <a:solidFill>
                  <a:srgbClr val="FF0000"/>
                </a:solidFill>
              </a:rPr>
              <a:t>CI = Cap. 10</a:t>
            </a:r>
            <a:endParaRPr sz="160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Pair Programming</a:t>
            </a:r>
            <a:endParaRPr b="1"/>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49" name="Google Shape;249;p39"/>
          <p:cNvPicPr preferRelativeResize="0"/>
          <p:nvPr/>
        </p:nvPicPr>
        <p:blipFill>
          <a:blip r:embed="rId3">
            <a:alphaModFix/>
          </a:blip>
          <a:stretch>
            <a:fillRect/>
          </a:stretch>
        </p:blipFill>
        <p:spPr>
          <a:xfrm>
            <a:off x="0" y="1017725"/>
            <a:ext cx="7591425" cy="3667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Exercício</a:t>
            </a:r>
            <a:endParaRPr/>
          </a:p>
        </p:txBody>
      </p:sp>
      <p:sp>
        <p:nvSpPr>
          <p:cNvPr id="255" name="Google Shape;255;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56" name="Google Shape;256;p40"/>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Quais as vantagens de pair programming?</a:t>
            </a:r>
            <a:endParaRPr sz="2400"/>
          </a:p>
          <a:p>
            <a:pPr indent="-381000" lvl="0" marL="457200" marR="0" rtl="0" algn="l">
              <a:lnSpc>
                <a:spcPct val="114000"/>
              </a:lnSpc>
              <a:spcBef>
                <a:spcPts val="1000"/>
              </a:spcBef>
              <a:spcAft>
                <a:spcPts val="1000"/>
              </a:spcAft>
              <a:buSzPts val="2400"/>
              <a:buChar char="●"/>
            </a:pPr>
            <a:r>
              <a:rPr lang="pt-BR" sz="2400"/>
              <a:t>E a principal desvantagem?</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Mob Programming</a:t>
            </a:r>
            <a:endParaRPr b="1"/>
          </a:p>
        </p:txBody>
      </p:sp>
      <p:sp>
        <p:nvSpPr>
          <p:cNvPr id="262" name="Google Shape;262;p41"/>
          <p:cNvSpPr txBox="1"/>
          <p:nvPr>
            <p:ph idx="1" type="body"/>
          </p:nvPr>
        </p:nvSpPr>
        <p:spPr>
          <a:xfrm>
            <a:off x="311700" y="1152475"/>
            <a:ext cx="8630700" cy="783300"/>
          </a:xfrm>
          <a:prstGeom prst="rect">
            <a:avLst/>
          </a:prstGeom>
        </p:spPr>
        <p:txBody>
          <a:bodyPr anchorCtr="0" anchor="t" bIns="91425" lIns="91425" spcFirstLastPara="1" rIns="91425" wrap="square" tIns="91425">
            <a:noAutofit/>
          </a:bodyPr>
          <a:lstStyle/>
          <a:p>
            <a:pPr indent="-368300" lvl="0" marL="457200" rtl="0" algn="l">
              <a:lnSpc>
                <a:spcPct val="114000"/>
              </a:lnSpc>
              <a:spcBef>
                <a:spcPts val="0"/>
              </a:spcBef>
              <a:spcAft>
                <a:spcPts val="0"/>
              </a:spcAft>
              <a:buSzPts val="2200"/>
              <a:buChar char="●"/>
            </a:pPr>
            <a:r>
              <a:rPr lang="pt-BR" sz="2200"/>
              <a:t>Time inteiro trabalhando na mesma tarefa de programação</a:t>
            </a:r>
            <a:endParaRPr sz="2200"/>
          </a:p>
          <a:p>
            <a:pPr indent="-368300" lvl="0" marL="457200" rtl="0" algn="l">
              <a:lnSpc>
                <a:spcPct val="114000"/>
              </a:lnSpc>
              <a:spcBef>
                <a:spcPts val="1000"/>
              </a:spcBef>
              <a:spcAft>
                <a:spcPts val="0"/>
              </a:spcAft>
              <a:buSzPts val="2200"/>
              <a:buChar char="●"/>
            </a:pPr>
            <a:r>
              <a:rPr lang="pt-BR" sz="2200"/>
              <a:t>Qual o principal “caso de uso” de mob </a:t>
            </a:r>
            <a:r>
              <a:rPr lang="pt-BR" sz="2200"/>
              <a:t>programming</a:t>
            </a:r>
            <a:r>
              <a:rPr lang="pt-BR" sz="2200"/>
              <a:t>?</a:t>
            </a:r>
            <a:endParaRPr sz="2200"/>
          </a:p>
          <a:p>
            <a:pPr indent="0" lvl="0" marL="0" rtl="0" algn="l">
              <a:lnSpc>
                <a:spcPct val="114000"/>
              </a:lnSpc>
              <a:spcBef>
                <a:spcPts val="1000"/>
              </a:spcBef>
              <a:spcAft>
                <a:spcPts val="1000"/>
              </a:spcAft>
              <a:buNone/>
            </a:pPr>
            <a:r>
              <a:t/>
            </a:r>
            <a:endParaRPr sz="2200"/>
          </a:p>
        </p:txBody>
      </p:sp>
      <p:sp>
        <p:nvSpPr>
          <p:cNvPr id="263" name="Google Shape;263;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64" name="Google Shape;264;p41"/>
          <p:cNvPicPr preferRelativeResize="0"/>
          <p:nvPr/>
        </p:nvPicPr>
        <p:blipFill>
          <a:blip r:embed="rId3">
            <a:alphaModFix/>
          </a:blip>
          <a:stretch>
            <a:fillRect/>
          </a:stretch>
        </p:blipFill>
        <p:spPr>
          <a:xfrm>
            <a:off x="2785375" y="2528650"/>
            <a:ext cx="2954000" cy="2215500"/>
          </a:xfrm>
          <a:prstGeom prst="rect">
            <a:avLst/>
          </a:prstGeom>
          <a:noFill/>
          <a:ln>
            <a:noFill/>
          </a:ln>
        </p:spPr>
      </p:pic>
      <p:sp>
        <p:nvSpPr>
          <p:cNvPr id="265" name="Google Shape;265;p41"/>
          <p:cNvSpPr txBox="1"/>
          <p:nvPr/>
        </p:nvSpPr>
        <p:spPr>
          <a:xfrm>
            <a:off x="1623150" y="4793900"/>
            <a:ext cx="5694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u="sng">
                <a:solidFill>
                  <a:schemeClr val="hlink"/>
                </a:solidFill>
                <a:hlinkClick r:id="rId4"/>
              </a:rPr>
              <a:t>https://www.chrislucian.com/2019/09/mob-programming-financial-benefits.html</a:t>
            </a:r>
            <a:endParaRPr sz="12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Pull Requests + Revisão de Código (assíncrona)</a:t>
            </a:r>
            <a:endParaRPr/>
          </a:p>
        </p:txBody>
      </p:sp>
      <p:sp>
        <p:nvSpPr>
          <p:cNvPr id="271" name="Google Shape;27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72" name="Google Shape;272;p42"/>
          <p:cNvPicPr preferRelativeResize="0"/>
          <p:nvPr/>
        </p:nvPicPr>
        <p:blipFill>
          <a:blip r:embed="rId3">
            <a:alphaModFix/>
          </a:blip>
          <a:stretch>
            <a:fillRect/>
          </a:stretch>
        </p:blipFill>
        <p:spPr>
          <a:xfrm>
            <a:off x="1208950" y="1311675"/>
            <a:ext cx="6726101" cy="34316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76" name="Shape 276"/>
        <p:cNvGrpSpPr/>
        <p:nvPr/>
      </p:nvGrpSpPr>
      <p:grpSpPr>
        <a:xfrm>
          <a:off x="0" y="0"/>
          <a:ext cx="0" cy="0"/>
          <a:chOff x="0" y="0"/>
          <a:chExt cx="0" cy="0"/>
        </a:xfrm>
      </p:grpSpPr>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78" name="Google Shape;278;p43" title="Screenshot 2026-02-05 at 07.32.03.png"/>
          <p:cNvPicPr preferRelativeResize="0"/>
          <p:nvPr/>
        </p:nvPicPr>
        <p:blipFill>
          <a:blip r:embed="rId3">
            <a:alphaModFix/>
          </a:blip>
          <a:stretch>
            <a:fillRect/>
          </a:stretch>
        </p:blipFill>
        <p:spPr>
          <a:xfrm>
            <a:off x="1406891" y="679885"/>
            <a:ext cx="6527674" cy="1719350"/>
          </a:xfrm>
          <a:prstGeom prst="rect">
            <a:avLst/>
          </a:prstGeom>
          <a:noFill/>
          <a:ln>
            <a:noFill/>
          </a:ln>
        </p:spPr>
      </p:pic>
      <p:pic>
        <p:nvPicPr>
          <p:cNvPr id="279" name="Google Shape;279;p43" title="Screenshot 2026-02-05 at 07.33.51.png"/>
          <p:cNvPicPr preferRelativeResize="0"/>
          <p:nvPr/>
        </p:nvPicPr>
        <p:blipFill>
          <a:blip r:embed="rId4">
            <a:alphaModFix/>
          </a:blip>
          <a:stretch>
            <a:fillRect/>
          </a:stretch>
        </p:blipFill>
        <p:spPr>
          <a:xfrm>
            <a:off x="1126585" y="2655793"/>
            <a:ext cx="6972698" cy="718375"/>
          </a:xfrm>
          <a:prstGeom prst="rect">
            <a:avLst/>
          </a:prstGeom>
          <a:noFill/>
          <a:ln cap="flat" cmpd="sng" w="9525">
            <a:solidFill>
              <a:schemeClr val="dk2"/>
            </a:solidFill>
            <a:prstDash val="solid"/>
            <a:round/>
            <a:headEnd len="sm" w="sm" type="none"/>
            <a:tailEnd len="sm" w="sm" type="none"/>
          </a:ln>
        </p:spPr>
      </p:pic>
      <p:sp>
        <p:nvSpPr>
          <p:cNvPr id="280" name="Google Shape;280;p43"/>
          <p:cNvSpPr txBox="1"/>
          <p:nvPr/>
        </p:nvSpPr>
        <p:spPr>
          <a:xfrm>
            <a:off x="1074953" y="3777749"/>
            <a:ext cx="6972600" cy="507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pt-BR" sz="2100">
                <a:solidFill>
                  <a:schemeClr val="dk2"/>
                </a:solidFill>
              </a:rPr>
              <a:t>Junho de 2021, logo antes do ChatGPT</a:t>
            </a:r>
            <a:endParaRPr sz="2100">
              <a:solidFill>
                <a:schemeClr val="dk2"/>
              </a:solidFill>
            </a:endParaRPr>
          </a:p>
        </p:txBody>
      </p:sp>
      <p:sp>
        <p:nvSpPr>
          <p:cNvPr id="281" name="Google Shape;281;p43"/>
          <p:cNvSpPr txBox="1"/>
          <p:nvPr/>
        </p:nvSpPr>
        <p:spPr>
          <a:xfrm>
            <a:off x="7934575" y="4002250"/>
            <a:ext cx="122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82" name="Google Shape;282;p43"/>
          <p:cNvSpPr txBox="1"/>
          <p:nvPr/>
        </p:nvSpPr>
        <p:spPr>
          <a:xfrm>
            <a:off x="812675" y="4727534"/>
            <a:ext cx="791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5"/>
              </a:rPr>
              <a:t>https://github.blog/news-insights/product-news/introducing-github-copilot-ai-pair-programmer/</a:t>
            </a:r>
            <a:endParaRPr>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86" name="Shape 286"/>
        <p:cNvGrpSpPr/>
        <p:nvPr/>
      </p:nvGrpSpPr>
      <p:grpSpPr>
        <a:xfrm>
          <a:off x="0" y="0"/>
          <a:ext cx="0" cy="0"/>
          <a:chOff x="0" y="0"/>
          <a:chExt cx="0" cy="0"/>
        </a:xfrm>
      </p:grpSpPr>
      <p:sp>
        <p:nvSpPr>
          <p:cNvPr id="287" name="Google Shape;28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Pareamento com IA (via auto-complete)</a:t>
            </a:r>
            <a:endParaRPr/>
          </a:p>
        </p:txBody>
      </p:sp>
      <p:sp>
        <p:nvSpPr>
          <p:cNvPr id="288" name="Google Shape;288;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89" name="Google Shape;289;p44"/>
          <p:cNvPicPr preferRelativeResize="0"/>
          <p:nvPr/>
        </p:nvPicPr>
        <p:blipFill>
          <a:blip r:embed="rId3">
            <a:alphaModFix/>
          </a:blip>
          <a:stretch>
            <a:fillRect/>
          </a:stretch>
        </p:blipFill>
        <p:spPr>
          <a:xfrm>
            <a:off x="468555" y="1522113"/>
            <a:ext cx="8304715" cy="2508038"/>
          </a:xfrm>
          <a:prstGeom prst="rect">
            <a:avLst/>
          </a:prstGeom>
          <a:noFill/>
          <a:ln>
            <a:noFill/>
          </a:ln>
        </p:spPr>
      </p:pic>
      <p:sp>
        <p:nvSpPr>
          <p:cNvPr id="290" name="Google Shape;290;p44"/>
          <p:cNvSpPr txBox="1"/>
          <p:nvPr/>
        </p:nvSpPr>
        <p:spPr>
          <a:xfrm>
            <a:off x="2240081" y="4427998"/>
            <a:ext cx="4743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u="sng">
                <a:solidFill>
                  <a:schemeClr val="hlink"/>
                </a:solidFill>
                <a:hlinkClick r:id="rId4"/>
              </a:rPr>
              <a:t>https://code.visualstudio.com/docs/copilot/ai-powered-suggestions</a:t>
            </a:r>
            <a:endParaRPr sz="12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94" name="Shape 294"/>
        <p:cNvGrpSpPr/>
        <p:nvPr/>
      </p:nvGrpSpPr>
      <p:grpSpPr>
        <a:xfrm>
          <a:off x="0" y="0"/>
          <a:ext cx="0" cy="0"/>
          <a:chOff x="0" y="0"/>
          <a:chExt cx="0" cy="0"/>
        </a:xfrm>
      </p:grpSpPr>
      <p:sp>
        <p:nvSpPr>
          <p:cNvPr id="295" name="Google Shape;295;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296" name="Google Shape;296;p45"/>
          <p:cNvPicPr preferRelativeResize="0"/>
          <p:nvPr/>
        </p:nvPicPr>
        <p:blipFill>
          <a:blip r:embed="rId3">
            <a:alphaModFix/>
          </a:blip>
          <a:stretch>
            <a:fillRect/>
          </a:stretch>
        </p:blipFill>
        <p:spPr>
          <a:xfrm>
            <a:off x="2406525" y="446725"/>
            <a:ext cx="4612600" cy="3377300"/>
          </a:xfrm>
          <a:prstGeom prst="rect">
            <a:avLst/>
          </a:prstGeom>
          <a:noFill/>
          <a:ln>
            <a:noFill/>
          </a:ln>
        </p:spPr>
      </p:pic>
      <p:sp>
        <p:nvSpPr>
          <p:cNvPr id="297" name="Google Shape;297;p45"/>
          <p:cNvSpPr txBox="1"/>
          <p:nvPr/>
        </p:nvSpPr>
        <p:spPr>
          <a:xfrm>
            <a:off x="2623400" y="4474225"/>
            <a:ext cx="4395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u="sng">
                <a:solidFill>
                  <a:schemeClr val="hlink"/>
                </a:solidFill>
                <a:hlinkClick r:id="rId4"/>
              </a:rPr>
              <a:t>https://claude.com/blog/code-review</a:t>
            </a:r>
            <a:endParaRPr sz="18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301" name="Shape 301"/>
        <p:cNvGrpSpPr/>
        <p:nvPr/>
      </p:nvGrpSpPr>
      <p:grpSpPr>
        <a:xfrm>
          <a:off x="0" y="0"/>
          <a:ext cx="0" cy="0"/>
          <a:chOff x="0" y="0"/>
          <a:chExt cx="0" cy="0"/>
        </a:xfrm>
      </p:grpSpPr>
      <p:sp>
        <p:nvSpPr>
          <p:cNvPr id="302" name="Google Shape;302;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303" name="Google Shape;303;p46"/>
          <p:cNvGraphicFramePr/>
          <p:nvPr/>
        </p:nvGraphicFramePr>
        <p:xfrm>
          <a:off x="2208921" y="1405472"/>
          <a:ext cx="3000000" cy="3000000"/>
        </p:xfrm>
        <a:graphic>
          <a:graphicData uri="http://schemas.openxmlformats.org/drawingml/2006/table">
            <a:tbl>
              <a:tblPr>
                <a:noFill/>
                <a:tableStyleId>{DD3406B6-85D4-4D3E-B33A-8AC659BED378}</a:tableStyleId>
              </a:tblPr>
              <a:tblGrid>
                <a:gridCol w="3036200"/>
                <a:gridCol w="2993500"/>
              </a:tblGrid>
              <a:tr h="381000">
                <a:tc>
                  <a:txBody>
                    <a:bodyPr/>
                    <a:lstStyle/>
                    <a:p>
                      <a:pPr indent="0" lvl="0" marL="0" rtl="0" algn="ctr">
                        <a:spcBef>
                          <a:spcPts val="0"/>
                        </a:spcBef>
                        <a:spcAft>
                          <a:spcPts val="0"/>
                        </a:spcAft>
                        <a:buNone/>
                      </a:pPr>
                      <a:r>
                        <a:rPr lang="pt-BR" sz="2400">
                          <a:solidFill>
                            <a:srgbClr val="666666"/>
                          </a:solidFill>
                        </a:rPr>
                        <a:t>Programa</a:t>
                      </a:r>
                      <a:r>
                        <a:rPr lang="pt-BR" sz="2400">
                          <a:solidFill>
                            <a:srgbClr val="666666"/>
                          </a:solidFill>
                        </a:rPr>
                        <a:t>ção Pareada</a:t>
                      </a:r>
                      <a:endParaRPr sz="2400">
                        <a:solidFill>
                          <a:srgbClr val="666666"/>
                        </a:solidFill>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solidFill>
                            <a:srgbClr val="666666"/>
                          </a:solidFill>
                        </a:rPr>
                        <a:t>Revis</a:t>
                      </a:r>
                      <a:r>
                        <a:rPr lang="pt-BR" sz="2400">
                          <a:solidFill>
                            <a:srgbClr val="666666"/>
                          </a:solidFill>
                        </a:rPr>
                        <a:t>ão de </a:t>
                      </a:r>
                      <a:endParaRPr sz="2400">
                        <a:solidFill>
                          <a:srgbClr val="666666"/>
                        </a:solidFill>
                      </a:endParaRPr>
                    </a:p>
                    <a:p>
                      <a:pPr indent="0" lvl="0" marL="0" rtl="0" algn="ctr">
                        <a:spcBef>
                          <a:spcPts val="0"/>
                        </a:spcBef>
                        <a:spcAft>
                          <a:spcPts val="0"/>
                        </a:spcAft>
                        <a:buNone/>
                      </a:pPr>
                      <a:r>
                        <a:rPr lang="pt-BR" sz="2400">
                          <a:solidFill>
                            <a:srgbClr val="666666"/>
                          </a:solidFill>
                        </a:rPr>
                        <a:t>Código</a:t>
                      </a:r>
                      <a:endParaRPr sz="2400">
                        <a:solidFill>
                          <a:srgbClr val="666666"/>
                        </a:solidFill>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solidFill>
                            <a:srgbClr val="666666"/>
                          </a:solidFill>
                        </a:rPr>
                        <a:t>GitHub Copilot</a:t>
                      </a:r>
                      <a:endParaRPr sz="2400">
                        <a:solidFill>
                          <a:srgbClr val="666666"/>
                        </a:solidFill>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solidFill>
                            <a:srgbClr val="666666"/>
                          </a:solidFill>
                        </a:rPr>
                        <a:t>Revis</a:t>
                      </a:r>
                      <a:r>
                        <a:rPr lang="pt-BR" sz="2400">
                          <a:solidFill>
                            <a:srgbClr val="666666"/>
                          </a:solidFill>
                        </a:rPr>
                        <a:t>ão de Código com IA</a:t>
                      </a:r>
                      <a:endParaRPr sz="2400">
                        <a:solidFill>
                          <a:srgbClr val="666666"/>
                        </a:solidFill>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304" name="Google Shape;304;p46"/>
          <p:cNvSpPr txBox="1"/>
          <p:nvPr/>
        </p:nvSpPr>
        <p:spPr>
          <a:xfrm>
            <a:off x="3101811" y="928064"/>
            <a:ext cx="1429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2"/>
                </a:solidFill>
              </a:rPr>
              <a:t>Síncrono</a:t>
            </a:r>
            <a:endParaRPr sz="1800">
              <a:solidFill>
                <a:schemeClr val="dk2"/>
              </a:solidFill>
            </a:endParaRPr>
          </a:p>
        </p:txBody>
      </p:sp>
      <p:sp>
        <p:nvSpPr>
          <p:cNvPr id="305" name="Google Shape;305;p46"/>
          <p:cNvSpPr txBox="1"/>
          <p:nvPr/>
        </p:nvSpPr>
        <p:spPr>
          <a:xfrm>
            <a:off x="5939821" y="899847"/>
            <a:ext cx="1429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2"/>
                </a:solidFill>
              </a:rPr>
              <a:t>Assíncrono</a:t>
            </a:r>
            <a:endParaRPr sz="1800">
              <a:solidFill>
                <a:schemeClr val="dk2"/>
              </a:solidFill>
            </a:endParaRPr>
          </a:p>
        </p:txBody>
      </p:sp>
      <p:sp>
        <p:nvSpPr>
          <p:cNvPr id="306" name="Google Shape;306;p46"/>
          <p:cNvSpPr txBox="1"/>
          <p:nvPr/>
        </p:nvSpPr>
        <p:spPr>
          <a:xfrm>
            <a:off x="512735" y="1645844"/>
            <a:ext cx="14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chemeClr val="dk2"/>
                </a:solidFill>
              </a:rPr>
              <a:t>Humanos</a:t>
            </a:r>
            <a:endParaRPr sz="1800">
              <a:solidFill>
                <a:schemeClr val="dk2"/>
              </a:solidFill>
            </a:endParaRPr>
          </a:p>
        </p:txBody>
      </p:sp>
      <p:sp>
        <p:nvSpPr>
          <p:cNvPr id="307" name="Google Shape;307;p46"/>
          <p:cNvSpPr txBox="1"/>
          <p:nvPr/>
        </p:nvSpPr>
        <p:spPr>
          <a:xfrm>
            <a:off x="559851" y="2489264"/>
            <a:ext cx="164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2"/>
                </a:solidFill>
              </a:rPr>
              <a:t>Automatizada</a:t>
            </a:r>
            <a:endParaRPr sz="18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Contratos de Software</a:t>
            </a:r>
            <a:endParaRPr/>
          </a:p>
        </p:txBody>
      </p:sp>
      <p:sp>
        <p:nvSpPr>
          <p:cNvPr id="313" name="Google Shape;31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14" name="Google Shape;314;p47"/>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Contratos de software podem ser de dois tipos:</a:t>
            </a:r>
            <a:endParaRPr sz="2400"/>
          </a:p>
          <a:p>
            <a:pPr indent="-381000" lvl="1" marL="914400" marR="0" rtl="0" algn="l">
              <a:lnSpc>
                <a:spcPct val="114000"/>
              </a:lnSpc>
              <a:spcBef>
                <a:spcPts val="1000"/>
              </a:spcBef>
              <a:spcAft>
                <a:spcPts val="0"/>
              </a:spcAft>
              <a:buSzPts val="2400"/>
              <a:buChar char="○"/>
            </a:pPr>
            <a:r>
              <a:rPr lang="pt-BR" sz="2400"/>
              <a:t>Escopo Fechado</a:t>
            </a:r>
            <a:endParaRPr sz="2400"/>
          </a:p>
          <a:p>
            <a:pPr indent="-381000" lvl="1" marL="914400" marR="0" rtl="0" algn="l">
              <a:lnSpc>
                <a:spcPct val="114000"/>
              </a:lnSpc>
              <a:spcBef>
                <a:spcPts val="1000"/>
              </a:spcBef>
              <a:spcAft>
                <a:spcPts val="1000"/>
              </a:spcAft>
              <a:buSzPts val="2400"/>
              <a:buChar char="○"/>
            </a:pPr>
            <a:r>
              <a:rPr lang="pt-BR" sz="2400"/>
              <a:t>Escopo Aberto (defendidos por XP)</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Contratos com Escopo Fechado</a:t>
            </a:r>
            <a:endParaRPr/>
          </a:p>
        </p:txBody>
      </p:sp>
      <p:sp>
        <p:nvSpPr>
          <p:cNvPr id="320" name="Google Shape;320;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21" name="Google Shape;321;p48"/>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Cliente: requisitos ("fecha escopo")</a:t>
            </a:r>
            <a:endParaRPr sz="2400"/>
          </a:p>
          <a:p>
            <a:pPr indent="-381000" lvl="0" marL="457200" marR="0" rtl="0" algn="l">
              <a:lnSpc>
                <a:spcPct val="114000"/>
              </a:lnSpc>
              <a:spcBef>
                <a:spcPts val="1000"/>
              </a:spcBef>
              <a:spcAft>
                <a:spcPts val="1000"/>
              </a:spcAft>
              <a:buSzPts val="2400"/>
              <a:buChar char="●"/>
            </a:pPr>
            <a:r>
              <a:rPr lang="pt-BR" sz="2400"/>
              <a:t>Empresa: preço + prazo</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Contratos com Escopo Aberto</a:t>
            </a:r>
            <a:endParaRPr/>
          </a:p>
        </p:txBody>
      </p:sp>
      <p:sp>
        <p:nvSpPr>
          <p:cNvPr id="327" name="Google Shape;327;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28" name="Google Shape;328;p49"/>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A empresa CONTRATADA fornecerá [x] programadores para desenvolver um sistema [y] para a empresa CONTRATANTE, ao custo de [z] reais por mês.</a:t>
            </a:r>
            <a:endParaRPr sz="2400"/>
          </a:p>
          <a:p>
            <a:pPr indent="-381000" lvl="0" marL="457200" marR="0" rtl="0" algn="l">
              <a:lnSpc>
                <a:spcPct val="114000"/>
              </a:lnSpc>
              <a:spcBef>
                <a:spcPts val="1000"/>
              </a:spcBef>
              <a:spcAft>
                <a:spcPts val="1000"/>
              </a:spcAft>
              <a:buSzPts val="2400"/>
              <a:buChar char="●"/>
            </a:pPr>
            <a:r>
              <a:rPr lang="pt-BR" sz="2400"/>
              <a:t>Este contrato será renovado a cada mês, a não ser que uma das partes decida cancelá-lo.</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Contratos com Escopo Aberto</a:t>
            </a:r>
            <a:endParaRPr/>
          </a:p>
        </p:txBody>
      </p:sp>
      <p:sp>
        <p:nvSpPr>
          <p:cNvPr id="334" name="Google Shape;334;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35" name="Google Shape;335;p50"/>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Exige maturidade e acompanhamento do cliente</a:t>
            </a:r>
            <a:endParaRPr sz="2400"/>
          </a:p>
          <a:p>
            <a:pPr indent="-381000" lvl="0" marL="457200" marR="0" rtl="0" algn="l">
              <a:lnSpc>
                <a:spcPct val="114000"/>
              </a:lnSpc>
              <a:spcBef>
                <a:spcPts val="1000"/>
              </a:spcBef>
              <a:spcAft>
                <a:spcPts val="0"/>
              </a:spcAft>
              <a:buSzPts val="2400"/>
              <a:buChar char="●"/>
            </a:pPr>
            <a:r>
              <a:rPr lang="pt-BR" sz="2400"/>
              <a:t>Vantagens:</a:t>
            </a:r>
            <a:endParaRPr sz="2400"/>
          </a:p>
          <a:p>
            <a:pPr indent="-381000" lvl="1" marL="914400" marR="0" rtl="0" algn="l">
              <a:lnSpc>
                <a:spcPct val="114000"/>
              </a:lnSpc>
              <a:spcBef>
                <a:spcPts val="1000"/>
              </a:spcBef>
              <a:spcAft>
                <a:spcPts val="0"/>
              </a:spcAft>
              <a:buSzPts val="2400"/>
              <a:buChar char="○"/>
            </a:pPr>
            <a:r>
              <a:rPr lang="pt-BR" sz="2400"/>
              <a:t>Privilegia qualidade</a:t>
            </a:r>
            <a:endParaRPr sz="2400"/>
          </a:p>
          <a:p>
            <a:pPr indent="-381000" lvl="1" marL="914400" marR="0" rtl="0" algn="l">
              <a:lnSpc>
                <a:spcPct val="114000"/>
              </a:lnSpc>
              <a:spcBef>
                <a:spcPts val="1000"/>
              </a:spcBef>
              <a:spcAft>
                <a:spcPts val="0"/>
              </a:spcAft>
              <a:buSzPts val="2400"/>
              <a:buChar char="○"/>
            </a:pPr>
            <a:r>
              <a:rPr lang="pt-BR" sz="2400"/>
              <a:t>Não vai ser enganado ("entregar por entregar")</a:t>
            </a:r>
            <a:endParaRPr sz="2400"/>
          </a:p>
          <a:p>
            <a:pPr indent="-381000" lvl="1" marL="914400" marR="0" rtl="0" algn="l">
              <a:lnSpc>
                <a:spcPct val="114000"/>
              </a:lnSpc>
              <a:spcBef>
                <a:spcPts val="1000"/>
              </a:spcBef>
              <a:spcAft>
                <a:spcPts val="1000"/>
              </a:spcAft>
              <a:buSzPts val="2400"/>
              <a:buChar char="○"/>
            </a:pPr>
            <a:r>
              <a:rPr lang="pt-BR" sz="2400"/>
              <a:t>Pode mudar de fornecedor</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1"/>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3600"/>
              <a:t>Exercícios sobre XP</a:t>
            </a:r>
            <a:endParaRPr b="1" sz="3600"/>
          </a:p>
          <a:p>
            <a:pPr indent="0" lvl="0" marL="0" rtl="0" algn="ctr">
              <a:spcBef>
                <a:spcPts val="0"/>
              </a:spcBef>
              <a:spcAft>
                <a:spcPts val="0"/>
              </a:spcAft>
              <a:buNone/>
            </a:pPr>
            <a:r>
              <a:t/>
            </a:r>
            <a:endParaRPr b="1" sz="3600"/>
          </a:p>
        </p:txBody>
      </p:sp>
      <p:sp>
        <p:nvSpPr>
          <p:cNvPr id="341" name="Google Shape;341;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47" name="Google Shape;347;p52"/>
          <p:cNvSpPr txBox="1"/>
          <p:nvPr>
            <p:ph idx="1" type="body"/>
          </p:nvPr>
        </p:nvSpPr>
        <p:spPr>
          <a:xfrm>
            <a:off x="311700" y="161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AutoNum type="arabicPeriod"/>
            </a:pPr>
            <a:r>
              <a:rPr lang="pt-BR" sz="2400"/>
              <a:t>Por que XP é um método voltado apenas para projetos de software?</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3"/>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3600"/>
              <a:t>Scrum</a:t>
            </a:r>
            <a:endParaRPr b="1" sz="3600"/>
          </a:p>
          <a:p>
            <a:pPr indent="0" lvl="0" marL="0" rtl="0" algn="ctr">
              <a:spcBef>
                <a:spcPts val="0"/>
              </a:spcBef>
              <a:spcAft>
                <a:spcPts val="0"/>
              </a:spcAft>
              <a:buNone/>
            </a:pPr>
            <a:r>
              <a:t/>
            </a:r>
            <a:endParaRPr b="1" sz="3600"/>
          </a:p>
        </p:txBody>
      </p:sp>
      <p:sp>
        <p:nvSpPr>
          <p:cNvPr id="353" name="Google Shape;353;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Scrum</a:t>
            </a:r>
            <a:endParaRPr/>
          </a:p>
        </p:txBody>
      </p:sp>
      <p:sp>
        <p:nvSpPr>
          <p:cNvPr id="359" name="Google Shape;359;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60" name="Google Shape;360;p54"/>
          <p:cNvSpPr txBox="1"/>
          <p:nvPr>
            <p:ph idx="1" type="body"/>
          </p:nvPr>
        </p:nvSpPr>
        <p:spPr>
          <a:xfrm>
            <a:off x="311700" y="923875"/>
            <a:ext cx="88323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1000"/>
              </a:spcAft>
              <a:buSzPts val="2400"/>
              <a:buChar char="●"/>
            </a:pPr>
            <a:r>
              <a:rPr lang="pt-BR" sz="2400"/>
              <a:t>Proposto por Jeffrey Sutherland e Ken Schwaber</a:t>
            </a:r>
            <a:endParaRPr sz="1500"/>
          </a:p>
        </p:txBody>
      </p:sp>
      <p:pic>
        <p:nvPicPr>
          <p:cNvPr id="361" name="Google Shape;361;p54"/>
          <p:cNvPicPr preferRelativeResize="0"/>
          <p:nvPr/>
        </p:nvPicPr>
        <p:blipFill>
          <a:blip r:embed="rId3">
            <a:alphaModFix/>
          </a:blip>
          <a:stretch>
            <a:fillRect/>
          </a:stretch>
        </p:blipFill>
        <p:spPr>
          <a:xfrm>
            <a:off x="943958" y="1591975"/>
            <a:ext cx="3774640" cy="2941926"/>
          </a:xfrm>
          <a:prstGeom prst="rect">
            <a:avLst/>
          </a:prstGeom>
          <a:noFill/>
          <a:ln cap="flat" cmpd="sng" w="9525">
            <a:solidFill>
              <a:schemeClr val="dk2"/>
            </a:solidFill>
            <a:prstDash val="solid"/>
            <a:round/>
            <a:headEnd len="sm" w="sm" type="none"/>
            <a:tailEnd len="sm" w="sm" type="none"/>
          </a:ln>
        </p:spPr>
      </p:pic>
      <p:sp>
        <p:nvSpPr>
          <p:cNvPr id="362" name="Google Shape;362;p54"/>
          <p:cNvSpPr txBox="1"/>
          <p:nvPr/>
        </p:nvSpPr>
        <p:spPr>
          <a:xfrm>
            <a:off x="1887900" y="4635475"/>
            <a:ext cx="1620000" cy="415500"/>
          </a:xfrm>
          <a:prstGeom prst="rect">
            <a:avLst/>
          </a:prstGeom>
          <a:noFill/>
          <a:ln>
            <a:noFill/>
          </a:ln>
        </p:spPr>
        <p:txBody>
          <a:bodyPr anchorCtr="0" anchor="t" bIns="91425" lIns="91425" spcFirstLastPara="1" rIns="91425" wrap="square" tIns="91425">
            <a:spAutoFit/>
          </a:bodyPr>
          <a:lstStyle/>
          <a:p>
            <a:pPr indent="0" lvl="0" marL="0" rtl="0" algn="ctr">
              <a:lnSpc>
                <a:spcPct val="114000"/>
              </a:lnSpc>
              <a:spcBef>
                <a:spcPts val="0"/>
              </a:spcBef>
              <a:spcAft>
                <a:spcPts val="1000"/>
              </a:spcAft>
              <a:buNone/>
            </a:pPr>
            <a:r>
              <a:rPr lang="pt-BR" sz="1500">
                <a:solidFill>
                  <a:schemeClr val="dk2"/>
                </a:solidFill>
              </a:rPr>
              <a:t>OOPSLA 1995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Scrum</a:t>
            </a:r>
            <a:endParaRPr/>
          </a:p>
        </p:txBody>
      </p:sp>
      <p:sp>
        <p:nvSpPr>
          <p:cNvPr id="368" name="Google Shape;368;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69" name="Google Shape;369;p55"/>
          <p:cNvSpPr txBox="1"/>
          <p:nvPr>
            <p:ph idx="1" type="body"/>
          </p:nvPr>
        </p:nvSpPr>
        <p:spPr>
          <a:xfrm>
            <a:off x="311700" y="923875"/>
            <a:ext cx="87093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1000"/>
              </a:spcAft>
              <a:buSzPts val="2400"/>
              <a:buChar char="●"/>
            </a:pPr>
            <a:r>
              <a:rPr lang="pt-BR" sz="2400"/>
              <a:t>Scrum é uma indústria: livros, consultoria, certificações, etc</a:t>
            </a:r>
            <a:endParaRPr sz="2400"/>
          </a:p>
        </p:txBody>
      </p:sp>
      <p:pic>
        <p:nvPicPr>
          <p:cNvPr id="370" name="Google Shape;370;p55"/>
          <p:cNvPicPr preferRelativeResize="0"/>
          <p:nvPr/>
        </p:nvPicPr>
        <p:blipFill>
          <a:blip r:embed="rId3">
            <a:alphaModFix/>
          </a:blip>
          <a:stretch>
            <a:fillRect/>
          </a:stretch>
        </p:blipFill>
        <p:spPr>
          <a:xfrm>
            <a:off x="867758" y="1668175"/>
            <a:ext cx="2120760" cy="3094325"/>
          </a:xfrm>
          <a:prstGeom prst="rect">
            <a:avLst/>
          </a:prstGeom>
          <a:noFill/>
          <a:ln>
            <a:noFill/>
          </a:ln>
        </p:spPr>
      </p:pic>
      <p:pic>
        <p:nvPicPr>
          <p:cNvPr id="371" name="Google Shape;371;p55"/>
          <p:cNvPicPr preferRelativeResize="0"/>
          <p:nvPr/>
        </p:nvPicPr>
        <p:blipFill>
          <a:blip r:embed="rId4">
            <a:alphaModFix/>
          </a:blip>
          <a:stretch>
            <a:fillRect/>
          </a:stretch>
        </p:blipFill>
        <p:spPr>
          <a:xfrm>
            <a:off x="3140918" y="1668175"/>
            <a:ext cx="2052548" cy="30943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Principal evento: Sprints</a:t>
            </a:r>
            <a:endParaRPr/>
          </a:p>
        </p:txBody>
      </p:sp>
      <p:sp>
        <p:nvSpPr>
          <p:cNvPr id="377" name="Google Shape;377;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78" name="Google Shape;378;p56"/>
          <p:cNvSpPr/>
          <p:nvPr/>
        </p:nvSpPr>
        <p:spPr>
          <a:xfrm>
            <a:off x="889550" y="1865250"/>
            <a:ext cx="1761000" cy="992400"/>
          </a:xfrm>
          <a:prstGeom prst="chevron">
            <a:avLst>
              <a:gd fmla="val 50000"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1300"/>
              <a:t>Sprint 1</a:t>
            </a:r>
            <a:endParaRPr sz="1300"/>
          </a:p>
        </p:txBody>
      </p:sp>
      <p:sp>
        <p:nvSpPr>
          <p:cNvPr id="379" name="Google Shape;379;p56"/>
          <p:cNvSpPr/>
          <p:nvPr/>
        </p:nvSpPr>
        <p:spPr>
          <a:xfrm>
            <a:off x="2489750" y="1865250"/>
            <a:ext cx="1761000" cy="992400"/>
          </a:xfrm>
          <a:prstGeom prst="chevron">
            <a:avLst>
              <a:gd fmla="val 50000"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1300"/>
              <a:t>Sprint 2</a:t>
            </a:r>
            <a:endParaRPr sz="1300"/>
          </a:p>
        </p:txBody>
      </p:sp>
      <p:sp>
        <p:nvSpPr>
          <p:cNvPr id="380" name="Google Shape;380;p56"/>
          <p:cNvSpPr/>
          <p:nvPr/>
        </p:nvSpPr>
        <p:spPr>
          <a:xfrm>
            <a:off x="4089950" y="1865250"/>
            <a:ext cx="1761000" cy="992400"/>
          </a:xfrm>
          <a:prstGeom prst="chevron">
            <a:avLst>
              <a:gd fmla="val 50000"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1300"/>
              <a:t>Sprint 3</a:t>
            </a:r>
            <a:endParaRPr sz="1300"/>
          </a:p>
        </p:txBody>
      </p:sp>
      <p:sp>
        <p:nvSpPr>
          <p:cNvPr id="381" name="Google Shape;381;p56"/>
          <p:cNvSpPr/>
          <p:nvPr/>
        </p:nvSpPr>
        <p:spPr>
          <a:xfrm>
            <a:off x="5766350" y="1865250"/>
            <a:ext cx="1761000" cy="992400"/>
          </a:xfrm>
          <a:prstGeom prst="chevron">
            <a:avLst>
              <a:gd fmla="val 50000"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1300"/>
              <a:t>Sprint 4</a:t>
            </a:r>
            <a:endParaRPr sz="1300"/>
          </a:p>
        </p:txBody>
      </p:sp>
      <p:sp>
        <p:nvSpPr>
          <p:cNvPr id="382" name="Google Shape;382;p56"/>
          <p:cNvSpPr txBox="1"/>
          <p:nvPr/>
        </p:nvSpPr>
        <p:spPr>
          <a:xfrm>
            <a:off x="7769800" y="1756125"/>
            <a:ext cx="978300" cy="84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4300"/>
              <a:t>…</a:t>
            </a:r>
            <a:endParaRPr b="1" sz="4300"/>
          </a:p>
        </p:txBody>
      </p:sp>
      <p:sp>
        <p:nvSpPr>
          <p:cNvPr id="383" name="Google Shape;383;p56"/>
          <p:cNvSpPr/>
          <p:nvPr/>
        </p:nvSpPr>
        <p:spPr>
          <a:xfrm>
            <a:off x="2364950" y="3506850"/>
            <a:ext cx="429600" cy="321600"/>
          </a:xfrm>
          <a:prstGeom prst="cube">
            <a:avLst>
              <a:gd fmla="val 25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300"/>
              <a:t>Sistema</a:t>
            </a:r>
            <a:endParaRPr sz="300"/>
          </a:p>
        </p:txBody>
      </p:sp>
      <p:sp>
        <p:nvSpPr>
          <p:cNvPr id="384" name="Google Shape;384;p56"/>
          <p:cNvSpPr/>
          <p:nvPr/>
        </p:nvSpPr>
        <p:spPr>
          <a:xfrm>
            <a:off x="3888950" y="3430650"/>
            <a:ext cx="734700" cy="675900"/>
          </a:xfrm>
          <a:prstGeom prst="cube">
            <a:avLst>
              <a:gd fmla="val 25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800"/>
              <a:t>Sistema</a:t>
            </a:r>
            <a:endParaRPr sz="800"/>
          </a:p>
        </p:txBody>
      </p:sp>
      <p:sp>
        <p:nvSpPr>
          <p:cNvPr id="385" name="Google Shape;385;p56"/>
          <p:cNvSpPr/>
          <p:nvPr/>
        </p:nvSpPr>
        <p:spPr>
          <a:xfrm>
            <a:off x="5412950" y="3430650"/>
            <a:ext cx="978300" cy="912000"/>
          </a:xfrm>
          <a:prstGeom prst="cube">
            <a:avLst>
              <a:gd fmla="val 25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1200"/>
              <a:t>Sistema</a:t>
            </a:r>
            <a:endParaRPr sz="1200"/>
          </a:p>
        </p:txBody>
      </p:sp>
      <p:sp>
        <p:nvSpPr>
          <p:cNvPr id="386" name="Google Shape;386;p56"/>
          <p:cNvSpPr/>
          <p:nvPr/>
        </p:nvSpPr>
        <p:spPr>
          <a:xfrm>
            <a:off x="2542450" y="3046975"/>
            <a:ext cx="108000" cy="321600"/>
          </a:xfrm>
          <a:prstGeom prst="downArrow">
            <a:avLst>
              <a:gd fmla="val 50000" name="adj1"/>
              <a:gd fmla="val 50000" name="adj2"/>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6"/>
          <p:cNvSpPr/>
          <p:nvPr/>
        </p:nvSpPr>
        <p:spPr>
          <a:xfrm>
            <a:off x="4142650" y="3046975"/>
            <a:ext cx="108000" cy="321600"/>
          </a:xfrm>
          <a:prstGeom prst="downArrow">
            <a:avLst>
              <a:gd fmla="val 50000" name="adj1"/>
              <a:gd fmla="val 50000" name="adj2"/>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6"/>
          <p:cNvSpPr/>
          <p:nvPr/>
        </p:nvSpPr>
        <p:spPr>
          <a:xfrm>
            <a:off x="5819050" y="2970775"/>
            <a:ext cx="108000" cy="321600"/>
          </a:xfrm>
          <a:prstGeom prst="downArrow">
            <a:avLst>
              <a:gd fmla="val 50000" name="adj1"/>
              <a:gd fmla="val 50000" name="adj2"/>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56"/>
          <p:cNvCxnSpPr/>
          <p:nvPr/>
        </p:nvCxnSpPr>
        <p:spPr>
          <a:xfrm>
            <a:off x="2444600" y="4143475"/>
            <a:ext cx="3620100" cy="503100"/>
          </a:xfrm>
          <a:prstGeom prst="straightConnector1">
            <a:avLst/>
          </a:prstGeom>
          <a:noFill/>
          <a:ln cap="flat" cmpd="sng" w="38100">
            <a:solidFill>
              <a:srgbClr val="1155CC"/>
            </a:solidFill>
            <a:prstDash val="solid"/>
            <a:round/>
            <a:headEnd len="med" w="med" type="none"/>
            <a:tailEnd len="med" w="med" type="triangle"/>
          </a:ln>
        </p:spPr>
      </p:cxnSp>
      <p:sp>
        <p:nvSpPr>
          <p:cNvPr id="390" name="Google Shape;390;p56"/>
          <p:cNvSpPr txBox="1"/>
          <p:nvPr/>
        </p:nvSpPr>
        <p:spPr>
          <a:xfrm>
            <a:off x="2401725" y="4382425"/>
            <a:ext cx="2009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dk2"/>
                </a:solidFill>
              </a:rPr>
              <a:t>novas </a:t>
            </a:r>
            <a:endParaRPr>
              <a:solidFill>
                <a:schemeClr val="dk2"/>
              </a:solidFill>
            </a:endParaRPr>
          </a:p>
          <a:p>
            <a:pPr indent="0" lvl="0" marL="0" rtl="0" algn="ctr">
              <a:spcBef>
                <a:spcPts val="0"/>
              </a:spcBef>
              <a:spcAft>
                <a:spcPts val="0"/>
              </a:spcAft>
              <a:buNone/>
            </a:pPr>
            <a:r>
              <a:rPr lang="pt-BR">
                <a:solidFill>
                  <a:schemeClr val="dk2"/>
                </a:solidFill>
              </a:rPr>
              <a:t>funcionalidades</a:t>
            </a:r>
            <a:endParaRPr>
              <a:solidFill>
                <a:schemeClr val="dk2"/>
              </a:solidFill>
            </a:endParaRPr>
          </a:p>
        </p:txBody>
      </p:sp>
      <p:sp>
        <p:nvSpPr>
          <p:cNvPr id="391" name="Google Shape;391;p56"/>
          <p:cNvSpPr/>
          <p:nvPr/>
        </p:nvSpPr>
        <p:spPr>
          <a:xfrm rot="-5400000">
            <a:off x="1432225" y="917000"/>
            <a:ext cx="181800" cy="1267800"/>
          </a:xfrm>
          <a:prstGeom prst="rightBrace">
            <a:avLst>
              <a:gd fmla="val 50000" name="adj1"/>
              <a:gd fmla="val 5197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56"/>
          <p:cNvSpPr txBox="1"/>
          <p:nvPr/>
        </p:nvSpPr>
        <p:spPr>
          <a:xfrm>
            <a:off x="1106650" y="1040650"/>
            <a:ext cx="885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500">
                <a:solidFill>
                  <a:schemeClr val="dk2"/>
                </a:solidFill>
              </a:rPr>
              <a:t>15 dias</a:t>
            </a:r>
            <a:endParaRPr sz="1500">
              <a:solidFill>
                <a:schemeClr val="dk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que se faz em um sprint?</a:t>
            </a:r>
            <a:endParaRPr/>
          </a:p>
        </p:txBody>
      </p:sp>
      <p:sp>
        <p:nvSpPr>
          <p:cNvPr id="398" name="Google Shape;398;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99" name="Google Shape;399;p57"/>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Implementa-se algumas </a:t>
            </a:r>
            <a:r>
              <a:rPr b="1" lang="pt-BR" sz="2400"/>
              <a:t>histórias dos usuários</a:t>
            </a:r>
            <a:endParaRPr b="1" sz="2400"/>
          </a:p>
          <a:p>
            <a:pPr indent="-381000" lvl="0" marL="457200" rtl="0" algn="l">
              <a:lnSpc>
                <a:spcPct val="114000"/>
              </a:lnSpc>
              <a:spcBef>
                <a:spcPts val="1000"/>
              </a:spcBef>
              <a:spcAft>
                <a:spcPts val="0"/>
              </a:spcAft>
              <a:buSzPts val="2400"/>
              <a:buChar char="●"/>
            </a:pPr>
            <a:r>
              <a:rPr lang="pt-BR" sz="2400"/>
              <a:t>Histórias = funcionalidades do sistema</a:t>
            </a:r>
            <a:endParaRPr sz="2400"/>
          </a:p>
          <a:p>
            <a:pPr indent="-381000" lvl="0" marL="457200" rtl="0" algn="l">
              <a:lnSpc>
                <a:spcPct val="114000"/>
              </a:lnSpc>
              <a:spcBef>
                <a:spcPts val="1000"/>
              </a:spcBef>
              <a:spcAft>
                <a:spcPts val="0"/>
              </a:spcAft>
              <a:buSzPts val="2400"/>
              <a:buChar char="●"/>
            </a:pPr>
            <a:r>
              <a:rPr lang="pt-BR" sz="2400"/>
              <a:t>Exemplo: fórum de perguntas e respostas</a:t>
            </a:r>
            <a:endParaRPr sz="2400"/>
          </a:p>
          <a:p>
            <a:pPr indent="0" lvl="0" marL="0" rtl="0" algn="l">
              <a:lnSpc>
                <a:spcPct val="114000"/>
              </a:lnSpc>
              <a:spcBef>
                <a:spcPts val="1000"/>
              </a:spcBef>
              <a:spcAft>
                <a:spcPts val="1000"/>
              </a:spcAft>
              <a:buNone/>
            </a:pPr>
            <a:r>
              <a:t/>
            </a:r>
            <a:endParaRPr sz="2400"/>
          </a:p>
        </p:txBody>
      </p:sp>
      <p:pic>
        <p:nvPicPr>
          <p:cNvPr id="400" name="Google Shape;400;p57"/>
          <p:cNvPicPr preferRelativeResize="0"/>
          <p:nvPr/>
        </p:nvPicPr>
        <p:blipFill>
          <a:blip r:embed="rId3">
            <a:alphaModFix/>
          </a:blip>
          <a:stretch>
            <a:fillRect/>
          </a:stretch>
        </p:blipFill>
        <p:spPr>
          <a:xfrm>
            <a:off x="886951" y="2660450"/>
            <a:ext cx="2774150" cy="21393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8"/>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Quem escreve as histórias?</a:t>
            </a:r>
            <a:endParaRPr/>
          </a:p>
        </p:txBody>
      </p:sp>
      <p:sp>
        <p:nvSpPr>
          <p:cNvPr id="406" name="Google Shape;406;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07" name="Google Shape;407;p58"/>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b="1" lang="pt-BR" sz="2400"/>
              <a:t>Product Owner (PO)</a:t>
            </a:r>
            <a:endParaRPr b="1" sz="2400"/>
          </a:p>
          <a:p>
            <a:pPr indent="-381000" lvl="0" marL="457200" rtl="0" algn="l">
              <a:lnSpc>
                <a:spcPct val="114000"/>
              </a:lnSpc>
              <a:spcBef>
                <a:spcPts val="1000"/>
              </a:spcBef>
              <a:spcAft>
                <a:spcPts val="0"/>
              </a:spcAft>
              <a:buSzPts val="2400"/>
              <a:buChar char="●"/>
            </a:pPr>
            <a:r>
              <a:rPr lang="pt-BR" sz="2400"/>
              <a:t>Papel obrigatório em times Scrum</a:t>
            </a:r>
            <a:endParaRPr sz="2400"/>
          </a:p>
          <a:p>
            <a:pPr indent="-381000" lvl="0" marL="457200" rtl="0" algn="l">
              <a:lnSpc>
                <a:spcPct val="114000"/>
              </a:lnSpc>
              <a:spcBef>
                <a:spcPts val="1000"/>
              </a:spcBef>
              <a:spcAft>
                <a:spcPts val="0"/>
              </a:spcAft>
              <a:buSzPts val="2400"/>
              <a:buChar char="●"/>
            </a:pPr>
            <a:r>
              <a:rPr lang="pt-BR" sz="2400"/>
              <a:t>Especialista no domínio do sistema</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Antes: Waterfall</a:t>
            </a:r>
            <a:endParaRPr/>
          </a:p>
        </p:txBody>
      </p:sp>
      <p:sp>
        <p:nvSpPr>
          <p:cNvPr id="413" name="Google Shape;413;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14" name="Google Shape;414;p59"/>
          <p:cNvPicPr preferRelativeResize="0"/>
          <p:nvPr/>
        </p:nvPicPr>
        <p:blipFill>
          <a:blip r:embed="rId3">
            <a:alphaModFix/>
          </a:blip>
          <a:stretch>
            <a:fillRect/>
          </a:stretch>
        </p:blipFill>
        <p:spPr>
          <a:xfrm>
            <a:off x="2591325" y="1563575"/>
            <a:ext cx="2085450" cy="1212975"/>
          </a:xfrm>
          <a:prstGeom prst="rect">
            <a:avLst/>
          </a:prstGeom>
          <a:noFill/>
          <a:ln>
            <a:noFill/>
          </a:ln>
        </p:spPr>
      </p:pic>
      <p:sp>
        <p:nvSpPr>
          <p:cNvPr id="415" name="Google Shape;415;p59"/>
          <p:cNvSpPr txBox="1"/>
          <p:nvPr/>
        </p:nvSpPr>
        <p:spPr>
          <a:xfrm>
            <a:off x="2311200" y="2896650"/>
            <a:ext cx="2822400" cy="48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200">
                <a:solidFill>
                  <a:schemeClr val="dk2"/>
                </a:solidFill>
              </a:rPr>
              <a:t>Linguagem natural </a:t>
            </a:r>
            <a:endParaRPr sz="1200">
              <a:solidFill>
                <a:schemeClr val="dk2"/>
              </a:solidFill>
            </a:endParaRPr>
          </a:p>
          <a:p>
            <a:pPr indent="0" lvl="0" marL="0" rtl="0" algn="ctr">
              <a:spcBef>
                <a:spcPts val="0"/>
              </a:spcBef>
              <a:spcAft>
                <a:spcPts val="0"/>
              </a:spcAft>
              <a:buNone/>
            </a:pPr>
            <a:r>
              <a:rPr lang="pt-BR" sz="1200">
                <a:solidFill>
                  <a:schemeClr val="dk2"/>
                </a:solidFill>
              </a:rPr>
              <a:t>(poderia levar anos para ficar pronto)</a:t>
            </a:r>
            <a:endParaRPr sz="1200">
              <a:solidFill>
                <a:schemeClr val="dk2"/>
              </a:solidFill>
            </a:endParaRPr>
          </a:p>
        </p:txBody>
      </p:sp>
      <p:sp>
        <p:nvSpPr>
          <p:cNvPr id="416" name="Google Shape;416;p59"/>
          <p:cNvSpPr txBox="1"/>
          <p:nvPr/>
        </p:nvSpPr>
        <p:spPr>
          <a:xfrm>
            <a:off x="390075" y="1137700"/>
            <a:ext cx="1368300" cy="659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Stakeholders</a:t>
            </a:r>
            <a:endParaRPr/>
          </a:p>
        </p:txBody>
      </p:sp>
      <p:sp>
        <p:nvSpPr>
          <p:cNvPr id="417" name="Google Shape;417;p59"/>
          <p:cNvSpPr txBox="1"/>
          <p:nvPr/>
        </p:nvSpPr>
        <p:spPr>
          <a:xfrm>
            <a:off x="390075" y="2433100"/>
            <a:ext cx="1368300" cy="659100"/>
          </a:xfrm>
          <a:prstGeom prst="rect">
            <a:avLst/>
          </a:prstGeom>
          <a:solidFill>
            <a:srgbClr val="D9D9D9"/>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pt-BR"/>
              <a:t>Analista de Requisitos</a:t>
            </a:r>
            <a:endParaRPr/>
          </a:p>
        </p:txBody>
      </p:sp>
      <p:sp>
        <p:nvSpPr>
          <p:cNvPr id="418" name="Google Shape;418;p59"/>
          <p:cNvSpPr txBox="1"/>
          <p:nvPr/>
        </p:nvSpPr>
        <p:spPr>
          <a:xfrm>
            <a:off x="5495475" y="1796800"/>
            <a:ext cx="1368300" cy="762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Devs</a:t>
            </a:r>
            <a:endParaRPr/>
          </a:p>
        </p:txBody>
      </p:sp>
      <p:cxnSp>
        <p:nvCxnSpPr>
          <p:cNvPr id="419" name="Google Shape;419;p59"/>
          <p:cNvCxnSpPr>
            <a:stCxn id="414" idx="3"/>
            <a:endCxn id="418" idx="1"/>
          </p:cNvCxnSpPr>
          <p:nvPr/>
        </p:nvCxnSpPr>
        <p:spPr>
          <a:xfrm>
            <a:off x="4676775" y="2170062"/>
            <a:ext cx="818700" cy="7800"/>
          </a:xfrm>
          <a:prstGeom prst="straightConnector1">
            <a:avLst/>
          </a:prstGeom>
          <a:noFill/>
          <a:ln cap="flat" cmpd="sng" w="9525">
            <a:solidFill>
              <a:schemeClr val="dk2"/>
            </a:solidFill>
            <a:prstDash val="solid"/>
            <a:round/>
            <a:headEnd len="med" w="med" type="none"/>
            <a:tailEnd len="med" w="med" type="triangle"/>
          </a:ln>
        </p:spPr>
      </p:cxnSp>
      <p:cxnSp>
        <p:nvCxnSpPr>
          <p:cNvPr id="420" name="Google Shape;420;p59"/>
          <p:cNvCxnSpPr>
            <a:stCxn id="417" idx="0"/>
            <a:endCxn id="416" idx="2"/>
          </p:cNvCxnSpPr>
          <p:nvPr/>
        </p:nvCxnSpPr>
        <p:spPr>
          <a:xfrm rot="10800000">
            <a:off x="1074225" y="1796800"/>
            <a:ext cx="0" cy="636300"/>
          </a:xfrm>
          <a:prstGeom prst="straightConnector1">
            <a:avLst/>
          </a:prstGeom>
          <a:noFill/>
          <a:ln cap="flat" cmpd="sng" w="9525">
            <a:solidFill>
              <a:schemeClr val="dk2"/>
            </a:solidFill>
            <a:prstDash val="solid"/>
            <a:round/>
            <a:headEnd len="med" w="med" type="none"/>
            <a:tailEnd len="med" w="med" type="triangle"/>
          </a:ln>
        </p:spPr>
      </p:cxnSp>
      <p:cxnSp>
        <p:nvCxnSpPr>
          <p:cNvPr id="421" name="Google Shape;421;p59"/>
          <p:cNvCxnSpPr>
            <a:stCxn id="417" idx="3"/>
            <a:endCxn id="414" idx="1"/>
          </p:cNvCxnSpPr>
          <p:nvPr/>
        </p:nvCxnSpPr>
        <p:spPr>
          <a:xfrm flipH="1" rot="10800000">
            <a:off x="1758375" y="2170150"/>
            <a:ext cx="832800" cy="592500"/>
          </a:xfrm>
          <a:prstGeom prst="straightConnector1">
            <a:avLst/>
          </a:prstGeom>
          <a:noFill/>
          <a:ln cap="flat" cmpd="sng" w="9525">
            <a:solidFill>
              <a:schemeClr val="dk2"/>
            </a:solidFill>
            <a:prstDash val="solid"/>
            <a:round/>
            <a:headEnd len="med" w="med" type="none"/>
            <a:tailEnd len="med" w="med" type="triangle"/>
          </a:ln>
        </p:spPr>
      </p:cxnSp>
      <p:sp>
        <p:nvSpPr>
          <p:cNvPr id="422" name="Google Shape;422;p59"/>
          <p:cNvSpPr txBox="1"/>
          <p:nvPr/>
        </p:nvSpPr>
        <p:spPr>
          <a:xfrm>
            <a:off x="464100" y="1918275"/>
            <a:ext cx="61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t>consulta</a:t>
            </a:r>
            <a:endParaRPr sz="900"/>
          </a:p>
        </p:txBody>
      </p:sp>
      <p:sp>
        <p:nvSpPr>
          <p:cNvPr id="423" name="Google Shape;423;p59"/>
          <p:cNvSpPr txBox="1"/>
          <p:nvPr/>
        </p:nvSpPr>
        <p:spPr>
          <a:xfrm>
            <a:off x="1988100" y="2527875"/>
            <a:ext cx="61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t>escreve</a:t>
            </a:r>
            <a:endParaRPr sz="900"/>
          </a:p>
        </p:txBody>
      </p:sp>
      <p:sp>
        <p:nvSpPr>
          <p:cNvPr id="424" name="Google Shape;424;p59"/>
          <p:cNvSpPr txBox="1"/>
          <p:nvPr/>
        </p:nvSpPr>
        <p:spPr>
          <a:xfrm>
            <a:off x="4676775" y="2146875"/>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t>implementa</a:t>
            </a:r>
            <a:endParaRPr sz="9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Hoje: Scrum</a:t>
            </a:r>
            <a:endParaRPr/>
          </a:p>
        </p:txBody>
      </p:sp>
      <p:sp>
        <p:nvSpPr>
          <p:cNvPr id="430" name="Google Shape;43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31" name="Google Shape;431;p60"/>
          <p:cNvSpPr txBox="1"/>
          <p:nvPr/>
        </p:nvSpPr>
        <p:spPr>
          <a:xfrm>
            <a:off x="2371275" y="1213900"/>
            <a:ext cx="1368300" cy="659100"/>
          </a:xfrm>
          <a:prstGeom prst="rect">
            <a:avLst/>
          </a:prstGeom>
          <a:solidFill>
            <a:srgbClr val="D9D9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PO</a:t>
            </a:r>
            <a:endParaRPr/>
          </a:p>
        </p:txBody>
      </p:sp>
      <p:sp>
        <p:nvSpPr>
          <p:cNvPr id="432" name="Google Shape;432;p60"/>
          <p:cNvSpPr txBox="1"/>
          <p:nvPr/>
        </p:nvSpPr>
        <p:spPr>
          <a:xfrm>
            <a:off x="4428675" y="1213900"/>
            <a:ext cx="1368300" cy="659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Devs</a:t>
            </a:r>
            <a:endParaRPr/>
          </a:p>
        </p:txBody>
      </p:sp>
      <p:sp>
        <p:nvSpPr>
          <p:cNvPr id="433" name="Google Shape;433;p60"/>
          <p:cNvSpPr txBox="1"/>
          <p:nvPr/>
        </p:nvSpPr>
        <p:spPr>
          <a:xfrm>
            <a:off x="466275" y="1213900"/>
            <a:ext cx="1368300" cy="659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Stakeholders</a:t>
            </a:r>
            <a:endParaRPr/>
          </a:p>
        </p:txBody>
      </p:sp>
      <p:cxnSp>
        <p:nvCxnSpPr>
          <p:cNvPr id="434" name="Google Shape;434;p60"/>
          <p:cNvCxnSpPr>
            <a:stCxn id="433" idx="3"/>
            <a:endCxn id="431" idx="1"/>
          </p:cNvCxnSpPr>
          <p:nvPr/>
        </p:nvCxnSpPr>
        <p:spPr>
          <a:xfrm>
            <a:off x="1834575" y="1543450"/>
            <a:ext cx="536700" cy="0"/>
          </a:xfrm>
          <a:prstGeom prst="straightConnector1">
            <a:avLst/>
          </a:prstGeom>
          <a:noFill/>
          <a:ln cap="flat" cmpd="sng" w="9525">
            <a:solidFill>
              <a:schemeClr val="dk2"/>
            </a:solidFill>
            <a:prstDash val="solid"/>
            <a:round/>
            <a:headEnd len="med" w="med" type="triangle"/>
            <a:tailEnd len="med" w="med" type="triangle"/>
          </a:ln>
        </p:spPr>
      </p:cxnSp>
      <p:cxnSp>
        <p:nvCxnSpPr>
          <p:cNvPr id="435" name="Google Shape;435;p60"/>
          <p:cNvCxnSpPr>
            <a:stCxn id="431" idx="3"/>
            <a:endCxn id="432" idx="1"/>
          </p:cNvCxnSpPr>
          <p:nvPr/>
        </p:nvCxnSpPr>
        <p:spPr>
          <a:xfrm>
            <a:off x="3739575" y="1543450"/>
            <a:ext cx="689100" cy="0"/>
          </a:xfrm>
          <a:prstGeom prst="straightConnector1">
            <a:avLst/>
          </a:prstGeom>
          <a:noFill/>
          <a:ln cap="flat" cmpd="sng" w="9525">
            <a:solidFill>
              <a:schemeClr val="dk2"/>
            </a:solidFill>
            <a:prstDash val="solid"/>
            <a:round/>
            <a:headEnd len="med" w="med" type="triangle"/>
            <a:tailEnd len="med" w="med" type="triangle"/>
          </a:ln>
        </p:spPr>
      </p:cxnSp>
      <p:sp>
        <p:nvSpPr>
          <p:cNvPr id="436" name="Google Shape;436;p60"/>
          <p:cNvSpPr txBox="1"/>
          <p:nvPr>
            <p:ph idx="1" type="body"/>
          </p:nvPr>
        </p:nvSpPr>
        <p:spPr>
          <a:xfrm>
            <a:off x="159300" y="2143075"/>
            <a:ext cx="86730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Durante sprint, PO explica histórias para devs</a:t>
            </a:r>
            <a:endParaRPr sz="2400"/>
          </a:p>
          <a:p>
            <a:pPr indent="-381000" lvl="0" marL="457200" rtl="0" algn="l">
              <a:lnSpc>
                <a:spcPct val="114000"/>
              </a:lnSpc>
              <a:spcBef>
                <a:spcPts val="1000"/>
              </a:spcBef>
              <a:spcAft>
                <a:spcPts val="0"/>
              </a:spcAft>
              <a:buSzPts val="2400"/>
              <a:buChar char="●"/>
            </a:pPr>
            <a:r>
              <a:rPr lang="pt-BR" sz="2400"/>
              <a:t>Troca-se documentação formal/escrita por informal/verbal </a:t>
            </a:r>
            <a:endParaRPr sz="2400"/>
          </a:p>
          <a:p>
            <a:pPr indent="-381000" lvl="0" marL="457200" rtl="0" algn="l">
              <a:lnSpc>
                <a:spcPct val="114000"/>
              </a:lnSpc>
              <a:spcBef>
                <a:spcPts val="1000"/>
              </a:spcBef>
              <a:spcAft>
                <a:spcPts val="1000"/>
              </a:spcAft>
              <a:buSzPts val="2400"/>
              <a:buChar char="●"/>
            </a:pPr>
            <a:r>
              <a:rPr lang="pt-BR" sz="2400"/>
              <a:t>Conversas entre PO e devs</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Hoje ...</a:t>
            </a:r>
            <a:endParaRPr/>
          </a:p>
        </p:txBody>
      </p:sp>
      <p:pic>
        <p:nvPicPr>
          <p:cNvPr id="442" name="Google Shape;442;p61"/>
          <p:cNvPicPr preferRelativeResize="0"/>
          <p:nvPr/>
        </p:nvPicPr>
        <p:blipFill>
          <a:blip r:embed="rId3">
            <a:alphaModFix/>
          </a:blip>
          <a:stretch>
            <a:fillRect/>
          </a:stretch>
        </p:blipFill>
        <p:spPr>
          <a:xfrm>
            <a:off x="1600200" y="941525"/>
            <a:ext cx="4637972" cy="3093502"/>
          </a:xfrm>
          <a:prstGeom prst="rect">
            <a:avLst/>
          </a:prstGeom>
          <a:noFill/>
          <a:ln>
            <a:noFill/>
          </a:ln>
        </p:spPr>
      </p:pic>
      <p:sp>
        <p:nvSpPr>
          <p:cNvPr id="443" name="Google Shape;443;p61"/>
          <p:cNvSpPr txBox="1"/>
          <p:nvPr/>
        </p:nvSpPr>
        <p:spPr>
          <a:xfrm>
            <a:off x="1030325" y="4344325"/>
            <a:ext cx="556170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solidFill>
                  <a:schemeClr val="dk2"/>
                </a:solidFill>
              </a:rPr>
              <a:t>Product Owner senta junto dos desenvolvedores e explica requisitos para eles</a:t>
            </a:r>
            <a:endParaRPr sz="1800">
              <a:solidFill>
                <a:schemeClr val="dk2"/>
              </a:solidFill>
            </a:endParaRPr>
          </a:p>
        </p:txBody>
      </p:sp>
      <p:cxnSp>
        <p:nvCxnSpPr>
          <p:cNvPr id="444" name="Google Shape;444;p61"/>
          <p:cNvCxnSpPr>
            <a:stCxn id="442" idx="0"/>
          </p:cNvCxnSpPr>
          <p:nvPr/>
        </p:nvCxnSpPr>
        <p:spPr>
          <a:xfrm flipH="1" rot="10800000">
            <a:off x="3919186" y="611525"/>
            <a:ext cx="564900" cy="330000"/>
          </a:xfrm>
          <a:prstGeom prst="straightConnector1">
            <a:avLst/>
          </a:prstGeom>
          <a:noFill/>
          <a:ln cap="flat" cmpd="sng" w="28575">
            <a:solidFill>
              <a:srgbClr val="4A86E8"/>
            </a:solidFill>
            <a:prstDash val="solid"/>
            <a:round/>
            <a:headEnd len="med" w="med" type="none"/>
            <a:tailEnd len="med" w="med" type="triangle"/>
          </a:ln>
        </p:spPr>
      </p:cxnSp>
      <p:sp>
        <p:nvSpPr>
          <p:cNvPr id="445" name="Google Shape;445;p61"/>
          <p:cNvSpPr txBox="1"/>
          <p:nvPr/>
        </p:nvSpPr>
        <p:spPr>
          <a:xfrm>
            <a:off x="4483275" y="391400"/>
            <a:ext cx="5649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PO</a:t>
            </a:r>
            <a:endParaRPr/>
          </a:p>
        </p:txBody>
      </p:sp>
      <p:cxnSp>
        <p:nvCxnSpPr>
          <p:cNvPr id="446" name="Google Shape;446;p61"/>
          <p:cNvCxnSpPr>
            <a:endCxn id="447" idx="1"/>
          </p:cNvCxnSpPr>
          <p:nvPr/>
        </p:nvCxnSpPr>
        <p:spPr>
          <a:xfrm>
            <a:off x="5407275" y="1281500"/>
            <a:ext cx="1209600" cy="189300"/>
          </a:xfrm>
          <a:prstGeom prst="straightConnector1">
            <a:avLst/>
          </a:prstGeom>
          <a:noFill/>
          <a:ln cap="flat" cmpd="sng" w="28575">
            <a:solidFill>
              <a:srgbClr val="4A86E8"/>
            </a:solidFill>
            <a:prstDash val="solid"/>
            <a:round/>
            <a:headEnd len="med" w="med" type="none"/>
            <a:tailEnd len="med" w="med" type="triangle"/>
          </a:ln>
        </p:spPr>
      </p:cxnSp>
      <p:sp>
        <p:nvSpPr>
          <p:cNvPr id="447" name="Google Shape;447;p61"/>
          <p:cNvSpPr txBox="1"/>
          <p:nvPr/>
        </p:nvSpPr>
        <p:spPr>
          <a:xfrm>
            <a:off x="6616875" y="1305800"/>
            <a:ext cx="8046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Devs</a:t>
            </a:r>
            <a:endParaRPr/>
          </a:p>
        </p:txBody>
      </p:sp>
      <p:cxnSp>
        <p:nvCxnSpPr>
          <p:cNvPr id="448" name="Google Shape;448;p61"/>
          <p:cNvCxnSpPr/>
          <p:nvPr/>
        </p:nvCxnSpPr>
        <p:spPr>
          <a:xfrm flipH="1" rot="10800000">
            <a:off x="6102650" y="1685675"/>
            <a:ext cx="503400" cy="1358400"/>
          </a:xfrm>
          <a:prstGeom prst="straightConnector1">
            <a:avLst/>
          </a:prstGeom>
          <a:noFill/>
          <a:ln cap="flat" cmpd="sng" w="28575">
            <a:solidFill>
              <a:srgbClr val="4A86E8"/>
            </a:solidFill>
            <a:prstDash val="solid"/>
            <a:round/>
            <a:headEnd len="med" w="med" type="none"/>
            <a:tailEnd len="med" w="med" type="triangle"/>
          </a:ln>
        </p:spPr>
      </p:cxnSp>
      <p:cxnSp>
        <p:nvCxnSpPr>
          <p:cNvPr id="449" name="Google Shape;449;p61"/>
          <p:cNvCxnSpPr/>
          <p:nvPr/>
        </p:nvCxnSpPr>
        <p:spPr>
          <a:xfrm flipH="1" rot="10800000">
            <a:off x="3800675" y="1725250"/>
            <a:ext cx="2673600" cy="1019100"/>
          </a:xfrm>
          <a:prstGeom prst="straightConnector1">
            <a:avLst/>
          </a:prstGeom>
          <a:noFill/>
          <a:ln cap="flat" cmpd="sng" w="28575">
            <a:solidFill>
              <a:srgbClr val="4A86E8"/>
            </a:solidFill>
            <a:prstDash val="solid"/>
            <a:round/>
            <a:headEnd len="med" w="med" type="none"/>
            <a:tailEnd len="med" w="med" type="triangle"/>
          </a:ln>
        </p:spPr>
      </p:cxnSp>
      <p:cxnSp>
        <p:nvCxnSpPr>
          <p:cNvPr id="450" name="Google Shape;450;p61"/>
          <p:cNvCxnSpPr/>
          <p:nvPr/>
        </p:nvCxnSpPr>
        <p:spPr>
          <a:xfrm flipH="1" rot="10800000">
            <a:off x="2295575" y="1635800"/>
            <a:ext cx="4178700" cy="587400"/>
          </a:xfrm>
          <a:prstGeom prst="straightConnector1">
            <a:avLst/>
          </a:prstGeom>
          <a:noFill/>
          <a:ln cap="flat" cmpd="sng" w="28575">
            <a:solidFill>
              <a:srgbClr val="4A86E8"/>
            </a:solidFill>
            <a:prstDash val="solid"/>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Funções de um PO</a:t>
            </a:r>
            <a:endParaRPr/>
          </a:p>
        </p:txBody>
      </p:sp>
      <p:sp>
        <p:nvSpPr>
          <p:cNvPr id="456" name="Google Shape;456;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57" name="Google Shape;457;p62"/>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Escrever histórias dos usuários </a:t>
            </a:r>
            <a:endParaRPr sz="2400"/>
          </a:p>
          <a:p>
            <a:pPr indent="-381000" lvl="0" marL="457200" rtl="0" algn="l">
              <a:lnSpc>
                <a:spcPct val="114000"/>
              </a:lnSpc>
              <a:spcBef>
                <a:spcPts val="1000"/>
              </a:spcBef>
              <a:spcAft>
                <a:spcPts val="0"/>
              </a:spcAft>
              <a:buSzPts val="2400"/>
              <a:buChar char="●"/>
            </a:pPr>
            <a:r>
              <a:rPr lang="pt-BR" sz="2400"/>
              <a:t>Explicar histórias para os devs</a:t>
            </a:r>
            <a:endParaRPr sz="2400"/>
          </a:p>
          <a:p>
            <a:pPr indent="-381000" lvl="0" marL="457200" rtl="0" algn="l">
              <a:lnSpc>
                <a:spcPct val="114000"/>
              </a:lnSpc>
              <a:spcBef>
                <a:spcPts val="1000"/>
              </a:spcBef>
              <a:spcAft>
                <a:spcPts val="0"/>
              </a:spcAft>
              <a:buSzPts val="2400"/>
              <a:buChar char="●"/>
            </a:pPr>
            <a:r>
              <a:rPr lang="pt-BR" sz="2400"/>
              <a:t>Definir "testes de aceitação" de histórias</a:t>
            </a:r>
            <a:endParaRPr sz="2400"/>
          </a:p>
          <a:p>
            <a:pPr indent="-381000" lvl="0" marL="457200" rtl="0" algn="l">
              <a:lnSpc>
                <a:spcPct val="114000"/>
              </a:lnSpc>
              <a:spcBef>
                <a:spcPts val="1000"/>
              </a:spcBef>
              <a:spcAft>
                <a:spcPts val="0"/>
              </a:spcAft>
              <a:buSzPts val="2400"/>
              <a:buChar char="●"/>
            </a:pPr>
            <a:r>
              <a:rPr lang="pt-BR" sz="2400"/>
              <a:t>Priorizar histórias</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Backlog do Produto</a:t>
            </a:r>
            <a:endParaRPr/>
          </a:p>
        </p:txBody>
      </p:sp>
      <p:sp>
        <p:nvSpPr>
          <p:cNvPr id="463" name="Google Shape;463;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64" name="Google Shape;464;p63"/>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Lista de histórias do usuário</a:t>
            </a:r>
            <a:endParaRPr sz="2400"/>
          </a:p>
          <a:p>
            <a:pPr indent="-381000" lvl="0" marL="457200" rtl="0" algn="l">
              <a:lnSpc>
                <a:spcPct val="114000"/>
              </a:lnSpc>
              <a:spcBef>
                <a:spcPts val="1000"/>
              </a:spcBef>
              <a:spcAft>
                <a:spcPts val="0"/>
              </a:spcAft>
              <a:buSzPts val="2400"/>
              <a:buChar char="●"/>
            </a:pPr>
            <a:r>
              <a:rPr lang="pt-BR" sz="2400"/>
              <a:t>E outros itens de trabalho importantes</a:t>
            </a:r>
            <a:endParaRPr sz="2400"/>
          </a:p>
          <a:p>
            <a:pPr indent="-381000" lvl="0" marL="457200" rtl="0" algn="l">
              <a:lnSpc>
                <a:spcPct val="114000"/>
              </a:lnSpc>
              <a:spcBef>
                <a:spcPts val="1000"/>
              </a:spcBef>
              <a:spcAft>
                <a:spcPts val="0"/>
              </a:spcAft>
              <a:buSzPts val="2400"/>
              <a:buChar char="●"/>
            </a:pPr>
            <a:r>
              <a:rPr lang="pt-BR" sz="2400"/>
              <a:t>Duas características:</a:t>
            </a:r>
            <a:endParaRPr sz="2400"/>
          </a:p>
          <a:p>
            <a:pPr indent="-381000" lvl="1" marL="914400" rtl="0" algn="l">
              <a:lnSpc>
                <a:spcPct val="114000"/>
              </a:lnSpc>
              <a:spcBef>
                <a:spcPts val="1000"/>
              </a:spcBef>
              <a:spcAft>
                <a:spcPts val="0"/>
              </a:spcAft>
              <a:buSzPts val="2400"/>
              <a:buChar char="○"/>
            </a:pPr>
            <a:r>
              <a:rPr lang="pt-BR" sz="2400"/>
              <a:t>Priorizada: histórias do topo têm maior prioridade</a:t>
            </a:r>
            <a:endParaRPr sz="2400"/>
          </a:p>
          <a:p>
            <a:pPr indent="-381000" lvl="1" marL="914400" rtl="0" algn="l">
              <a:lnSpc>
                <a:spcPct val="114000"/>
              </a:lnSpc>
              <a:spcBef>
                <a:spcPts val="1000"/>
              </a:spcBef>
              <a:spcAft>
                <a:spcPts val="0"/>
              </a:spcAft>
              <a:buSzPts val="2400"/>
              <a:buChar char="○"/>
            </a:pPr>
            <a:r>
              <a:rPr lang="pt-BR" sz="2400"/>
              <a:t>Dinâmica: histórias podem sair e entrar…</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Resumindo</a:t>
            </a:r>
            <a:endParaRPr/>
          </a:p>
        </p:txBody>
      </p:sp>
      <p:sp>
        <p:nvSpPr>
          <p:cNvPr id="470" name="Google Shape;470;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71" name="Google Shape;471;p64"/>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Iteração: sprint</a:t>
            </a:r>
            <a:endParaRPr sz="2400"/>
          </a:p>
          <a:p>
            <a:pPr indent="-381000" lvl="0" marL="457200" rtl="0" algn="l">
              <a:lnSpc>
                <a:spcPct val="114000"/>
              </a:lnSpc>
              <a:spcBef>
                <a:spcPts val="1000"/>
              </a:spcBef>
              <a:spcAft>
                <a:spcPts val="0"/>
              </a:spcAft>
              <a:buSzPts val="2400"/>
              <a:buChar char="●"/>
            </a:pPr>
            <a:r>
              <a:rPr lang="pt-BR" sz="2400"/>
              <a:t>Papéis: PO e Devs</a:t>
            </a:r>
            <a:endParaRPr sz="2400"/>
          </a:p>
          <a:p>
            <a:pPr indent="-381000" lvl="0" marL="457200" rtl="0" algn="l">
              <a:lnSpc>
                <a:spcPct val="114000"/>
              </a:lnSpc>
              <a:spcBef>
                <a:spcPts val="1000"/>
              </a:spcBef>
              <a:spcAft>
                <a:spcPts val="0"/>
              </a:spcAft>
              <a:buSzPts val="2400"/>
              <a:buChar char="●"/>
            </a:pPr>
            <a:r>
              <a:rPr lang="pt-BR" sz="2400"/>
              <a:t>Artefato: backlog do produto</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Quais histórias vão entrar no próximo sprint?</a:t>
            </a:r>
            <a:endParaRPr/>
          </a:p>
        </p:txBody>
      </p:sp>
      <p:sp>
        <p:nvSpPr>
          <p:cNvPr id="477" name="Google Shape;477;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78" name="Google Shape;478;p65"/>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Decisão tomada no início do sprint</a:t>
            </a:r>
            <a:endParaRPr sz="2400"/>
          </a:p>
          <a:p>
            <a:pPr indent="-381000" lvl="0" marL="457200" rtl="0" algn="l">
              <a:lnSpc>
                <a:spcPct val="114000"/>
              </a:lnSpc>
              <a:spcBef>
                <a:spcPts val="1000"/>
              </a:spcBef>
              <a:spcAft>
                <a:spcPts val="0"/>
              </a:spcAft>
              <a:buSzPts val="2400"/>
              <a:buChar char="●"/>
            </a:pPr>
            <a:r>
              <a:rPr lang="pt-BR" sz="2400"/>
              <a:t>Em uma reunião chamada de </a:t>
            </a:r>
            <a:r>
              <a:rPr b="1" lang="pt-BR" sz="2400"/>
              <a:t>planejamento do sprint</a:t>
            </a:r>
            <a:endParaRPr sz="2400"/>
          </a:p>
          <a:p>
            <a:pPr indent="-381000" lvl="0" marL="457200" rtl="0" algn="l">
              <a:lnSpc>
                <a:spcPct val="114000"/>
              </a:lnSpc>
              <a:spcBef>
                <a:spcPts val="1000"/>
              </a:spcBef>
              <a:spcAft>
                <a:spcPts val="0"/>
              </a:spcAft>
              <a:buSzPts val="2400"/>
              <a:buChar char="●"/>
            </a:pPr>
            <a:r>
              <a:rPr lang="pt-BR" sz="2400"/>
              <a:t>PO propõe histórias que gostaria de ver implementadas</a:t>
            </a:r>
            <a:endParaRPr sz="2400"/>
          </a:p>
          <a:p>
            <a:pPr indent="-381000" lvl="0" marL="457200" rtl="0" algn="l">
              <a:lnSpc>
                <a:spcPct val="114000"/>
              </a:lnSpc>
              <a:spcBef>
                <a:spcPts val="1000"/>
              </a:spcBef>
              <a:spcAft>
                <a:spcPts val="0"/>
              </a:spcAft>
              <a:buSzPts val="2400"/>
              <a:buChar char="●"/>
            </a:pPr>
            <a:r>
              <a:rPr lang="pt-BR" sz="2400"/>
              <a:t>Devs decidem se têm </a:t>
            </a:r>
            <a:r>
              <a:rPr b="1" lang="pt-BR" sz="2400"/>
              <a:t>velocidade</a:t>
            </a:r>
            <a:r>
              <a:rPr lang="pt-BR" sz="2400"/>
              <a:t> para implementá-las</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Importante</a:t>
            </a:r>
            <a:endParaRPr/>
          </a:p>
        </p:txBody>
      </p:sp>
      <p:sp>
        <p:nvSpPr>
          <p:cNvPr id="484" name="Google Shape;484;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85" name="Google Shape;485;p66"/>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Em um time Scrum, todos têm o mesmo nível hierárquico</a:t>
            </a:r>
            <a:endParaRPr sz="2400"/>
          </a:p>
          <a:p>
            <a:pPr indent="-381000" lvl="0" marL="457200" rtl="0" algn="l">
              <a:lnSpc>
                <a:spcPct val="114000"/>
              </a:lnSpc>
              <a:spcBef>
                <a:spcPts val="1000"/>
              </a:spcBef>
              <a:spcAft>
                <a:spcPts val="0"/>
              </a:spcAft>
              <a:buSzPts val="2400"/>
              <a:buChar char="●"/>
            </a:pPr>
            <a:r>
              <a:rPr lang="pt-BR" sz="2400"/>
              <a:t>PO não é o chefe dos Devs</a:t>
            </a:r>
            <a:endParaRPr sz="2400"/>
          </a:p>
          <a:p>
            <a:pPr indent="-381000" lvl="0" marL="457200" rtl="0" algn="l">
              <a:lnSpc>
                <a:spcPct val="114000"/>
              </a:lnSpc>
              <a:spcBef>
                <a:spcPts val="1000"/>
              </a:spcBef>
              <a:spcAft>
                <a:spcPts val="0"/>
              </a:spcAft>
              <a:buSzPts val="2400"/>
              <a:buChar char="●"/>
            </a:pPr>
            <a:r>
              <a:rPr lang="pt-BR" sz="2400"/>
              <a:t>Devs têm autonomia para dizer que não vão conseguir implementar tudo que o PO quer em um único sprint</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Voltando ao Planejamento do Sprint</a:t>
            </a:r>
            <a:endParaRPr/>
          </a:p>
        </p:txBody>
      </p:sp>
      <p:sp>
        <p:nvSpPr>
          <p:cNvPr id="491" name="Google Shape;491;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492" name="Google Shape;492;p67"/>
          <p:cNvSpPr txBox="1"/>
          <p:nvPr>
            <p:ph idx="1" type="body"/>
          </p:nvPr>
        </p:nvSpPr>
        <p:spPr>
          <a:xfrm>
            <a:off x="311700" y="10000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1a parte da reunião: </a:t>
            </a:r>
            <a:endParaRPr sz="2400"/>
          </a:p>
          <a:p>
            <a:pPr indent="-381000" lvl="1" marL="914400" rtl="0" algn="l">
              <a:lnSpc>
                <a:spcPct val="114000"/>
              </a:lnSpc>
              <a:spcBef>
                <a:spcPts val="1000"/>
              </a:spcBef>
              <a:spcAft>
                <a:spcPts val="0"/>
              </a:spcAft>
              <a:buSzPts val="2400"/>
              <a:buChar char="○"/>
            </a:pPr>
            <a:r>
              <a:rPr lang="pt-BR" sz="2400"/>
              <a:t>Definem-se as histórias do sprint</a:t>
            </a:r>
            <a:endParaRPr sz="2400"/>
          </a:p>
          <a:p>
            <a:pPr indent="-381000" lvl="0" marL="457200" rtl="0" algn="l">
              <a:lnSpc>
                <a:spcPct val="114000"/>
              </a:lnSpc>
              <a:spcBef>
                <a:spcPts val="1000"/>
              </a:spcBef>
              <a:spcAft>
                <a:spcPts val="0"/>
              </a:spcAft>
              <a:buSzPts val="2400"/>
              <a:buChar char="●"/>
            </a:pPr>
            <a:r>
              <a:rPr lang="pt-BR" sz="2400"/>
              <a:t>2a parte da reunião:</a:t>
            </a:r>
            <a:endParaRPr sz="2400"/>
          </a:p>
          <a:p>
            <a:pPr indent="-381000" lvl="1" marL="914400" rtl="0" algn="l">
              <a:lnSpc>
                <a:spcPct val="114000"/>
              </a:lnSpc>
              <a:spcBef>
                <a:spcPts val="1000"/>
              </a:spcBef>
              <a:spcAft>
                <a:spcPts val="0"/>
              </a:spcAft>
              <a:buSzPts val="2400"/>
              <a:buChar char="○"/>
            </a:pPr>
            <a:r>
              <a:rPr lang="pt-BR" sz="2400"/>
              <a:t>Histórias são quebradas em tarefas</a:t>
            </a:r>
            <a:endParaRPr sz="2400"/>
          </a:p>
          <a:p>
            <a:pPr indent="-381000" lvl="1" marL="914400" rtl="0" algn="l">
              <a:lnSpc>
                <a:spcPct val="114000"/>
              </a:lnSpc>
              <a:spcBef>
                <a:spcPts val="1000"/>
              </a:spcBef>
              <a:spcAft>
                <a:spcPts val="0"/>
              </a:spcAft>
              <a:buSzPts val="2400"/>
              <a:buChar char="○"/>
            </a:pPr>
            <a:r>
              <a:rPr lang="pt-BR" sz="2400"/>
              <a:t>Tarefas são alocadas a devs</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8"/>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Exemplo: fórum de perguntas e respostas</a:t>
            </a:r>
            <a:endParaRPr/>
          </a:p>
        </p:txBody>
      </p:sp>
      <p:sp>
        <p:nvSpPr>
          <p:cNvPr id="498" name="Google Shape;498;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Backlog do Produto</a:t>
            </a:r>
            <a:endParaRPr/>
          </a:p>
        </p:txBody>
      </p:sp>
      <p:sp>
        <p:nvSpPr>
          <p:cNvPr id="504" name="Google Shape;504;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505" name="Google Shape;505;p69"/>
          <p:cNvPicPr preferRelativeResize="0"/>
          <p:nvPr/>
        </p:nvPicPr>
        <p:blipFill>
          <a:blip r:embed="rId3">
            <a:alphaModFix/>
          </a:blip>
          <a:stretch>
            <a:fillRect/>
          </a:stretch>
        </p:blipFill>
        <p:spPr>
          <a:xfrm>
            <a:off x="101501" y="1132450"/>
            <a:ext cx="2774150" cy="2139300"/>
          </a:xfrm>
          <a:prstGeom prst="rect">
            <a:avLst/>
          </a:prstGeom>
          <a:noFill/>
          <a:ln cap="flat" cmpd="sng" w="9525">
            <a:solidFill>
              <a:schemeClr val="dk2"/>
            </a:solidFill>
            <a:prstDash val="solid"/>
            <a:round/>
            <a:headEnd len="sm" w="sm" type="none"/>
            <a:tailEnd len="sm" w="sm" type="none"/>
          </a:ln>
        </p:spPr>
      </p:pic>
      <p:pic>
        <p:nvPicPr>
          <p:cNvPr id="506" name="Google Shape;506;p69"/>
          <p:cNvPicPr preferRelativeResize="0"/>
          <p:nvPr/>
        </p:nvPicPr>
        <p:blipFill>
          <a:blip r:embed="rId4">
            <a:alphaModFix/>
          </a:blip>
          <a:stretch>
            <a:fillRect/>
          </a:stretch>
        </p:blipFill>
        <p:spPr>
          <a:xfrm>
            <a:off x="3139776" y="1132450"/>
            <a:ext cx="2774150" cy="2165402"/>
          </a:xfrm>
          <a:prstGeom prst="rect">
            <a:avLst/>
          </a:prstGeom>
          <a:noFill/>
          <a:ln cap="flat" cmpd="sng" w="9525">
            <a:solidFill>
              <a:schemeClr val="dk2"/>
            </a:solidFill>
            <a:prstDash val="solid"/>
            <a:round/>
            <a:headEnd len="sm" w="sm" type="none"/>
            <a:tailEnd len="sm" w="sm" type="none"/>
          </a:ln>
        </p:spPr>
      </p:pic>
      <p:pic>
        <p:nvPicPr>
          <p:cNvPr id="507" name="Google Shape;507;p69"/>
          <p:cNvPicPr preferRelativeResize="0"/>
          <p:nvPr/>
        </p:nvPicPr>
        <p:blipFill>
          <a:blip r:embed="rId5">
            <a:alphaModFix/>
          </a:blip>
          <a:stretch>
            <a:fillRect/>
          </a:stretch>
        </p:blipFill>
        <p:spPr>
          <a:xfrm>
            <a:off x="6142525" y="1132450"/>
            <a:ext cx="2815908" cy="21654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Histórias do Sprint</a:t>
            </a:r>
            <a:endParaRPr/>
          </a:p>
        </p:txBody>
      </p:sp>
      <p:sp>
        <p:nvSpPr>
          <p:cNvPr id="513" name="Google Shape;513;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514" name="Google Shape;514;p70"/>
          <p:cNvPicPr preferRelativeResize="0"/>
          <p:nvPr/>
        </p:nvPicPr>
        <p:blipFill>
          <a:blip r:embed="rId3">
            <a:alphaModFix/>
          </a:blip>
          <a:stretch>
            <a:fillRect/>
          </a:stretch>
        </p:blipFill>
        <p:spPr>
          <a:xfrm>
            <a:off x="899626" y="1274500"/>
            <a:ext cx="2774150" cy="21393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Backlog do Sprint</a:t>
            </a:r>
            <a:endParaRPr/>
          </a:p>
        </p:txBody>
      </p:sp>
      <p:sp>
        <p:nvSpPr>
          <p:cNvPr id="520" name="Google Shape;520;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21" name="Google Shape;521;p71"/>
          <p:cNvSpPr txBox="1"/>
          <p:nvPr>
            <p:ph idx="1" type="body"/>
          </p:nvPr>
        </p:nvSpPr>
        <p:spPr>
          <a:xfrm>
            <a:off x="311700" y="923875"/>
            <a:ext cx="8520600" cy="6498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Lista de tarefas do sprint (com responsáveis e duração)</a:t>
            </a:r>
            <a:endParaRPr sz="2400"/>
          </a:p>
          <a:p>
            <a:pPr indent="0" lvl="0" marL="0" rtl="0" algn="l">
              <a:lnSpc>
                <a:spcPct val="114000"/>
              </a:lnSpc>
              <a:spcBef>
                <a:spcPts val="1000"/>
              </a:spcBef>
              <a:spcAft>
                <a:spcPts val="1000"/>
              </a:spcAft>
              <a:buNone/>
            </a:pPr>
            <a:r>
              <a:t/>
            </a:r>
            <a:endParaRPr sz="2400"/>
          </a:p>
        </p:txBody>
      </p:sp>
      <p:pic>
        <p:nvPicPr>
          <p:cNvPr id="522" name="Google Shape;522;p71"/>
          <p:cNvPicPr preferRelativeResize="0"/>
          <p:nvPr/>
        </p:nvPicPr>
        <p:blipFill>
          <a:blip r:embed="rId3">
            <a:alphaModFix/>
          </a:blip>
          <a:stretch>
            <a:fillRect/>
          </a:stretch>
        </p:blipFill>
        <p:spPr>
          <a:xfrm>
            <a:off x="436651" y="1909425"/>
            <a:ext cx="2781573" cy="2044500"/>
          </a:xfrm>
          <a:prstGeom prst="rect">
            <a:avLst/>
          </a:prstGeom>
          <a:noFill/>
          <a:ln>
            <a:noFill/>
          </a:ln>
        </p:spPr>
      </p:pic>
      <p:pic>
        <p:nvPicPr>
          <p:cNvPr id="523" name="Google Shape;523;p71"/>
          <p:cNvPicPr preferRelativeResize="0"/>
          <p:nvPr/>
        </p:nvPicPr>
        <p:blipFill>
          <a:blip r:embed="rId4">
            <a:alphaModFix/>
          </a:blip>
          <a:stretch>
            <a:fillRect/>
          </a:stretch>
        </p:blipFill>
        <p:spPr>
          <a:xfrm>
            <a:off x="3370625" y="1896775"/>
            <a:ext cx="2825446" cy="2044500"/>
          </a:xfrm>
          <a:prstGeom prst="rect">
            <a:avLst/>
          </a:prstGeom>
          <a:noFill/>
          <a:ln>
            <a:noFill/>
          </a:ln>
        </p:spPr>
      </p:pic>
      <p:pic>
        <p:nvPicPr>
          <p:cNvPr id="524" name="Google Shape;524;p71"/>
          <p:cNvPicPr preferRelativeResize="0"/>
          <p:nvPr/>
        </p:nvPicPr>
        <p:blipFill>
          <a:blip r:embed="rId5">
            <a:alphaModFix/>
          </a:blip>
          <a:stretch>
            <a:fillRect/>
          </a:stretch>
        </p:blipFill>
        <p:spPr>
          <a:xfrm>
            <a:off x="6348471" y="1896775"/>
            <a:ext cx="2643129" cy="202313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2"/>
          <p:cNvSpPr txBox="1"/>
          <p:nvPr>
            <p:ph type="title"/>
          </p:nvPr>
        </p:nvSpPr>
        <p:spPr>
          <a:xfrm>
            <a:off x="311700" y="16642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000">
                <a:solidFill>
                  <a:schemeClr val="dk2"/>
                </a:solidFill>
              </a:rPr>
              <a:t>Sprint está pronto para começar!</a:t>
            </a:r>
            <a:endParaRPr sz="3000"/>
          </a:p>
        </p:txBody>
      </p:sp>
      <p:sp>
        <p:nvSpPr>
          <p:cNvPr id="530" name="Google Shape;530;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3"/>
          <p:cNvSpPr txBox="1"/>
          <p:nvPr>
            <p:ph type="title"/>
          </p:nvPr>
        </p:nvSpPr>
        <p:spPr>
          <a:xfrm>
            <a:off x="311700" y="16642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000">
                <a:solidFill>
                  <a:schemeClr val="dk2"/>
                </a:solidFill>
              </a:rPr>
              <a:t>Times e Papéis de Scrum</a:t>
            </a:r>
            <a:endParaRPr sz="3000"/>
          </a:p>
        </p:txBody>
      </p:sp>
      <p:sp>
        <p:nvSpPr>
          <p:cNvPr id="536" name="Google Shape;536;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Times Scrum </a:t>
            </a:r>
            <a:endParaRPr/>
          </a:p>
        </p:txBody>
      </p:sp>
      <p:sp>
        <p:nvSpPr>
          <p:cNvPr id="542" name="Google Shape;542;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43" name="Google Shape;543;p74"/>
          <p:cNvSpPr txBox="1"/>
          <p:nvPr>
            <p:ph idx="1" type="body"/>
          </p:nvPr>
        </p:nvSpPr>
        <p:spPr>
          <a:xfrm>
            <a:off x="311700" y="923875"/>
            <a:ext cx="86400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Pequenos (time de basquete a um time de futebol)</a:t>
            </a:r>
            <a:endParaRPr sz="2400"/>
          </a:p>
          <a:p>
            <a:pPr indent="-381000" lvl="0" marL="457200" marR="0" rtl="0" algn="l">
              <a:lnSpc>
                <a:spcPct val="114000"/>
              </a:lnSpc>
              <a:spcBef>
                <a:spcPts val="1000"/>
              </a:spcBef>
              <a:spcAft>
                <a:spcPts val="1000"/>
              </a:spcAft>
              <a:buSzPts val="2400"/>
              <a:buChar char="●"/>
            </a:pPr>
            <a:r>
              <a:rPr lang="pt-BR" sz="2400"/>
              <a:t>5 a 11 membros, sendo 1 PO e 1 Scrum Master</a:t>
            </a:r>
            <a:endParaRPr sz="2400"/>
          </a:p>
        </p:txBody>
      </p:sp>
      <p:pic>
        <p:nvPicPr>
          <p:cNvPr id="544" name="Google Shape;544;p74"/>
          <p:cNvPicPr preferRelativeResize="0"/>
          <p:nvPr/>
        </p:nvPicPr>
        <p:blipFill>
          <a:blip r:embed="rId3">
            <a:alphaModFix/>
          </a:blip>
          <a:stretch>
            <a:fillRect/>
          </a:stretch>
        </p:blipFill>
        <p:spPr>
          <a:xfrm>
            <a:off x="900063" y="2576225"/>
            <a:ext cx="2771877" cy="1682449"/>
          </a:xfrm>
          <a:prstGeom prst="rect">
            <a:avLst/>
          </a:prstGeom>
          <a:noFill/>
          <a:ln>
            <a:noFill/>
          </a:ln>
        </p:spPr>
      </p:pic>
      <p:pic>
        <p:nvPicPr>
          <p:cNvPr id="545" name="Google Shape;545;p74"/>
          <p:cNvPicPr preferRelativeResize="0"/>
          <p:nvPr/>
        </p:nvPicPr>
        <p:blipFill>
          <a:blip r:embed="rId4">
            <a:alphaModFix/>
          </a:blip>
          <a:stretch>
            <a:fillRect/>
          </a:stretch>
        </p:blipFill>
        <p:spPr>
          <a:xfrm>
            <a:off x="5404225" y="2506675"/>
            <a:ext cx="3114700" cy="17520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Times Scrum </a:t>
            </a:r>
            <a:endParaRPr/>
          </a:p>
        </p:txBody>
      </p:sp>
      <p:sp>
        <p:nvSpPr>
          <p:cNvPr id="551" name="Google Shape;551;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52" name="Google Shape;552;p75"/>
          <p:cNvSpPr txBox="1"/>
          <p:nvPr>
            <p:ph idx="1" type="body"/>
          </p:nvPr>
        </p:nvSpPr>
        <p:spPr>
          <a:xfrm>
            <a:off x="311700" y="923875"/>
            <a:ext cx="86400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Multidisciplinares: devs, designers, cientistas de dados, etc</a:t>
            </a:r>
            <a:endParaRPr sz="2400"/>
          </a:p>
          <a:p>
            <a:pPr indent="-381000" lvl="0" marL="457200" marR="0" rtl="0" algn="l">
              <a:lnSpc>
                <a:spcPct val="114000"/>
              </a:lnSpc>
              <a:spcBef>
                <a:spcPts val="1000"/>
              </a:spcBef>
              <a:spcAft>
                <a:spcPts val="0"/>
              </a:spcAft>
              <a:buSzPts val="2400"/>
              <a:buChar char="●"/>
            </a:pPr>
            <a:r>
              <a:rPr lang="pt-BR" sz="2400"/>
              <a:t>Times ágeis são chamados, com frequência, de squads</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Scrum Master</a:t>
            </a:r>
            <a:endParaRPr/>
          </a:p>
        </p:txBody>
      </p:sp>
      <p:sp>
        <p:nvSpPr>
          <p:cNvPr id="558" name="Google Shape;558;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59" name="Google Shape;559;p76"/>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Especialista em Scrum: ajuda o time a adotar Scrum</a:t>
            </a:r>
            <a:endParaRPr sz="2400"/>
          </a:p>
          <a:p>
            <a:pPr indent="-381000" lvl="0" marL="457200" marR="0" rtl="0" algn="l">
              <a:lnSpc>
                <a:spcPct val="114000"/>
              </a:lnSpc>
              <a:spcBef>
                <a:spcPts val="1000"/>
              </a:spcBef>
              <a:spcAft>
                <a:spcPts val="0"/>
              </a:spcAft>
              <a:buSzPts val="2400"/>
              <a:buChar char="●"/>
            </a:pPr>
            <a:r>
              <a:rPr lang="pt-BR" sz="2400"/>
              <a:t>Removedor de impedimentos não-técnicos</a:t>
            </a:r>
            <a:endParaRPr sz="2400"/>
          </a:p>
          <a:p>
            <a:pPr indent="-381000" lvl="1" marL="914400" marR="0" rtl="0" algn="l">
              <a:lnSpc>
                <a:spcPct val="114000"/>
              </a:lnSpc>
              <a:spcBef>
                <a:spcPts val="1000"/>
              </a:spcBef>
              <a:spcAft>
                <a:spcPts val="0"/>
              </a:spcAft>
              <a:buSzPts val="2400"/>
              <a:buChar char="○"/>
            </a:pPr>
            <a:r>
              <a:rPr lang="pt-BR" sz="2400"/>
              <a:t>Exemplo: desenvolvedores não têm máquinas boas</a:t>
            </a:r>
            <a:endParaRPr sz="2400"/>
          </a:p>
          <a:p>
            <a:pPr indent="-381000" lvl="0" marL="457200" marR="0" rtl="0" algn="l">
              <a:lnSpc>
                <a:spcPct val="114000"/>
              </a:lnSpc>
              <a:spcBef>
                <a:spcPts val="1000"/>
              </a:spcBef>
              <a:spcAft>
                <a:spcPts val="0"/>
              </a:spcAft>
              <a:buSzPts val="2400"/>
              <a:buChar char="●"/>
            </a:pPr>
            <a:r>
              <a:rPr lang="pt-BR" sz="2400"/>
              <a:t>Coletar métricas de processo</a:t>
            </a:r>
            <a:endParaRPr sz="2400"/>
          </a:p>
          <a:p>
            <a:pPr indent="-381000" lvl="0" marL="457200" marR="0" rtl="0" algn="l">
              <a:lnSpc>
                <a:spcPct val="114000"/>
              </a:lnSpc>
              <a:spcBef>
                <a:spcPts val="1000"/>
              </a:spcBef>
              <a:spcAft>
                <a:spcPts val="0"/>
              </a:spcAft>
              <a:buSzPts val="2400"/>
              <a:buChar char="●"/>
            </a:pPr>
            <a:r>
              <a:rPr lang="pt-BR" sz="2400"/>
              <a:t>Não é o chefe do time, mas um “líder servidor”</a:t>
            </a:r>
            <a:endParaRPr sz="2400"/>
          </a:p>
          <a:p>
            <a:pPr indent="-381000" lvl="0" marL="457200" marR="0" rtl="0" algn="l">
              <a:lnSpc>
                <a:spcPct val="114000"/>
              </a:lnSpc>
              <a:spcBef>
                <a:spcPts val="1000"/>
              </a:spcBef>
              <a:spcAft>
                <a:spcPts val="0"/>
              </a:spcAft>
              <a:buSzPts val="2400"/>
              <a:buChar char="●"/>
            </a:pPr>
            <a:r>
              <a:rPr lang="pt-BR" sz="2400"/>
              <a:t>Pode pertencer a mais de um time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7"/>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000">
                <a:solidFill>
                  <a:schemeClr val="dk2"/>
                </a:solidFill>
              </a:rPr>
              <a:t>Mais alguns eventos</a:t>
            </a:r>
            <a:endParaRPr sz="3000">
              <a:solidFill>
                <a:srgbClr val="FF0000"/>
              </a:solidFill>
            </a:endParaRPr>
          </a:p>
        </p:txBody>
      </p:sp>
      <p:sp>
        <p:nvSpPr>
          <p:cNvPr id="565" name="Google Shape;565;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8"/>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Reuniões Diárias</a:t>
            </a:r>
            <a:endParaRPr/>
          </a:p>
        </p:txBody>
      </p:sp>
      <p:sp>
        <p:nvSpPr>
          <p:cNvPr id="571" name="Google Shape;571;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72" name="Google Shape;572;p78"/>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15 minutos de duração. Cada participante diz:</a:t>
            </a:r>
            <a:endParaRPr sz="2400"/>
          </a:p>
          <a:p>
            <a:pPr indent="-381000" lvl="1" marL="914400" marR="0" rtl="0" algn="l">
              <a:lnSpc>
                <a:spcPct val="114000"/>
              </a:lnSpc>
              <a:spcBef>
                <a:spcPts val="1000"/>
              </a:spcBef>
              <a:spcAft>
                <a:spcPts val="0"/>
              </a:spcAft>
              <a:buSzPts val="2400"/>
              <a:buChar char="○"/>
            </a:pPr>
            <a:r>
              <a:rPr lang="pt-BR" sz="2400"/>
              <a:t>o que ele fez ontem</a:t>
            </a:r>
            <a:endParaRPr sz="2400"/>
          </a:p>
          <a:p>
            <a:pPr indent="-381000" lvl="1" marL="914400" marR="0" rtl="0" algn="l">
              <a:lnSpc>
                <a:spcPct val="114000"/>
              </a:lnSpc>
              <a:spcBef>
                <a:spcPts val="1000"/>
              </a:spcBef>
              <a:spcAft>
                <a:spcPts val="0"/>
              </a:spcAft>
              <a:buSzPts val="2400"/>
              <a:buChar char="○"/>
            </a:pPr>
            <a:r>
              <a:rPr lang="pt-BR" sz="2400"/>
              <a:t>o que pretende fazer hoje</a:t>
            </a:r>
            <a:endParaRPr sz="2400"/>
          </a:p>
          <a:p>
            <a:pPr indent="-381000" lvl="1" marL="914400" marR="0" rtl="0" algn="l">
              <a:lnSpc>
                <a:spcPct val="114000"/>
              </a:lnSpc>
              <a:spcBef>
                <a:spcPts val="1000"/>
              </a:spcBef>
              <a:spcAft>
                <a:spcPts val="0"/>
              </a:spcAft>
              <a:buSzPts val="2400"/>
              <a:buChar char="○"/>
            </a:pPr>
            <a:r>
              <a:rPr lang="pt-BR" sz="2400"/>
              <a:t>e se está tendo alguma dificuldade</a:t>
            </a:r>
            <a:endParaRPr sz="2400"/>
          </a:p>
          <a:p>
            <a:pPr indent="-381000" lvl="0" marL="457200" marR="0" rtl="0" algn="l">
              <a:lnSpc>
                <a:spcPct val="114000"/>
              </a:lnSpc>
              <a:spcBef>
                <a:spcPts val="1000"/>
              </a:spcBef>
              <a:spcAft>
                <a:spcPts val="0"/>
              </a:spcAft>
              <a:buSzPts val="2400"/>
              <a:buChar char="●"/>
            </a:pPr>
            <a:r>
              <a:rPr lang="pt-BR" sz="2400"/>
              <a:t>Objetivos</a:t>
            </a:r>
            <a:r>
              <a:rPr lang="pt-BR" sz="2400"/>
              <a:t>:</a:t>
            </a:r>
            <a:endParaRPr sz="2400"/>
          </a:p>
          <a:p>
            <a:pPr indent="-381000" lvl="1" marL="914400" marR="0" rtl="0" algn="l">
              <a:lnSpc>
                <a:spcPct val="114000"/>
              </a:lnSpc>
              <a:spcBef>
                <a:spcPts val="1000"/>
              </a:spcBef>
              <a:spcAft>
                <a:spcPts val="0"/>
              </a:spcAft>
              <a:buSzPts val="2400"/>
              <a:buChar char="○"/>
            </a:pPr>
            <a:r>
              <a:rPr lang="pt-BR" sz="2400"/>
              <a:t>M</a:t>
            </a:r>
            <a:r>
              <a:rPr lang="pt-BR" sz="2400"/>
              <a:t>elhorar comunicação</a:t>
            </a:r>
            <a:endParaRPr sz="2400"/>
          </a:p>
          <a:p>
            <a:pPr indent="-381000" lvl="1" marL="914400" marR="0" rtl="0" algn="l">
              <a:lnSpc>
                <a:spcPct val="114000"/>
              </a:lnSpc>
              <a:spcBef>
                <a:spcPts val="1000"/>
              </a:spcBef>
              <a:spcAft>
                <a:spcPts val="0"/>
              </a:spcAft>
              <a:buSzPts val="2400"/>
              <a:buChar char="○"/>
            </a:pPr>
            <a:r>
              <a:rPr lang="pt-BR" sz="2400"/>
              <a:t>Antecipar problemas</a:t>
            </a:r>
            <a:endParaRPr sz="2400"/>
          </a:p>
          <a:p>
            <a:pPr indent="0" lvl="0" marL="0" rtl="0" algn="l">
              <a:lnSpc>
                <a:spcPct val="114000"/>
              </a:lnSpc>
              <a:spcBef>
                <a:spcPts val="1000"/>
              </a:spcBef>
              <a:spcAft>
                <a:spcPts val="1000"/>
              </a:spcAft>
              <a:buNone/>
            </a:pPr>
            <a:r>
              <a:t/>
            </a:r>
            <a:endParaRPr sz="2400"/>
          </a:p>
        </p:txBody>
      </p:sp>
      <p:sp>
        <p:nvSpPr>
          <p:cNvPr id="573" name="Google Shape;573;p78"/>
          <p:cNvSpPr/>
          <p:nvPr/>
        </p:nvSpPr>
        <p:spPr>
          <a:xfrm>
            <a:off x="6913975" y="179400"/>
            <a:ext cx="1989900" cy="820500"/>
          </a:xfrm>
          <a:prstGeom prst="wedgeRoundRectCallout">
            <a:avLst>
              <a:gd fmla="val -20833" name="adj1"/>
              <a:gd fmla="val 62500" name="adj2"/>
              <a:gd fmla="val 0" name="adj3"/>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sz="1300">
                <a:solidFill>
                  <a:schemeClr val="dk2"/>
                </a:solidFill>
              </a:rPr>
              <a:t>Os eventos Scrum são às vezes chamados, por alguns times, de </a:t>
            </a:r>
            <a:r>
              <a:rPr b="1" lang="pt-BR" sz="1300">
                <a:solidFill>
                  <a:schemeClr val="dk2"/>
                </a:solidFill>
              </a:rPr>
              <a:t>rituais.</a:t>
            </a:r>
            <a:endParaRPr sz="9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79"/>
          <p:cNvSpPr txBox="1"/>
          <p:nvPr>
            <p:ph type="title"/>
          </p:nvPr>
        </p:nvSpPr>
        <p:spPr>
          <a:xfrm>
            <a:off x="311700" y="1511825"/>
            <a:ext cx="8520600" cy="5727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pt-BR" sz="3000">
                <a:solidFill>
                  <a:schemeClr val="dk2"/>
                </a:solidFill>
              </a:rPr>
              <a:t>Sprint termina com dois eventos: </a:t>
            </a:r>
            <a:endParaRPr sz="3000">
              <a:solidFill>
                <a:schemeClr val="dk2"/>
              </a:solidFill>
            </a:endParaRPr>
          </a:p>
          <a:p>
            <a:pPr indent="0" lvl="0" marL="0" rtl="0" algn="ctr">
              <a:lnSpc>
                <a:spcPct val="150000"/>
              </a:lnSpc>
              <a:spcBef>
                <a:spcPts val="0"/>
              </a:spcBef>
              <a:spcAft>
                <a:spcPts val="0"/>
              </a:spcAft>
              <a:buNone/>
            </a:pPr>
            <a:r>
              <a:rPr lang="pt-BR" sz="3000">
                <a:solidFill>
                  <a:schemeClr val="dk2"/>
                </a:solidFill>
              </a:rPr>
              <a:t>Review e Retrospectiva</a:t>
            </a:r>
            <a:endParaRPr>
              <a:solidFill>
                <a:srgbClr val="FF0000"/>
              </a:solidFill>
            </a:endParaRPr>
          </a:p>
        </p:txBody>
      </p:sp>
      <p:sp>
        <p:nvSpPr>
          <p:cNvPr id="579" name="Google Shape;579;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Revisão do Sprint</a:t>
            </a:r>
            <a:endParaRPr/>
          </a:p>
        </p:txBody>
      </p:sp>
      <p:sp>
        <p:nvSpPr>
          <p:cNvPr id="585" name="Google Shape;585;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86" name="Google Shape;586;p80"/>
          <p:cNvSpPr txBox="1"/>
          <p:nvPr>
            <p:ph idx="1" type="body"/>
          </p:nvPr>
        </p:nvSpPr>
        <p:spPr>
          <a:xfrm>
            <a:off x="311700" y="10000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Time mostra o resultado do sprint para PO e stakeholders</a:t>
            </a:r>
            <a:endParaRPr sz="2400"/>
          </a:p>
          <a:p>
            <a:pPr indent="-381000" lvl="0" marL="457200" marR="0" rtl="0" algn="l">
              <a:lnSpc>
                <a:spcPct val="114000"/>
              </a:lnSpc>
              <a:spcBef>
                <a:spcPts val="1000"/>
              </a:spcBef>
              <a:spcAft>
                <a:spcPts val="0"/>
              </a:spcAft>
              <a:buSzPts val="2400"/>
              <a:buChar char="●"/>
            </a:pPr>
            <a:r>
              <a:rPr lang="pt-BR" sz="2400"/>
              <a:t>Implementação das histórias pode ser:</a:t>
            </a:r>
            <a:endParaRPr sz="2400"/>
          </a:p>
          <a:p>
            <a:pPr indent="-381000" lvl="1" marL="914400" marR="0" rtl="0" algn="l">
              <a:lnSpc>
                <a:spcPct val="114000"/>
              </a:lnSpc>
              <a:spcBef>
                <a:spcPts val="1000"/>
              </a:spcBef>
              <a:spcAft>
                <a:spcPts val="0"/>
              </a:spcAft>
              <a:buSzPts val="2400"/>
              <a:buChar char="○"/>
            </a:pPr>
            <a:r>
              <a:rPr lang="pt-BR" sz="2400"/>
              <a:t>Aprovada</a:t>
            </a:r>
            <a:endParaRPr sz="2400"/>
          </a:p>
          <a:p>
            <a:pPr indent="-381000" lvl="1" marL="914400" marR="0" rtl="0" algn="l">
              <a:lnSpc>
                <a:spcPct val="114000"/>
              </a:lnSpc>
              <a:spcBef>
                <a:spcPts val="1000"/>
              </a:spcBef>
              <a:spcAft>
                <a:spcPts val="0"/>
              </a:spcAft>
              <a:buSzPts val="2400"/>
              <a:buChar char="○"/>
            </a:pPr>
            <a:r>
              <a:rPr lang="pt-BR" sz="2400"/>
              <a:t>Aprovada parcialmente</a:t>
            </a:r>
            <a:endParaRPr sz="2400"/>
          </a:p>
          <a:p>
            <a:pPr indent="-381000" lvl="1" marL="914400" marR="0" rtl="0" algn="l">
              <a:lnSpc>
                <a:spcPct val="114000"/>
              </a:lnSpc>
              <a:spcBef>
                <a:spcPts val="1000"/>
              </a:spcBef>
              <a:spcAft>
                <a:spcPts val="0"/>
              </a:spcAft>
              <a:buSzPts val="2400"/>
              <a:buChar char="○"/>
            </a:pPr>
            <a:r>
              <a:rPr lang="pt-BR" sz="2400"/>
              <a:t>Reprovada</a:t>
            </a:r>
            <a:endParaRPr sz="2400"/>
          </a:p>
          <a:p>
            <a:pPr indent="-381000" lvl="0" marL="457200" marR="0" rtl="0" algn="l">
              <a:lnSpc>
                <a:spcPct val="114000"/>
              </a:lnSpc>
              <a:spcBef>
                <a:spcPts val="1000"/>
              </a:spcBef>
              <a:spcAft>
                <a:spcPts val="0"/>
              </a:spcAft>
              <a:buSzPts val="2400"/>
              <a:buChar char="●"/>
            </a:pPr>
            <a:r>
              <a:rPr lang="pt-BR" sz="2400"/>
              <a:t>Nos dois últimos casos, história volta para o backlog do produto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8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Retrospectiva</a:t>
            </a:r>
            <a:endParaRPr/>
          </a:p>
        </p:txBody>
      </p:sp>
      <p:sp>
        <p:nvSpPr>
          <p:cNvPr id="592" name="Google Shape;592;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593" name="Google Shape;593;p81"/>
          <p:cNvSpPr txBox="1"/>
          <p:nvPr>
            <p:ph idx="1" type="body"/>
          </p:nvPr>
        </p:nvSpPr>
        <p:spPr>
          <a:xfrm>
            <a:off x="311700" y="10000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Último evento do sprint</a:t>
            </a:r>
            <a:endParaRPr sz="2400"/>
          </a:p>
          <a:p>
            <a:pPr indent="-381000" lvl="0" marL="457200" marR="0" rtl="0" algn="l">
              <a:lnSpc>
                <a:spcPct val="114000"/>
              </a:lnSpc>
              <a:spcBef>
                <a:spcPts val="1000"/>
              </a:spcBef>
              <a:spcAft>
                <a:spcPts val="0"/>
              </a:spcAft>
              <a:buSzPts val="2400"/>
              <a:buChar char="●"/>
            </a:pPr>
            <a:r>
              <a:rPr lang="pt-BR" sz="2400"/>
              <a:t>Time se reúne para decidir o que melhorar</a:t>
            </a:r>
            <a:endParaRPr sz="2400"/>
          </a:p>
          <a:p>
            <a:pPr indent="-381000" lvl="1" marL="914400" marR="0" rtl="0" algn="l">
              <a:lnSpc>
                <a:spcPct val="114000"/>
              </a:lnSpc>
              <a:spcBef>
                <a:spcPts val="1000"/>
              </a:spcBef>
              <a:spcAft>
                <a:spcPts val="0"/>
              </a:spcAft>
              <a:buSzPts val="2400"/>
              <a:buChar char="○"/>
            </a:pPr>
            <a:r>
              <a:rPr lang="pt-BR" sz="2400"/>
              <a:t>O que deu certo?</a:t>
            </a:r>
            <a:endParaRPr sz="2400"/>
          </a:p>
          <a:p>
            <a:pPr indent="-381000" lvl="1" marL="914400" marR="0" rtl="0" algn="l">
              <a:lnSpc>
                <a:spcPct val="114000"/>
              </a:lnSpc>
              <a:spcBef>
                <a:spcPts val="1000"/>
              </a:spcBef>
              <a:spcAft>
                <a:spcPts val="0"/>
              </a:spcAft>
              <a:buSzPts val="2400"/>
              <a:buChar char="○"/>
            </a:pPr>
            <a:r>
              <a:rPr lang="pt-BR" sz="2400"/>
              <a:t>Onde precisamos melhorar?</a:t>
            </a:r>
            <a:endParaRPr sz="2400"/>
          </a:p>
          <a:p>
            <a:pPr indent="-381000" lvl="0" marL="457200" marR="0" rtl="0" algn="l">
              <a:lnSpc>
                <a:spcPct val="114000"/>
              </a:lnSpc>
              <a:spcBef>
                <a:spcPts val="1000"/>
              </a:spcBef>
              <a:spcAft>
                <a:spcPts val="0"/>
              </a:spcAft>
              <a:buSzPts val="2400"/>
              <a:buChar char="●"/>
            </a:pPr>
            <a:r>
              <a:rPr lang="pt-BR" sz="2400"/>
              <a:t>Modelo mental: melhorias constantes</a:t>
            </a:r>
            <a:endParaRPr sz="2400"/>
          </a:p>
          <a:p>
            <a:pPr indent="-381000" lvl="0" marL="457200" marR="0" rtl="0" algn="l">
              <a:lnSpc>
                <a:spcPct val="114000"/>
              </a:lnSpc>
              <a:spcBef>
                <a:spcPts val="1000"/>
              </a:spcBef>
              <a:spcAft>
                <a:spcPts val="0"/>
              </a:spcAft>
              <a:buSzPts val="2400"/>
              <a:buChar char="●"/>
            </a:pPr>
            <a:r>
              <a:rPr lang="pt-BR" sz="2400"/>
              <a:t>Não é para "lavar a roupa suja"</a:t>
            </a:r>
            <a:endParaRPr sz="2400"/>
          </a:p>
          <a:p>
            <a:pPr indent="0" lvl="0" marL="457200" marR="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Exercícios</a:t>
            </a:r>
            <a:endParaRPr/>
          </a:p>
        </p:txBody>
      </p:sp>
      <p:sp>
        <p:nvSpPr>
          <p:cNvPr id="599" name="Google Shape;599;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00" name="Google Shape;600;p82"/>
          <p:cNvSpPr txBox="1"/>
          <p:nvPr>
            <p:ph idx="1" type="body"/>
          </p:nvPr>
        </p:nvSpPr>
        <p:spPr>
          <a:xfrm>
            <a:off x="311700" y="10000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AutoNum type="arabicPeriod"/>
            </a:pPr>
            <a:r>
              <a:rPr lang="pt-BR" sz="2400"/>
              <a:t>Por que Scrum é definido como sendo um framework?</a:t>
            </a:r>
            <a:endParaRPr sz="2400"/>
          </a:p>
          <a:p>
            <a:pPr indent="0" lvl="0" marL="457200" marR="0" rtl="0" algn="l">
              <a:lnSpc>
                <a:spcPct val="114000"/>
              </a:lnSpc>
              <a:spcBef>
                <a:spcPts val="1000"/>
              </a:spcBef>
              <a:spcAft>
                <a:spcPts val="0"/>
              </a:spcAft>
              <a:buNone/>
            </a:pPr>
            <a:r>
              <a:rPr lang="pt-BR" sz="2400"/>
              <a:t>Por exemplo, veja a definição do Scrum Guide: "</a:t>
            </a:r>
            <a:r>
              <a:rPr lang="pt-BR" sz="2400">
                <a:highlight>
                  <a:srgbClr val="FFF2CC"/>
                </a:highlight>
              </a:rPr>
              <a:t>Scrum é um framework leve</a:t>
            </a:r>
            <a:r>
              <a:rPr lang="pt-BR" sz="2400"/>
              <a:t> que ajuda pessoas, equipes e organizações a gerar valor por meio de soluções adaptativas para problemas complexos."</a:t>
            </a:r>
            <a:endParaRPr sz="2400"/>
          </a:p>
          <a:p>
            <a:pPr indent="0" lvl="0" marL="0" marR="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8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Exercícios</a:t>
            </a:r>
            <a:endParaRPr/>
          </a:p>
        </p:txBody>
      </p:sp>
      <p:sp>
        <p:nvSpPr>
          <p:cNvPr id="606" name="Google Shape;606;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07" name="Google Shape;607;p83"/>
          <p:cNvSpPr txBox="1"/>
          <p:nvPr>
            <p:ph idx="1" type="body"/>
          </p:nvPr>
        </p:nvSpPr>
        <p:spPr>
          <a:xfrm>
            <a:off x="311700" y="1000075"/>
            <a:ext cx="8781600" cy="8205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0"/>
              </a:spcAft>
              <a:buNone/>
            </a:pPr>
            <a:r>
              <a:rPr lang="pt-BR" sz="2400"/>
              <a:t>2. </a:t>
            </a:r>
            <a:endParaRPr sz="2400"/>
          </a:p>
          <a:p>
            <a:pPr indent="0" lvl="0" marL="0" marR="0" rtl="0" algn="l">
              <a:lnSpc>
                <a:spcPct val="114000"/>
              </a:lnSpc>
              <a:spcBef>
                <a:spcPts val="1000"/>
              </a:spcBef>
              <a:spcAft>
                <a:spcPts val="0"/>
              </a:spcAft>
              <a:buNone/>
            </a:pPr>
            <a:r>
              <a:rPr lang="pt-BR" sz="2400"/>
              <a:t>(a) Quais são os 2 </a:t>
            </a:r>
            <a:r>
              <a:rPr lang="pt-BR" sz="2400"/>
              <a:t>papéis</a:t>
            </a:r>
            <a:r>
              <a:rPr lang="pt-BR" sz="2400"/>
              <a:t> mandatórios em times Scrum?</a:t>
            </a:r>
            <a:endParaRPr sz="2400"/>
          </a:p>
          <a:p>
            <a:pPr indent="0" lvl="0" marL="0" marR="0" rtl="0" algn="l">
              <a:lnSpc>
                <a:spcPct val="114000"/>
              </a:lnSpc>
              <a:spcBef>
                <a:spcPts val="1000"/>
              </a:spcBef>
              <a:spcAft>
                <a:spcPts val="0"/>
              </a:spcAft>
              <a:buNone/>
            </a:pPr>
            <a:r>
              <a:rPr lang="pt-BR" sz="2400"/>
              <a:t>(b) Quais são os 4 eventos mandatórios em um sprint Scrum?</a:t>
            </a:r>
            <a:endParaRPr sz="2400"/>
          </a:p>
          <a:p>
            <a:pPr indent="0" lvl="0" marL="0" marR="0" rtl="0" algn="l">
              <a:lnSpc>
                <a:spcPct val="114000"/>
              </a:lnSpc>
              <a:spcBef>
                <a:spcPts val="1000"/>
              </a:spcBef>
              <a:spcAft>
                <a:spcPts val="0"/>
              </a:spcAft>
              <a:buNone/>
            </a:pPr>
            <a:r>
              <a:rPr lang="pt-BR" sz="2400"/>
              <a:t>(c) Quais são os 2 artefatos mandatórios em Scrum?</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84"/>
          <p:cNvSpPr txBox="1"/>
          <p:nvPr>
            <p:ph type="title"/>
          </p:nvPr>
        </p:nvSpPr>
        <p:spPr>
          <a:xfrm>
            <a:off x="311700" y="1511825"/>
            <a:ext cx="8520600" cy="5727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pt-BR" sz="3000">
                <a:solidFill>
                  <a:schemeClr val="dk2"/>
                </a:solidFill>
              </a:rPr>
              <a:t>Mais alguns conceitos de Scrum</a:t>
            </a:r>
            <a:endParaRPr>
              <a:solidFill>
                <a:srgbClr val="FF0000"/>
              </a:solidFill>
            </a:endParaRPr>
          </a:p>
        </p:txBody>
      </p:sp>
      <p:sp>
        <p:nvSpPr>
          <p:cNvPr id="613" name="Google Shape;613;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8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Time-box</a:t>
            </a:r>
            <a:endParaRPr/>
          </a:p>
        </p:txBody>
      </p:sp>
      <p:sp>
        <p:nvSpPr>
          <p:cNvPr id="619" name="Google Shape;619;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20" name="Google Shape;620;p85"/>
          <p:cNvSpPr txBox="1"/>
          <p:nvPr>
            <p:ph idx="1" type="body"/>
          </p:nvPr>
        </p:nvSpPr>
        <p:spPr>
          <a:xfrm>
            <a:off x="311700" y="1000075"/>
            <a:ext cx="8520600" cy="64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Eventos têm uma duração bem definida</a:t>
            </a:r>
            <a:endParaRPr sz="2400"/>
          </a:p>
          <a:p>
            <a:pPr indent="0" lvl="0" marL="0" marR="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pic>
        <p:nvPicPr>
          <p:cNvPr id="621" name="Google Shape;621;p85"/>
          <p:cNvPicPr preferRelativeResize="0"/>
          <p:nvPr/>
        </p:nvPicPr>
        <p:blipFill>
          <a:blip r:embed="rId3">
            <a:alphaModFix/>
          </a:blip>
          <a:stretch>
            <a:fillRect/>
          </a:stretch>
        </p:blipFill>
        <p:spPr>
          <a:xfrm>
            <a:off x="715350" y="1640575"/>
            <a:ext cx="4012650" cy="18095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27" name="Google Shape;627;p86"/>
          <p:cNvPicPr preferRelativeResize="0"/>
          <p:nvPr/>
        </p:nvPicPr>
        <p:blipFill>
          <a:blip r:embed="rId3">
            <a:alphaModFix/>
          </a:blip>
          <a:stretch>
            <a:fillRect/>
          </a:stretch>
        </p:blipFill>
        <p:spPr>
          <a:xfrm>
            <a:off x="2057400" y="152400"/>
            <a:ext cx="4838700" cy="48387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Critérios para Conclusão de Histórias (done criteria)</a:t>
            </a:r>
            <a:endParaRPr/>
          </a:p>
        </p:txBody>
      </p:sp>
      <p:sp>
        <p:nvSpPr>
          <p:cNvPr id="633" name="Google Shape;633;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34" name="Google Shape;634;p87"/>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Critérios internos para considerar histórias prontas</a:t>
            </a:r>
            <a:endParaRPr sz="2400"/>
          </a:p>
          <a:p>
            <a:pPr indent="-381000" lvl="0" marL="457200" marR="0" rtl="0" algn="l">
              <a:lnSpc>
                <a:spcPct val="114000"/>
              </a:lnSpc>
              <a:spcBef>
                <a:spcPts val="1000"/>
              </a:spcBef>
              <a:spcAft>
                <a:spcPts val="0"/>
              </a:spcAft>
              <a:buSzPts val="2400"/>
              <a:buChar char="●"/>
            </a:pPr>
            <a:r>
              <a:rPr lang="pt-BR" sz="2400"/>
              <a:t>Exemplos:</a:t>
            </a:r>
            <a:endParaRPr sz="2400"/>
          </a:p>
          <a:p>
            <a:pPr indent="-381000" lvl="1" marL="914400" rtl="0" algn="l">
              <a:lnSpc>
                <a:spcPct val="114000"/>
              </a:lnSpc>
              <a:spcBef>
                <a:spcPts val="1000"/>
              </a:spcBef>
              <a:spcAft>
                <a:spcPts val="0"/>
              </a:spcAft>
              <a:buSzPts val="2400"/>
              <a:buChar char="○"/>
            </a:pPr>
            <a:r>
              <a:rPr lang="pt-BR" sz="2400"/>
              <a:t>Testes de unidade com cobertura ≥ 75% </a:t>
            </a:r>
            <a:endParaRPr sz="2400"/>
          </a:p>
          <a:p>
            <a:pPr indent="-381000" lvl="1" marL="914400" rtl="0" algn="l">
              <a:lnSpc>
                <a:spcPct val="114000"/>
              </a:lnSpc>
              <a:spcBef>
                <a:spcPts val="1000"/>
              </a:spcBef>
              <a:spcAft>
                <a:spcPts val="0"/>
              </a:spcAft>
              <a:buSzPts val="2400"/>
              <a:buChar char="○"/>
            </a:pPr>
            <a:r>
              <a:rPr lang="pt-BR" sz="2400"/>
              <a:t>Revisão de código por outro dev do time</a:t>
            </a:r>
            <a:endParaRPr sz="2400"/>
          </a:p>
          <a:p>
            <a:pPr indent="-381000" lvl="1" marL="914400" rtl="0" algn="l">
              <a:lnSpc>
                <a:spcPct val="114000"/>
              </a:lnSpc>
              <a:spcBef>
                <a:spcPts val="1000"/>
              </a:spcBef>
              <a:spcAft>
                <a:spcPts val="0"/>
              </a:spcAft>
              <a:buSzPts val="2400"/>
              <a:buChar char="○"/>
            </a:pPr>
            <a:r>
              <a:rPr lang="pt-BR" sz="2400"/>
              <a:t>Atualizar documentação (se alguma API mudou)</a:t>
            </a:r>
            <a:endParaRPr sz="2400"/>
          </a:p>
          <a:p>
            <a:pPr indent="-381000" lvl="1" marL="914400" rtl="0" algn="l">
              <a:lnSpc>
                <a:spcPct val="114000"/>
              </a:lnSpc>
              <a:spcBef>
                <a:spcPts val="1000"/>
              </a:spcBef>
              <a:spcAft>
                <a:spcPts val="0"/>
              </a:spcAft>
              <a:buSzPts val="2400"/>
              <a:buChar char="○"/>
            </a:pPr>
            <a:r>
              <a:rPr lang="pt-BR" sz="2400"/>
              <a:t>Teste de performance (para certas histórias)</a:t>
            </a:r>
            <a:endParaRPr sz="2400"/>
          </a:p>
          <a:p>
            <a:pPr indent="0" lvl="0" marL="457200" marR="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8"/>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Scrum Board</a:t>
            </a:r>
            <a:endParaRPr/>
          </a:p>
        </p:txBody>
      </p:sp>
      <p:sp>
        <p:nvSpPr>
          <p:cNvPr id="640" name="Google Shape;640;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41" name="Google Shape;641;p88"/>
          <p:cNvPicPr preferRelativeResize="0"/>
          <p:nvPr/>
        </p:nvPicPr>
        <p:blipFill>
          <a:blip r:embed="rId3">
            <a:alphaModFix/>
          </a:blip>
          <a:stretch>
            <a:fillRect/>
          </a:stretch>
        </p:blipFill>
        <p:spPr>
          <a:xfrm>
            <a:off x="403447" y="879750"/>
            <a:ext cx="5521400" cy="28921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700"/>
              <a:t>Exemplo: projeto da Mozilla </a:t>
            </a:r>
            <a:r>
              <a:rPr lang="pt-BR" sz="2200"/>
              <a:t>(usando GitHub Projects)</a:t>
            </a:r>
            <a:endParaRPr sz="2200"/>
          </a:p>
        </p:txBody>
      </p:sp>
      <p:sp>
        <p:nvSpPr>
          <p:cNvPr id="647" name="Google Shape;647;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48" name="Google Shape;648;p89"/>
          <p:cNvPicPr preferRelativeResize="0"/>
          <p:nvPr/>
        </p:nvPicPr>
        <p:blipFill>
          <a:blip r:embed="rId3">
            <a:alphaModFix/>
          </a:blip>
          <a:stretch>
            <a:fillRect/>
          </a:stretch>
        </p:blipFill>
        <p:spPr>
          <a:xfrm>
            <a:off x="55089" y="712925"/>
            <a:ext cx="8636686" cy="42019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90"/>
          <p:cNvSpPr txBox="1"/>
          <p:nvPr>
            <p:ph type="title"/>
          </p:nvPr>
        </p:nvSpPr>
        <p:spPr>
          <a:xfrm>
            <a:off x="311700" y="1511825"/>
            <a:ext cx="8520600" cy="5727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pt-BR" sz="3100">
                <a:solidFill>
                  <a:schemeClr val="dk2"/>
                </a:solidFill>
              </a:rPr>
              <a:t>Story Points</a:t>
            </a:r>
            <a:endParaRPr sz="2900">
              <a:solidFill>
                <a:srgbClr val="FF0000"/>
              </a:solidFill>
            </a:endParaRPr>
          </a:p>
        </p:txBody>
      </p:sp>
      <p:sp>
        <p:nvSpPr>
          <p:cNvPr id="654" name="Google Shape;654;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91"/>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Story Points</a:t>
            </a:r>
            <a:endParaRPr/>
          </a:p>
        </p:txBody>
      </p:sp>
      <p:sp>
        <p:nvSpPr>
          <p:cNvPr id="660" name="Google Shape;660;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61" name="Google Shape;661;p91"/>
          <p:cNvSpPr txBox="1"/>
          <p:nvPr>
            <p:ph idx="1" type="body"/>
          </p:nvPr>
        </p:nvSpPr>
        <p:spPr>
          <a:xfrm>
            <a:off x="311700" y="7714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Usados para estimar o tamanho de histórias</a:t>
            </a:r>
            <a:endParaRPr sz="2400"/>
          </a:p>
          <a:p>
            <a:pPr indent="-381000" lvl="0" marL="457200" marR="0" rtl="0" algn="l">
              <a:lnSpc>
                <a:spcPct val="114000"/>
              </a:lnSpc>
              <a:spcBef>
                <a:spcPts val="1000"/>
              </a:spcBef>
              <a:spcAft>
                <a:spcPts val="0"/>
              </a:spcAft>
              <a:buSzPts val="2400"/>
              <a:buChar char="●"/>
            </a:pPr>
            <a:r>
              <a:rPr lang="pt-BR" sz="2400"/>
              <a:t>Ajudar a definir o que vai “caber” no sprint</a:t>
            </a:r>
            <a:endParaRPr sz="2400"/>
          </a:p>
          <a:p>
            <a:pPr indent="-381000" lvl="0" marL="457200" marR="0" rtl="0" algn="l">
              <a:lnSpc>
                <a:spcPct val="114000"/>
              </a:lnSpc>
              <a:spcBef>
                <a:spcPts val="1000"/>
              </a:spcBef>
              <a:spcAft>
                <a:spcPts val="0"/>
              </a:spcAft>
              <a:buSzPts val="2400"/>
              <a:buChar char="●"/>
            </a:pPr>
            <a:r>
              <a:rPr lang="pt-BR" sz="2400"/>
              <a:t>Uso não é obrigatório em Scrum</a:t>
            </a:r>
            <a:endParaRPr sz="2400"/>
          </a:p>
          <a:p>
            <a:pPr indent="-381000" lvl="0" marL="457200" rtl="0" algn="l">
              <a:lnSpc>
                <a:spcPct val="114000"/>
              </a:lnSpc>
              <a:spcBef>
                <a:spcPts val="1000"/>
              </a:spcBef>
              <a:spcAft>
                <a:spcPts val="0"/>
              </a:spcAft>
              <a:buSzPts val="2400"/>
              <a:buChar char="●"/>
            </a:pPr>
            <a:r>
              <a:rPr lang="pt-BR" sz="2400"/>
              <a:t>Definição de story points é empírica</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92"/>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Escala de story points</a:t>
            </a:r>
            <a:endParaRPr/>
          </a:p>
        </p:txBody>
      </p:sp>
      <p:sp>
        <p:nvSpPr>
          <p:cNvPr id="667" name="Google Shape;667;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68" name="Google Shape;668;p92"/>
          <p:cNvSpPr txBox="1"/>
          <p:nvPr>
            <p:ph idx="1" type="body"/>
          </p:nvPr>
        </p:nvSpPr>
        <p:spPr>
          <a:xfrm>
            <a:off x="311700" y="7714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Mais comum: 1, 2, 3, 5, 8, 13, …</a:t>
            </a:r>
            <a:endParaRPr sz="2400"/>
          </a:p>
          <a:p>
            <a:pPr indent="-381000" lvl="0" marL="457200" marR="0" rtl="0" algn="l">
              <a:lnSpc>
                <a:spcPct val="114000"/>
              </a:lnSpc>
              <a:spcBef>
                <a:spcPts val="1000"/>
              </a:spcBef>
              <a:spcAft>
                <a:spcPts val="0"/>
              </a:spcAft>
              <a:buSzPts val="2400"/>
              <a:buChar char="●"/>
            </a:pPr>
            <a:r>
              <a:rPr lang="pt-BR" sz="2400"/>
              <a:t>Time possui uma </a:t>
            </a:r>
            <a:r>
              <a:rPr b="1" lang="pt-BR" sz="2400"/>
              <a:t>velocidade</a:t>
            </a:r>
            <a:r>
              <a:rPr lang="pt-BR" sz="2400"/>
              <a:t>: número de story points que consegue implementar em um sprint</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3"/>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Exemplo</a:t>
            </a:r>
            <a:endParaRPr/>
          </a:p>
        </p:txBody>
      </p:sp>
      <p:sp>
        <p:nvSpPr>
          <p:cNvPr id="674" name="Google Shape;674;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75" name="Google Shape;675;p93"/>
          <p:cNvPicPr preferRelativeResize="0"/>
          <p:nvPr/>
        </p:nvPicPr>
        <p:blipFill>
          <a:blip r:embed="rId3">
            <a:alphaModFix/>
          </a:blip>
          <a:stretch>
            <a:fillRect/>
          </a:stretch>
        </p:blipFill>
        <p:spPr>
          <a:xfrm>
            <a:off x="423408" y="867375"/>
            <a:ext cx="5286375" cy="2714625"/>
          </a:xfrm>
          <a:prstGeom prst="rect">
            <a:avLst/>
          </a:prstGeom>
          <a:noFill/>
          <a:ln>
            <a:noFill/>
          </a:ln>
        </p:spPr>
      </p:pic>
      <p:sp>
        <p:nvSpPr>
          <p:cNvPr id="676" name="Google Shape;676;p93"/>
          <p:cNvSpPr/>
          <p:nvPr/>
        </p:nvSpPr>
        <p:spPr>
          <a:xfrm>
            <a:off x="5371575" y="1523125"/>
            <a:ext cx="164700" cy="1786200"/>
          </a:xfrm>
          <a:prstGeom prst="rightBrace">
            <a:avLst>
              <a:gd fmla="val 50000" name="adj1"/>
              <a:gd fmla="val 50000" name="adj2"/>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93"/>
          <p:cNvSpPr txBox="1"/>
          <p:nvPr/>
        </p:nvSpPr>
        <p:spPr>
          <a:xfrm>
            <a:off x="5713075" y="2181900"/>
            <a:ext cx="22050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700"/>
              <a:t>Definido pelos devs do time</a:t>
            </a:r>
            <a:endParaRPr sz="17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94"/>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Resumo em 1 slide</a:t>
            </a:r>
            <a:endParaRPr/>
          </a:p>
        </p:txBody>
      </p:sp>
      <p:sp>
        <p:nvSpPr>
          <p:cNvPr id="683" name="Google Shape;683;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84" name="Google Shape;684;p94"/>
          <p:cNvPicPr preferRelativeResize="0"/>
          <p:nvPr/>
        </p:nvPicPr>
        <p:blipFill>
          <a:blip r:embed="rId3">
            <a:alphaModFix/>
          </a:blip>
          <a:stretch>
            <a:fillRect/>
          </a:stretch>
        </p:blipFill>
        <p:spPr>
          <a:xfrm>
            <a:off x="609600" y="854775"/>
            <a:ext cx="8091226" cy="3427450"/>
          </a:xfrm>
          <a:prstGeom prst="rect">
            <a:avLst/>
          </a:prstGeom>
          <a:noFill/>
          <a:ln>
            <a:noFill/>
          </a:ln>
        </p:spPr>
      </p:pic>
      <p:sp>
        <p:nvSpPr>
          <p:cNvPr id="685" name="Google Shape;685;p94"/>
          <p:cNvSpPr txBox="1"/>
          <p:nvPr/>
        </p:nvSpPr>
        <p:spPr>
          <a:xfrm>
            <a:off x="1614600" y="4647750"/>
            <a:ext cx="6637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t>fonte: https://www.scrum.org/resources/scrum-framework-reduce-risk-and-deliver-value-sooner</a:t>
            </a:r>
            <a:endParaRPr sz="12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5"/>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600"/>
              <a:t>Exercícios sobre Scrum</a:t>
            </a:r>
            <a:endParaRPr sz="3600"/>
          </a:p>
        </p:txBody>
      </p:sp>
      <p:sp>
        <p:nvSpPr>
          <p:cNvPr id="691" name="Google Shape;691;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97" name="Google Shape;697;p96"/>
          <p:cNvSpPr txBox="1"/>
          <p:nvPr>
            <p:ph idx="1" type="body"/>
          </p:nvPr>
        </p:nvSpPr>
        <p:spPr>
          <a:xfrm>
            <a:off x="311700" y="161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AutoNum type="arabicPeriod"/>
            </a:pPr>
            <a:r>
              <a:rPr lang="pt-BR" sz="2400"/>
              <a:t>Qual a diferença entre as histórias do topo e do fundo do backlog do produto?</a:t>
            </a:r>
            <a:endParaRPr sz="2400"/>
          </a:p>
          <a:p>
            <a:pPr indent="-381000" lvl="0" marL="457200" rtl="0" algn="l">
              <a:lnSpc>
                <a:spcPct val="114000"/>
              </a:lnSpc>
              <a:spcBef>
                <a:spcPts val="800"/>
              </a:spcBef>
              <a:spcAft>
                <a:spcPts val="0"/>
              </a:spcAft>
              <a:buSzPts val="2400"/>
              <a:buAutoNum type="arabicPeriod"/>
            </a:pPr>
            <a:r>
              <a:rPr lang="pt-BR" sz="2400"/>
              <a:t>Suponha que você vai escrever um livro e pretende usar Scrum para gerenciar esse projeto.</a:t>
            </a:r>
            <a:endParaRPr sz="2400"/>
          </a:p>
          <a:p>
            <a:pPr indent="-381000" lvl="1" marL="914400" rtl="0" algn="l">
              <a:lnSpc>
                <a:spcPct val="114000"/>
              </a:lnSpc>
              <a:spcBef>
                <a:spcPts val="800"/>
              </a:spcBef>
              <a:spcAft>
                <a:spcPts val="0"/>
              </a:spcAft>
              <a:buSzPts val="2400"/>
              <a:buChar char="○"/>
            </a:pPr>
            <a:r>
              <a:rPr lang="pt-BR" sz="2400"/>
              <a:t>Qual seria o objetivo dos sprints?</a:t>
            </a:r>
            <a:endParaRPr sz="2400"/>
          </a:p>
          <a:p>
            <a:pPr indent="-381000" lvl="1" marL="914400" rtl="0" algn="l">
              <a:lnSpc>
                <a:spcPct val="114000"/>
              </a:lnSpc>
              <a:spcBef>
                <a:spcPts val="800"/>
              </a:spcBef>
              <a:spcAft>
                <a:spcPts val="0"/>
              </a:spcAft>
              <a:buSzPts val="2400"/>
              <a:buChar char="○"/>
            </a:pPr>
            <a:r>
              <a:rPr lang="pt-BR" sz="2400"/>
              <a:t>Quais os itens do backlog do produto?</a:t>
            </a:r>
            <a:endParaRPr sz="2400"/>
          </a:p>
          <a:p>
            <a:pPr indent="-381000" lvl="1" marL="914400" rtl="0" algn="l">
              <a:lnSpc>
                <a:spcPct val="114000"/>
              </a:lnSpc>
              <a:spcBef>
                <a:spcPts val="800"/>
              </a:spcBef>
              <a:spcAft>
                <a:spcPts val="0"/>
              </a:spcAft>
              <a:buSzPts val="2400"/>
              <a:buChar char="○"/>
            </a:pPr>
            <a:r>
              <a:rPr lang="pt-BR" sz="2400"/>
              <a:t>Quais os itens do backlog do sprint?</a:t>
            </a:r>
            <a:endParaRPr sz="2400"/>
          </a:p>
          <a:p>
            <a:pPr indent="-381000" lvl="1" marL="914400" rtl="0" algn="l">
              <a:lnSpc>
                <a:spcPct val="114000"/>
              </a:lnSpc>
              <a:spcBef>
                <a:spcPts val="800"/>
              </a:spcBef>
              <a:spcAft>
                <a:spcPts val="0"/>
              </a:spcAft>
              <a:buSzPts val="2400"/>
              <a:buChar char="○"/>
            </a:pPr>
            <a:r>
              <a:rPr lang="pt-BR" sz="2400"/>
              <a:t>Faria sentido ter “sprint review”? Se sim, como?</a:t>
            </a:r>
            <a:endParaRPr sz="2400"/>
          </a:p>
          <a:p>
            <a:pPr indent="-381000" lvl="1" marL="914400" rtl="0" algn="l">
              <a:lnSpc>
                <a:spcPct val="114000"/>
              </a:lnSpc>
              <a:spcBef>
                <a:spcPts val="800"/>
              </a:spcBef>
              <a:spcAft>
                <a:spcPts val="0"/>
              </a:spcAft>
              <a:buSzPts val="2400"/>
              <a:buChar char="○"/>
            </a:pPr>
            <a:r>
              <a:rPr lang="pt-BR" sz="2400"/>
              <a:t>Faria sentido ter um PO?</a:t>
            </a:r>
            <a:endParaRPr sz="2400"/>
          </a:p>
          <a:p>
            <a:pPr indent="0" lvl="0" marL="0" rtl="0" algn="l">
              <a:lnSpc>
                <a:spcPct val="114000"/>
              </a:lnSpc>
              <a:spcBef>
                <a:spcPts val="800"/>
              </a:spcBef>
              <a:spcAft>
                <a:spcPts val="1000"/>
              </a:spcAft>
              <a:buNone/>
            </a:pPr>
            <a:r>
              <a:t/>
            </a:r>
            <a:endParaRPr sz="24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703" name="Google Shape;703;p97"/>
          <p:cNvSpPr txBox="1"/>
          <p:nvPr>
            <p:ph idx="1" type="body"/>
          </p:nvPr>
        </p:nvSpPr>
        <p:spPr>
          <a:xfrm>
            <a:off x="311700" y="161875"/>
            <a:ext cx="8520600" cy="8205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0"/>
              </a:spcAft>
              <a:buNone/>
            </a:pPr>
            <a:r>
              <a:rPr lang="pt-BR" sz="2400"/>
              <a:t>3. Suponha dois times, A e B, atuando em projetos diferentes, contratados por empresas distintas: </a:t>
            </a:r>
            <a:endParaRPr sz="2400"/>
          </a:p>
          <a:p>
            <a:pPr indent="-381000" lvl="1" marL="914400" rtl="0" algn="l">
              <a:lnSpc>
                <a:spcPct val="114000"/>
              </a:lnSpc>
              <a:spcBef>
                <a:spcPts val="1000"/>
              </a:spcBef>
              <a:spcAft>
                <a:spcPts val="0"/>
              </a:spcAft>
              <a:buSzPts val="2400"/>
              <a:buChar char="○"/>
            </a:pPr>
            <a:r>
              <a:rPr lang="pt-BR" sz="2400"/>
              <a:t>Ambos adotam sprints de 15 dias </a:t>
            </a:r>
            <a:endParaRPr sz="2400"/>
          </a:p>
          <a:p>
            <a:pPr indent="-381000" lvl="1" marL="914400" rtl="0" algn="l">
              <a:lnSpc>
                <a:spcPct val="114000"/>
              </a:lnSpc>
              <a:spcBef>
                <a:spcPts val="1000"/>
              </a:spcBef>
              <a:spcAft>
                <a:spcPts val="0"/>
              </a:spcAft>
              <a:buSzPts val="2400"/>
              <a:buChar char="○"/>
            </a:pPr>
            <a:r>
              <a:rPr lang="pt-BR" sz="2400"/>
              <a:t>Ambos possuem 5 devs</a:t>
            </a:r>
            <a:endParaRPr sz="2400"/>
          </a:p>
          <a:p>
            <a:pPr indent="-381000" lvl="1" marL="914400" rtl="0" algn="l">
              <a:lnSpc>
                <a:spcPct val="114000"/>
              </a:lnSpc>
              <a:spcBef>
                <a:spcPts val="1000"/>
              </a:spcBef>
              <a:spcAft>
                <a:spcPts val="0"/>
              </a:spcAft>
              <a:buSzPts val="2400"/>
              <a:buChar char="○"/>
            </a:pPr>
            <a:r>
              <a:rPr lang="pt-BR" sz="2400"/>
              <a:t>O time A considera que sua velocidade é de 24 pontos</a:t>
            </a:r>
            <a:endParaRPr sz="2400"/>
          </a:p>
          <a:p>
            <a:pPr indent="-381000" lvl="1" marL="914400" rtl="0" algn="l">
              <a:lnSpc>
                <a:spcPct val="114000"/>
              </a:lnSpc>
              <a:spcBef>
                <a:spcPts val="1000"/>
              </a:spcBef>
              <a:spcAft>
                <a:spcPts val="0"/>
              </a:spcAft>
              <a:buSzPts val="2400"/>
              <a:buChar char="○"/>
            </a:pPr>
            <a:r>
              <a:rPr lang="pt-BR" sz="2400"/>
              <a:t>Já o time B possui uma velocidade de 16 pontos </a:t>
            </a:r>
            <a:endParaRPr sz="2400"/>
          </a:p>
          <a:p>
            <a:pPr indent="0" lvl="0" marL="0" rtl="0" algn="l">
              <a:lnSpc>
                <a:spcPct val="114000"/>
              </a:lnSpc>
              <a:spcBef>
                <a:spcPts val="1000"/>
              </a:spcBef>
              <a:spcAft>
                <a:spcPts val="0"/>
              </a:spcAft>
              <a:buNone/>
            </a:pPr>
            <a:r>
              <a:rPr lang="pt-BR" sz="2400"/>
              <a:t>Pode-se afirmar que A é 50% mais produtivo que B? Justifique sua resposta.</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709" name="Google Shape;709;p98"/>
          <p:cNvSpPr txBox="1"/>
          <p:nvPr>
            <p:ph idx="1" type="body"/>
          </p:nvPr>
        </p:nvSpPr>
        <p:spPr>
          <a:xfrm>
            <a:off x="311700" y="161875"/>
            <a:ext cx="8520600" cy="8205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0"/>
              </a:spcAft>
              <a:buNone/>
            </a:pPr>
            <a:r>
              <a:rPr lang="pt-BR" sz="2400"/>
              <a:t>4. Suponha um editor de textos com duas histórias:</a:t>
            </a:r>
            <a:endParaRPr sz="2400"/>
          </a:p>
          <a:p>
            <a:pPr indent="-381000" lvl="1" marL="914400" marR="0" rtl="0" algn="l">
              <a:lnSpc>
                <a:spcPct val="114000"/>
              </a:lnSpc>
              <a:spcBef>
                <a:spcPts val="1000"/>
              </a:spcBef>
              <a:spcAft>
                <a:spcPts val="0"/>
              </a:spcAft>
              <a:buSzPts val="2400"/>
              <a:buChar char="○"/>
            </a:pPr>
            <a:r>
              <a:rPr lang="pt-BR" sz="2400"/>
              <a:t>Abrir arquivo (H1)</a:t>
            </a:r>
            <a:endParaRPr sz="2400"/>
          </a:p>
          <a:p>
            <a:pPr indent="-381000" lvl="1" marL="914400" marR="0" rtl="0" algn="l">
              <a:lnSpc>
                <a:spcPct val="114000"/>
              </a:lnSpc>
              <a:spcBef>
                <a:spcPts val="1000"/>
              </a:spcBef>
              <a:spcAft>
                <a:spcPts val="0"/>
              </a:spcAft>
              <a:buSzPts val="2400"/>
              <a:buChar char="○"/>
            </a:pPr>
            <a:r>
              <a:rPr lang="pt-BR" sz="2400"/>
              <a:t>Editar arquivo (H2)</a:t>
            </a:r>
            <a:endParaRPr sz="2400"/>
          </a:p>
          <a:p>
            <a:pPr indent="0" lvl="0" marL="0" marR="0" rtl="0" algn="l">
              <a:lnSpc>
                <a:spcPct val="114000"/>
              </a:lnSpc>
              <a:spcBef>
                <a:spcPts val="1000"/>
              </a:spcBef>
              <a:spcAft>
                <a:spcPts val="0"/>
              </a:spcAft>
              <a:buNone/>
            </a:pPr>
            <a:r>
              <a:rPr lang="pt-BR" sz="2400"/>
              <a:t>O PO priorizou, de forma bastante firme, H2 para um sprint e H1 para um sprint seguinte. </a:t>
            </a:r>
            <a:endParaRPr sz="2400"/>
          </a:p>
          <a:p>
            <a:pPr indent="-381000" lvl="1" marL="914400" marR="0" rtl="0" algn="l">
              <a:lnSpc>
                <a:spcPct val="114000"/>
              </a:lnSpc>
              <a:spcBef>
                <a:spcPts val="1000"/>
              </a:spcBef>
              <a:spcAft>
                <a:spcPts val="0"/>
              </a:spcAft>
              <a:buSzPts val="2400"/>
              <a:buChar char="○"/>
            </a:pPr>
            <a:r>
              <a:rPr lang="pt-BR" sz="2400"/>
              <a:t>O que faria nesse caso? Seguiria a prioridade do PO? </a:t>
            </a:r>
            <a:endParaRPr sz="2400"/>
          </a:p>
          <a:p>
            <a:pPr indent="-381000" lvl="1" marL="914400" marR="0" rtl="0" algn="l">
              <a:lnSpc>
                <a:spcPct val="114000"/>
              </a:lnSpc>
              <a:spcBef>
                <a:spcPts val="1000"/>
              </a:spcBef>
              <a:spcAft>
                <a:spcPts val="0"/>
              </a:spcAft>
              <a:buSzPts val="2400"/>
              <a:buChar char="○"/>
            </a:pPr>
            <a:r>
              <a:rPr lang="pt-BR" sz="2400"/>
              <a:t>Se sim, como implementaria a edição de um arquivo (H2), sem antes implementar a sua abertura (H1)?</a:t>
            </a:r>
            <a:endParaRPr sz="2400"/>
          </a:p>
          <a:p>
            <a:pPr indent="0" lvl="0" marL="457200" rtl="0" algn="l">
              <a:lnSpc>
                <a:spcPct val="114000"/>
              </a:lnSpc>
              <a:spcBef>
                <a:spcPts val="1000"/>
              </a:spcBef>
              <a:spcAft>
                <a:spcPts val="0"/>
              </a:spcAft>
              <a:buNone/>
            </a:pPr>
            <a:r>
              <a:t/>
            </a:r>
            <a:endParaRPr sz="2400"/>
          </a:p>
          <a:p>
            <a:pPr indent="0" lvl="0" marL="0" rtl="0" algn="l">
              <a:lnSpc>
                <a:spcPct val="114000"/>
              </a:lnSpc>
              <a:spcBef>
                <a:spcPts val="10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99"/>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3600"/>
              <a:t>Kanban</a:t>
            </a:r>
            <a:endParaRPr b="1" sz="3600"/>
          </a:p>
        </p:txBody>
      </p:sp>
      <p:sp>
        <p:nvSpPr>
          <p:cNvPr id="715" name="Google Shape;715;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0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Kanban</a:t>
            </a:r>
            <a:endParaRPr/>
          </a:p>
        </p:txBody>
      </p:sp>
      <p:sp>
        <p:nvSpPr>
          <p:cNvPr id="721" name="Google Shape;721;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722" name="Google Shape;722;p100"/>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Origem na década de 50 no Japão</a:t>
            </a:r>
            <a:endParaRPr sz="2400"/>
          </a:p>
          <a:p>
            <a:pPr indent="-381000" lvl="0" marL="457200" rtl="0" algn="l">
              <a:lnSpc>
                <a:spcPct val="114000"/>
              </a:lnSpc>
              <a:spcBef>
                <a:spcPts val="1000"/>
              </a:spcBef>
              <a:spcAft>
                <a:spcPts val="0"/>
              </a:spcAft>
              <a:buSzPts val="2400"/>
              <a:buChar char="●"/>
            </a:pPr>
            <a:r>
              <a:rPr lang="pt-BR" sz="2400"/>
              <a:t>Sistema de Produção da Toyota</a:t>
            </a:r>
            <a:endParaRPr sz="2400"/>
          </a:p>
          <a:p>
            <a:pPr indent="-381000" lvl="0" marL="457200" rtl="0" algn="l">
              <a:lnSpc>
                <a:spcPct val="114000"/>
              </a:lnSpc>
              <a:spcBef>
                <a:spcPts val="1000"/>
              </a:spcBef>
              <a:spcAft>
                <a:spcPts val="1000"/>
              </a:spcAft>
              <a:buSzPts val="2400"/>
              <a:buChar char="●"/>
            </a:pPr>
            <a:r>
              <a:rPr lang="pt-BR" sz="2400"/>
              <a:t>Manufatura lean, produção just-in time, etc </a:t>
            </a:r>
            <a:endParaRPr sz="24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0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k</a:t>
            </a:r>
            <a:r>
              <a:rPr lang="pt-BR"/>
              <a:t>anban = "cartão visual"</a:t>
            </a:r>
            <a:endParaRPr/>
          </a:p>
        </p:txBody>
      </p:sp>
      <p:sp>
        <p:nvSpPr>
          <p:cNvPr id="728" name="Google Shape;728;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29" name="Google Shape;729;p101"/>
          <p:cNvPicPr preferRelativeResize="0"/>
          <p:nvPr/>
        </p:nvPicPr>
        <p:blipFill>
          <a:blip r:embed="rId3">
            <a:alphaModFix/>
          </a:blip>
          <a:stretch>
            <a:fillRect/>
          </a:stretch>
        </p:blipFill>
        <p:spPr>
          <a:xfrm>
            <a:off x="410558" y="1017725"/>
            <a:ext cx="6031015" cy="397337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0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Kanban em Desenvolvimento de Software</a:t>
            </a:r>
            <a:endParaRPr/>
          </a:p>
        </p:txBody>
      </p:sp>
      <p:sp>
        <p:nvSpPr>
          <p:cNvPr id="735" name="Google Shape;735;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36" name="Google Shape;736;p102"/>
          <p:cNvPicPr preferRelativeResize="0"/>
          <p:nvPr/>
        </p:nvPicPr>
        <p:blipFill>
          <a:blip r:embed="rId3">
            <a:alphaModFix/>
          </a:blip>
          <a:stretch>
            <a:fillRect/>
          </a:stretch>
        </p:blipFill>
        <p:spPr>
          <a:xfrm>
            <a:off x="471150" y="1042425"/>
            <a:ext cx="4740423" cy="34684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0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Kanban vs Scrum</a:t>
            </a:r>
            <a:endParaRPr/>
          </a:p>
        </p:txBody>
      </p:sp>
      <p:sp>
        <p:nvSpPr>
          <p:cNvPr id="742" name="Google Shape;742;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743" name="Google Shape;743;p103"/>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Kanban é mais simples</a:t>
            </a:r>
            <a:endParaRPr sz="2400"/>
          </a:p>
          <a:p>
            <a:pPr indent="-381000" lvl="0" marL="457200" rtl="0" algn="l">
              <a:lnSpc>
                <a:spcPct val="114000"/>
              </a:lnSpc>
              <a:spcBef>
                <a:spcPts val="1000"/>
              </a:spcBef>
              <a:spcAft>
                <a:spcPts val="0"/>
              </a:spcAft>
              <a:buSzPts val="2400"/>
              <a:buChar char="●"/>
            </a:pPr>
            <a:r>
              <a:rPr lang="pt-BR" sz="2400"/>
              <a:t>Não existem sprints</a:t>
            </a:r>
            <a:endParaRPr sz="2400"/>
          </a:p>
          <a:p>
            <a:pPr indent="-381000" lvl="0" marL="457200" rtl="0" algn="l">
              <a:lnSpc>
                <a:spcPct val="114000"/>
              </a:lnSpc>
              <a:spcBef>
                <a:spcPts val="1000"/>
              </a:spcBef>
              <a:spcAft>
                <a:spcPts val="0"/>
              </a:spcAft>
              <a:buSzPts val="2400"/>
              <a:buChar char="●"/>
            </a:pPr>
            <a:r>
              <a:rPr lang="pt-BR" sz="2400"/>
              <a:t>Não é obrigatório usar papéis e eventos, incluindo:</a:t>
            </a:r>
            <a:endParaRPr sz="2400"/>
          </a:p>
          <a:p>
            <a:pPr indent="-381000" lvl="1" marL="914400" rtl="0" algn="l">
              <a:lnSpc>
                <a:spcPct val="114000"/>
              </a:lnSpc>
              <a:spcBef>
                <a:spcPts val="1000"/>
              </a:spcBef>
              <a:spcAft>
                <a:spcPts val="0"/>
              </a:spcAft>
              <a:buSzPts val="2400"/>
              <a:buChar char="○"/>
            </a:pPr>
            <a:r>
              <a:rPr lang="pt-BR" sz="2400"/>
              <a:t>Scrum master</a:t>
            </a:r>
            <a:endParaRPr sz="2400"/>
          </a:p>
          <a:p>
            <a:pPr indent="-381000" lvl="1" marL="914400" rtl="0" algn="l">
              <a:lnSpc>
                <a:spcPct val="114000"/>
              </a:lnSpc>
              <a:spcBef>
                <a:spcPts val="1000"/>
              </a:spcBef>
              <a:spcAft>
                <a:spcPts val="0"/>
              </a:spcAft>
              <a:buSzPts val="2400"/>
              <a:buChar char="○"/>
            </a:pPr>
            <a:r>
              <a:rPr lang="pt-BR" sz="2400"/>
              <a:t>Daily Scrum, retrospectivas, revisões</a:t>
            </a:r>
            <a:endParaRPr sz="2400"/>
          </a:p>
          <a:p>
            <a:pPr indent="-381000" lvl="0" marL="457200" rtl="0" algn="l">
              <a:lnSpc>
                <a:spcPct val="114000"/>
              </a:lnSpc>
              <a:spcBef>
                <a:spcPts val="1000"/>
              </a:spcBef>
              <a:spcAft>
                <a:spcPts val="0"/>
              </a:spcAft>
              <a:buSzPts val="2400"/>
              <a:buChar char="●"/>
            </a:pPr>
            <a:r>
              <a:rPr lang="pt-BR" sz="2400"/>
              <a:t>Time define os </a:t>
            </a:r>
            <a:r>
              <a:rPr lang="pt-BR" sz="2400"/>
              <a:t>papéis</a:t>
            </a:r>
            <a:r>
              <a:rPr lang="pt-BR" sz="2400"/>
              <a:t> e eventos</a:t>
            </a:r>
            <a:endParaRPr sz="2400"/>
          </a:p>
          <a:p>
            <a:pPr indent="0" lvl="0" marL="914400" rtl="0" algn="l">
              <a:lnSpc>
                <a:spcPct val="114000"/>
              </a:lnSpc>
              <a:spcBef>
                <a:spcPts val="1000"/>
              </a:spcBef>
              <a:spcAft>
                <a:spcPts val="1000"/>
              </a:spcAft>
              <a:buNone/>
            </a:pPr>
            <a:r>
              <a:t/>
            </a:r>
            <a:endParaRPr sz="24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0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Kanban</a:t>
            </a:r>
            <a:endParaRPr/>
          </a:p>
        </p:txBody>
      </p:sp>
      <p:sp>
        <p:nvSpPr>
          <p:cNvPr id="749" name="Google Shape;749;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750" name="Google Shape;750;p104"/>
          <p:cNvGraphicFramePr/>
          <p:nvPr/>
        </p:nvGraphicFramePr>
        <p:xfrm>
          <a:off x="457200" y="12192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cxnSp>
        <p:nvCxnSpPr>
          <p:cNvPr id="751" name="Google Shape;751;p104"/>
          <p:cNvCxnSpPr/>
          <p:nvPr/>
        </p:nvCxnSpPr>
        <p:spPr>
          <a:xfrm flipH="1" rot="10800000">
            <a:off x="2421875" y="603025"/>
            <a:ext cx="731400" cy="587400"/>
          </a:xfrm>
          <a:prstGeom prst="straightConnector1">
            <a:avLst/>
          </a:prstGeom>
          <a:noFill/>
          <a:ln cap="flat" cmpd="sng" w="9525">
            <a:solidFill>
              <a:schemeClr val="dk2"/>
            </a:solidFill>
            <a:prstDash val="solid"/>
            <a:round/>
            <a:headEnd len="med" w="med" type="none"/>
            <a:tailEnd len="med" w="med" type="triangle"/>
          </a:ln>
        </p:spPr>
      </p:cxnSp>
      <p:sp>
        <p:nvSpPr>
          <p:cNvPr id="752" name="Google Shape;752;p104"/>
          <p:cNvSpPr txBox="1"/>
          <p:nvPr/>
        </p:nvSpPr>
        <p:spPr>
          <a:xfrm>
            <a:off x="2198600" y="246725"/>
            <a:ext cx="27576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"Grandes" colunas do quadro:</a:t>
            </a:r>
            <a:endParaRPr/>
          </a:p>
          <a:p>
            <a:pPr indent="0" lvl="0" marL="0" rtl="0" algn="l">
              <a:spcBef>
                <a:spcPts val="0"/>
              </a:spcBef>
              <a:spcAft>
                <a:spcPts val="0"/>
              </a:spcAft>
              <a:buNone/>
            </a:pPr>
            <a:r>
              <a:rPr lang="pt-BR"/>
              <a:t>Passos</a:t>
            </a:r>
            <a:endParaRPr/>
          </a:p>
        </p:txBody>
      </p:sp>
      <p:sp>
        <p:nvSpPr>
          <p:cNvPr id="753" name="Google Shape;753;p104"/>
          <p:cNvSpPr txBox="1"/>
          <p:nvPr/>
        </p:nvSpPr>
        <p:spPr>
          <a:xfrm>
            <a:off x="1425425" y="3218525"/>
            <a:ext cx="16113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1a sub-coluna:</a:t>
            </a:r>
            <a:endParaRPr/>
          </a:p>
          <a:p>
            <a:pPr indent="0" lvl="0" marL="0" rtl="0" algn="l">
              <a:spcBef>
                <a:spcPts val="0"/>
              </a:spcBef>
              <a:spcAft>
                <a:spcPts val="0"/>
              </a:spcAft>
              <a:buNone/>
            </a:pPr>
            <a:r>
              <a:rPr lang="pt-BR"/>
              <a:t>em andamento</a:t>
            </a:r>
            <a:endParaRPr/>
          </a:p>
        </p:txBody>
      </p:sp>
      <p:cxnSp>
        <p:nvCxnSpPr>
          <p:cNvPr id="754" name="Google Shape;754;p104"/>
          <p:cNvCxnSpPr>
            <a:endCxn id="753" idx="0"/>
          </p:cNvCxnSpPr>
          <p:nvPr/>
        </p:nvCxnSpPr>
        <p:spPr>
          <a:xfrm>
            <a:off x="1637375" y="2347025"/>
            <a:ext cx="593700" cy="871500"/>
          </a:xfrm>
          <a:prstGeom prst="straightConnector1">
            <a:avLst/>
          </a:prstGeom>
          <a:noFill/>
          <a:ln cap="flat" cmpd="sng" w="9525">
            <a:solidFill>
              <a:schemeClr val="dk2"/>
            </a:solidFill>
            <a:prstDash val="solid"/>
            <a:round/>
            <a:headEnd len="med" w="med" type="none"/>
            <a:tailEnd len="med" w="med" type="triangle"/>
          </a:ln>
        </p:spPr>
      </p:cxnSp>
      <p:sp>
        <p:nvSpPr>
          <p:cNvPr id="755" name="Google Shape;755;p104"/>
          <p:cNvSpPr txBox="1"/>
          <p:nvPr/>
        </p:nvSpPr>
        <p:spPr>
          <a:xfrm>
            <a:off x="3101825" y="3218525"/>
            <a:ext cx="16113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2a sub-coluna:</a:t>
            </a:r>
            <a:endParaRPr/>
          </a:p>
          <a:p>
            <a:pPr indent="0" lvl="0" marL="0" rtl="0" algn="l">
              <a:spcBef>
                <a:spcPts val="0"/>
              </a:spcBef>
              <a:spcAft>
                <a:spcPts val="0"/>
              </a:spcAft>
              <a:buNone/>
            </a:pPr>
            <a:r>
              <a:rPr lang="pt-BR"/>
              <a:t>concluídas</a:t>
            </a:r>
            <a:endParaRPr/>
          </a:p>
        </p:txBody>
      </p:sp>
      <p:cxnSp>
        <p:nvCxnSpPr>
          <p:cNvPr id="756" name="Google Shape;756;p104"/>
          <p:cNvCxnSpPr>
            <a:endCxn id="755" idx="0"/>
          </p:cNvCxnSpPr>
          <p:nvPr/>
        </p:nvCxnSpPr>
        <p:spPr>
          <a:xfrm>
            <a:off x="2415275" y="2340725"/>
            <a:ext cx="1492200" cy="877800"/>
          </a:xfrm>
          <a:prstGeom prst="straightConnector1">
            <a:avLst/>
          </a:prstGeom>
          <a:noFill/>
          <a:ln cap="flat" cmpd="sng" w="9525">
            <a:solidFill>
              <a:schemeClr val="dk2"/>
            </a:solidFill>
            <a:prstDash val="solid"/>
            <a:round/>
            <a:headEnd len="med" w="med" type="none"/>
            <a:tailEnd len="med" w="med" type="triangle"/>
          </a:ln>
        </p:spPr>
      </p:cxnSp>
      <p:cxnSp>
        <p:nvCxnSpPr>
          <p:cNvPr id="757" name="Google Shape;757;p104"/>
          <p:cNvCxnSpPr/>
          <p:nvPr/>
        </p:nvCxnSpPr>
        <p:spPr>
          <a:xfrm flipH="1" rot="10800000">
            <a:off x="515550" y="4160350"/>
            <a:ext cx="3249300" cy="12000"/>
          </a:xfrm>
          <a:prstGeom prst="straightConnector1">
            <a:avLst/>
          </a:prstGeom>
          <a:noFill/>
          <a:ln cap="flat" cmpd="sng" w="9525">
            <a:solidFill>
              <a:schemeClr val="dk2"/>
            </a:solidFill>
            <a:prstDash val="solid"/>
            <a:round/>
            <a:headEnd len="med" w="med" type="none"/>
            <a:tailEnd len="med" w="med" type="triangle"/>
          </a:ln>
        </p:spPr>
      </p:cxnSp>
      <p:sp>
        <p:nvSpPr>
          <p:cNvPr id="758" name="Google Shape;758;p104"/>
          <p:cNvSpPr txBox="1"/>
          <p:nvPr/>
        </p:nvSpPr>
        <p:spPr>
          <a:xfrm>
            <a:off x="815825" y="4209125"/>
            <a:ext cx="22869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Fluxo de trabalho (tempo)</a:t>
            </a:r>
            <a:endParaRPr/>
          </a:p>
        </p:txBody>
      </p:sp>
      <p:sp>
        <p:nvSpPr>
          <p:cNvPr id="759" name="Google Shape;759;p104"/>
          <p:cNvSpPr txBox="1"/>
          <p:nvPr/>
        </p:nvSpPr>
        <p:spPr>
          <a:xfrm>
            <a:off x="4778225" y="3218525"/>
            <a:ext cx="23751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Iremos explicar daqui a pouco o que significa WIP</a:t>
            </a:r>
            <a:endParaRPr/>
          </a:p>
        </p:txBody>
      </p:sp>
      <p:cxnSp>
        <p:nvCxnSpPr>
          <p:cNvPr id="760" name="Google Shape;760;p104"/>
          <p:cNvCxnSpPr>
            <a:endCxn id="759" idx="0"/>
          </p:cNvCxnSpPr>
          <p:nvPr/>
        </p:nvCxnSpPr>
        <p:spPr>
          <a:xfrm>
            <a:off x="5474075" y="1601225"/>
            <a:ext cx="491700" cy="1617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Kanban</a:t>
            </a:r>
            <a:endParaRPr/>
          </a:p>
        </p:txBody>
      </p:sp>
      <p:sp>
        <p:nvSpPr>
          <p:cNvPr id="766" name="Google Shape;766;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767" name="Google Shape;767;p105"/>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Ideia central: sistema pull</a:t>
            </a:r>
            <a:endParaRPr sz="2400"/>
          </a:p>
          <a:p>
            <a:pPr indent="-381000" lvl="0" marL="457200" rtl="0" algn="l">
              <a:lnSpc>
                <a:spcPct val="114000"/>
              </a:lnSpc>
              <a:spcBef>
                <a:spcPts val="1000"/>
              </a:spcBef>
              <a:spcAft>
                <a:spcPts val="0"/>
              </a:spcAft>
              <a:buSzPts val="2400"/>
              <a:buChar char="●"/>
            </a:pPr>
            <a:r>
              <a:rPr lang="pt-BR" sz="2400"/>
              <a:t>Membros "puxam" trabalho:</a:t>
            </a:r>
            <a:endParaRPr sz="2400"/>
          </a:p>
          <a:p>
            <a:pPr indent="-381000" lvl="1" marL="914400" rtl="0" algn="l">
              <a:lnSpc>
                <a:spcPct val="114000"/>
              </a:lnSpc>
              <a:spcBef>
                <a:spcPts val="1000"/>
              </a:spcBef>
              <a:spcAft>
                <a:spcPts val="0"/>
              </a:spcAft>
              <a:buSzPts val="2400"/>
              <a:buAutoNum type="alphaLcPeriod"/>
            </a:pPr>
            <a:r>
              <a:rPr lang="pt-BR" sz="2400"/>
              <a:t>Escolhem uma tarefa para trabalhar </a:t>
            </a:r>
            <a:endParaRPr sz="2400"/>
          </a:p>
          <a:p>
            <a:pPr indent="-381000" lvl="1" marL="914400" rtl="0" algn="l">
              <a:lnSpc>
                <a:spcPct val="114000"/>
              </a:lnSpc>
              <a:spcBef>
                <a:spcPts val="1000"/>
              </a:spcBef>
              <a:spcAft>
                <a:spcPts val="0"/>
              </a:spcAft>
              <a:buSzPts val="2400"/>
              <a:buAutoNum type="alphaLcPeriod"/>
            </a:pPr>
            <a:r>
              <a:rPr lang="pt-BR" sz="2400"/>
              <a:t>Concluem tarefa (movem ela para frente no quadro)</a:t>
            </a:r>
            <a:endParaRPr sz="2400"/>
          </a:p>
          <a:p>
            <a:pPr indent="-381000" lvl="1" marL="914400" rtl="0" algn="l">
              <a:lnSpc>
                <a:spcPct val="114000"/>
              </a:lnSpc>
              <a:spcBef>
                <a:spcPts val="1000"/>
              </a:spcBef>
              <a:spcAft>
                <a:spcPts val="0"/>
              </a:spcAft>
              <a:buSzPts val="2400"/>
              <a:buAutoNum type="alphaLcPeriod"/>
            </a:pPr>
            <a:r>
              <a:rPr lang="pt-BR" sz="2400"/>
              <a:t>Voltam para o passo (a)</a:t>
            </a:r>
            <a:endParaRPr sz="2400"/>
          </a:p>
          <a:p>
            <a:pPr indent="0" lvl="0" marL="914400" rtl="0" algn="l">
              <a:lnSpc>
                <a:spcPct val="114000"/>
              </a:lnSpc>
              <a:spcBef>
                <a:spcPts val="1000"/>
              </a:spcBef>
              <a:spcAft>
                <a:spcPts val="1000"/>
              </a:spcAft>
              <a:buNone/>
            </a:pPr>
            <a:r>
              <a:t/>
            </a:r>
            <a:endParaRPr sz="24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773" name="Google Shape;773;p106"/>
          <p:cNvGraphicFramePr/>
          <p:nvPr/>
        </p:nvGraphicFramePr>
        <p:xfrm>
          <a:off x="762000" y="1524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sp>
        <p:nvSpPr>
          <p:cNvPr id="774" name="Google Shape;774;p106"/>
          <p:cNvSpPr/>
          <p:nvPr/>
        </p:nvSpPr>
        <p:spPr>
          <a:xfrm>
            <a:off x="983950" y="8403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5" name="Google Shape;775;p106"/>
          <p:cNvCxnSpPr/>
          <p:nvPr/>
        </p:nvCxnSpPr>
        <p:spPr>
          <a:xfrm>
            <a:off x="251775" y="310475"/>
            <a:ext cx="24000" cy="3430500"/>
          </a:xfrm>
          <a:prstGeom prst="straightConnector1">
            <a:avLst/>
          </a:prstGeom>
          <a:noFill/>
          <a:ln cap="flat" cmpd="sng" w="9525">
            <a:solidFill>
              <a:schemeClr val="dk2"/>
            </a:solidFill>
            <a:prstDash val="solid"/>
            <a:round/>
            <a:headEnd len="med" w="med" type="none"/>
            <a:tailEnd len="med" w="med" type="triangle"/>
          </a:ln>
        </p:spPr>
      </p:cxnSp>
      <p:sp>
        <p:nvSpPr>
          <p:cNvPr id="776" name="Google Shape;776;p106"/>
          <p:cNvSpPr txBox="1"/>
          <p:nvPr/>
        </p:nvSpPr>
        <p:spPr>
          <a:xfrm>
            <a:off x="-48750" y="3663725"/>
            <a:ext cx="7470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tempo</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782" name="Google Shape;782;p107"/>
          <p:cNvGraphicFramePr/>
          <p:nvPr/>
        </p:nvGraphicFramePr>
        <p:xfrm>
          <a:off x="762000" y="1524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graphicFrame>
        <p:nvGraphicFramePr>
          <p:cNvPr id="783" name="Google Shape;783;p107"/>
          <p:cNvGraphicFramePr/>
          <p:nvPr/>
        </p:nvGraphicFramePr>
        <p:xfrm>
          <a:off x="762000" y="15240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r>
            </a:tbl>
          </a:graphicData>
        </a:graphic>
      </p:graphicFrame>
      <p:sp>
        <p:nvSpPr>
          <p:cNvPr id="784" name="Google Shape;784;p107"/>
          <p:cNvSpPr/>
          <p:nvPr/>
        </p:nvSpPr>
        <p:spPr>
          <a:xfrm>
            <a:off x="983950" y="8403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07"/>
          <p:cNvSpPr/>
          <p:nvPr/>
        </p:nvSpPr>
        <p:spPr>
          <a:xfrm>
            <a:off x="1745950" y="22119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6" name="Google Shape;786;p107"/>
          <p:cNvCxnSpPr>
            <a:stCxn id="784" idx="6"/>
            <a:endCxn id="785" idx="0"/>
          </p:cNvCxnSpPr>
          <p:nvPr/>
        </p:nvCxnSpPr>
        <p:spPr>
          <a:xfrm>
            <a:off x="1211650" y="978175"/>
            <a:ext cx="648300" cy="1233900"/>
          </a:xfrm>
          <a:prstGeom prst="curvedConnector2">
            <a:avLst/>
          </a:prstGeom>
          <a:noFill/>
          <a:ln cap="flat" cmpd="sng" w="9525">
            <a:solidFill>
              <a:schemeClr val="dk2"/>
            </a:solidFill>
            <a:prstDash val="solid"/>
            <a:round/>
            <a:headEnd len="med" w="med" type="none"/>
            <a:tailEnd len="med" w="med" type="none"/>
          </a:ln>
        </p:spPr>
      </p:cxnSp>
      <p:cxnSp>
        <p:nvCxnSpPr>
          <p:cNvPr id="787" name="Google Shape;787;p107"/>
          <p:cNvCxnSpPr/>
          <p:nvPr/>
        </p:nvCxnSpPr>
        <p:spPr>
          <a:xfrm>
            <a:off x="251775" y="310475"/>
            <a:ext cx="24000" cy="3430500"/>
          </a:xfrm>
          <a:prstGeom prst="straightConnector1">
            <a:avLst/>
          </a:prstGeom>
          <a:noFill/>
          <a:ln cap="flat" cmpd="sng" w="9525">
            <a:solidFill>
              <a:schemeClr val="dk2"/>
            </a:solidFill>
            <a:prstDash val="solid"/>
            <a:round/>
            <a:headEnd len="med" w="med" type="none"/>
            <a:tailEnd len="med" w="med" type="triangle"/>
          </a:ln>
        </p:spPr>
      </p:cxnSp>
      <p:sp>
        <p:nvSpPr>
          <p:cNvPr id="788" name="Google Shape;788;p107"/>
          <p:cNvSpPr txBox="1"/>
          <p:nvPr/>
        </p:nvSpPr>
        <p:spPr>
          <a:xfrm>
            <a:off x="-48750" y="3663725"/>
            <a:ext cx="7470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tempo</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794" name="Google Shape;794;p108"/>
          <p:cNvGraphicFramePr/>
          <p:nvPr/>
        </p:nvGraphicFramePr>
        <p:xfrm>
          <a:off x="762000" y="1524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graphicFrame>
        <p:nvGraphicFramePr>
          <p:cNvPr id="795" name="Google Shape;795;p108"/>
          <p:cNvGraphicFramePr/>
          <p:nvPr/>
        </p:nvGraphicFramePr>
        <p:xfrm>
          <a:off x="762000" y="15240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r>
            </a:tbl>
          </a:graphicData>
        </a:graphic>
      </p:graphicFrame>
      <p:graphicFrame>
        <p:nvGraphicFramePr>
          <p:cNvPr id="796" name="Google Shape;796;p108"/>
          <p:cNvGraphicFramePr/>
          <p:nvPr/>
        </p:nvGraphicFramePr>
        <p:xfrm>
          <a:off x="762000" y="28194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 🗅 🗅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sp>
        <p:nvSpPr>
          <p:cNvPr id="797" name="Google Shape;797;p108"/>
          <p:cNvSpPr/>
          <p:nvPr/>
        </p:nvSpPr>
        <p:spPr>
          <a:xfrm>
            <a:off x="983950" y="8403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8"/>
          <p:cNvSpPr/>
          <p:nvPr/>
        </p:nvSpPr>
        <p:spPr>
          <a:xfrm>
            <a:off x="1745950" y="22119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9" name="Google Shape;799;p108"/>
          <p:cNvCxnSpPr>
            <a:stCxn id="797" idx="6"/>
            <a:endCxn id="798" idx="0"/>
          </p:cNvCxnSpPr>
          <p:nvPr/>
        </p:nvCxnSpPr>
        <p:spPr>
          <a:xfrm>
            <a:off x="1211650" y="978175"/>
            <a:ext cx="648300" cy="1233900"/>
          </a:xfrm>
          <a:prstGeom prst="curvedConnector2">
            <a:avLst/>
          </a:prstGeom>
          <a:noFill/>
          <a:ln cap="flat" cmpd="sng" w="9525">
            <a:solidFill>
              <a:schemeClr val="dk2"/>
            </a:solidFill>
            <a:prstDash val="solid"/>
            <a:round/>
            <a:headEnd len="med" w="med" type="none"/>
            <a:tailEnd len="med" w="med" type="none"/>
          </a:ln>
        </p:spPr>
      </p:cxnSp>
      <p:sp>
        <p:nvSpPr>
          <p:cNvPr id="800" name="Google Shape;800;p108"/>
          <p:cNvSpPr/>
          <p:nvPr/>
        </p:nvSpPr>
        <p:spPr>
          <a:xfrm>
            <a:off x="2279350" y="3507325"/>
            <a:ext cx="7470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1" name="Google Shape;801;p108"/>
          <p:cNvCxnSpPr>
            <a:stCxn id="798" idx="6"/>
            <a:endCxn id="800" idx="0"/>
          </p:cNvCxnSpPr>
          <p:nvPr/>
        </p:nvCxnSpPr>
        <p:spPr>
          <a:xfrm>
            <a:off x="1973650" y="2349775"/>
            <a:ext cx="679200" cy="1157700"/>
          </a:xfrm>
          <a:prstGeom prst="curvedConnector2">
            <a:avLst/>
          </a:prstGeom>
          <a:noFill/>
          <a:ln cap="flat" cmpd="sng" w="9525">
            <a:solidFill>
              <a:schemeClr val="dk2"/>
            </a:solidFill>
            <a:prstDash val="solid"/>
            <a:round/>
            <a:headEnd len="med" w="med" type="none"/>
            <a:tailEnd len="med" w="med" type="none"/>
          </a:ln>
        </p:spPr>
      </p:cxnSp>
      <p:cxnSp>
        <p:nvCxnSpPr>
          <p:cNvPr id="802" name="Google Shape;802;p108"/>
          <p:cNvCxnSpPr/>
          <p:nvPr/>
        </p:nvCxnSpPr>
        <p:spPr>
          <a:xfrm>
            <a:off x="251775" y="310475"/>
            <a:ext cx="24000" cy="3430500"/>
          </a:xfrm>
          <a:prstGeom prst="straightConnector1">
            <a:avLst/>
          </a:prstGeom>
          <a:noFill/>
          <a:ln cap="flat" cmpd="sng" w="9525">
            <a:solidFill>
              <a:schemeClr val="dk2"/>
            </a:solidFill>
            <a:prstDash val="solid"/>
            <a:round/>
            <a:headEnd len="med" w="med" type="none"/>
            <a:tailEnd len="med" w="med" type="triangle"/>
          </a:ln>
        </p:spPr>
      </p:cxnSp>
      <p:sp>
        <p:nvSpPr>
          <p:cNvPr id="803" name="Google Shape;803;p108"/>
          <p:cNvSpPr txBox="1"/>
          <p:nvPr/>
        </p:nvSpPr>
        <p:spPr>
          <a:xfrm>
            <a:off x="-48750" y="3663725"/>
            <a:ext cx="7470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tempo</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809" name="Google Shape;809;p109"/>
          <p:cNvGraphicFramePr/>
          <p:nvPr/>
        </p:nvGraphicFramePr>
        <p:xfrm>
          <a:off x="762000" y="3810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 🗅 🗅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sp>
        <p:nvSpPr>
          <p:cNvPr id="810" name="Google Shape;810;p109"/>
          <p:cNvSpPr/>
          <p:nvPr/>
        </p:nvSpPr>
        <p:spPr>
          <a:xfrm>
            <a:off x="2760550" y="1068925"/>
            <a:ext cx="2658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1" name="Google Shape;811;p109"/>
          <p:cNvCxnSpPr/>
          <p:nvPr/>
        </p:nvCxnSpPr>
        <p:spPr>
          <a:xfrm flipH="1">
            <a:off x="246975" y="310475"/>
            <a:ext cx="4800" cy="3730800"/>
          </a:xfrm>
          <a:prstGeom prst="straightConnector1">
            <a:avLst/>
          </a:prstGeom>
          <a:noFill/>
          <a:ln cap="flat" cmpd="sng" w="9525">
            <a:solidFill>
              <a:schemeClr val="dk2"/>
            </a:solidFill>
            <a:prstDash val="solid"/>
            <a:round/>
            <a:headEnd len="med" w="med" type="none"/>
            <a:tailEnd len="med" w="med" type="triangle"/>
          </a:ln>
        </p:spPr>
      </p:cxnSp>
      <p:sp>
        <p:nvSpPr>
          <p:cNvPr id="812" name="Google Shape;812;p109"/>
          <p:cNvSpPr txBox="1"/>
          <p:nvPr/>
        </p:nvSpPr>
        <p:spPr>
          <a:xfrm>
            <a:off x="-48750" y="4120925"/>
            <a:ext cx="7470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tempo</a:t>
            </a:r>
            <a:endParaRPr/>
          </a:p>
        </p:txBody>
      </p:sp>
      <p:graphicFrame>
        <p:nvGraphicFramePr>
          <p:cNvPr id="813" name="Google Shape;813;p109"/>
          <p:cNvGraphicFramePr/>
          <p:nvPr/>
        </p:nvGraphicFramePr>
        <p:xfrm>
          <a:off x="762000" y="17526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 🗅 </a:t>
                      </a:r>
                      <a:r>
                        <a:rPr b="1" lang="pt-BR" sz="1200">
                          <a:solidFill>
                            <a:schemeClr val="dk1"/>
                          </a:solidFill>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revisadas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r>
            </a:tbl>
          </a:graphicData>
        </a:graphic>
      </p:graphicFrame>
      <p:sp>
        <p:nvSpPr>
          <p:cNvPr id="814" name="Google Shape;814;p109"/>
          <p:cNvSpPr/>
          <p:nvPr/>
        </p:nvSpPr>
        <p:spPr>
          <a:xfrm>
            <a:off x="3110375" y="2440525"/>
            <a:ext cx="2181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5" name="Google Shape;815;p109"/>
          <p:cNvCxnSpPr>
            <a:stCxn id="810" idx="6"/>
            <a:endCxn id="814" idx="0"/>
          </p:cNvCxnSpPr>
          <p:nvPr/>
        </p:nvCxnSpPr>
        <p:spPr>
          <a:xfrm>
            <a:off x="3026350" y="1206775"/>
            <a:ext cx="193200" cy="1233900"/>
          </a:xfrm>
          <a:prstGeom prst="curvedConnector2">
            <a:avLst/>
          </a:prstGeom>
          <a:noFill/>
          <a:ln cap="flat" cmpd="sng" w="9525">
            <a:solidFill>
              <a:schemeClr val="dk2"/>
            </a:solidFill>
            <a:prstDash val="solid"/>
            <a:round/>
            <a:headEnd len="med" w="med" type="none"/>
            <a:tailEnd len="med" w="med" type="none"/>
          </a:ln>
        </p:spPr>
      </p:cxnSp>
      <p:graphicFrame>
        <p:nvGraphicFramePr>
          <p:cNvPr id="816" name="Google Shape;816;p109"/>
          <p:cNvGraphicFramePr/>
          <p:nvPr/>
        </p:nvGraphicFramePr>
        <p:xfrm>
          <a:off x="762000" y="3124200"/>
          <a:ext cx="3000000" cy="3000000"/>
        </p:xfrm>
        <a:graphic>
          <a:graphicData uri="http://schemas.openxmlformats.org/drawingml/2006/table">
            <a:tbl>
              <a:tblPr>
                <a:noFill/>
                <a:tableStyleId>{FF9D8034-3FCC-48F4-A0C0-902DE1BD5031}</a:tableStyleId>
              </a:tblPr>
              <a:tblGrid>
                <a:gridCol w="695325"/>
                <a:gridCol w="790575"/>
                <a:gridCol w="847725"/>
                <a:gridCol w="1114425"/>
                <a:gridCol w="1104900"/>
                <a:gridCol w="809625"/>
                <a:gridCol w="628650"/>
              </a:tblGrid>
              <a:tr h="279400">
                <a:tc>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Backlog</a:t>
                      </a:r>
                      <a:endParaRPr b="1" sz="1200">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Especificação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Implementação</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pt-BR" sz="1200">
                          <a:latin typeface="Times New Roman"/>
                          <a:ea typeface="Times New Roman"/>
                          <a:cs typeface="Times New Roman"/>
                          <a:sym typeface="Times New Roman"/>
                        </a:rPr>
                        <a:t>WIP</a:t>
                      </a:r>
                      <a:endParaRPr b="1" sz="1200">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sz="1200">
                          <a:latin typeface="Times New Roman"/>
                          <a:ea typeface="Times New Roman"/>
                          <a:cs typeface="Times New Roman"/>
                          <a:sym typeface="Times New Roman"/>
                        </a:rPr>
                        <a:t>Revisão de Código</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WIP     |</a:t>
                      </a:r>
                      <a:endParaRPr b="1" sz="12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lang="pt-BR"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rPr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em espec.  </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especificadas</a:t>
                      </a:r>
                      <a:endParaRPr sz="1000">
                        <a:latin typeface="Times New Roman"/>
                        <a:ea typeface="Times New Roman"/>
                        <a:cs typeface="Times New Roman"/>
                        <a:sym typeface="Times New Roman"/>
                      </a:endParaRPr>
                    </a:p>
                    <a:p>
                      <a:pPr indent="0" lvl="0" marL="0" rtl="0" algn="l">
                        <a:spcBef>
                          <a:spcPts val="0"/>
                        </a:spcBef>
                        <a:spcAft>
                          <a:spcPts val="0"/>
                        </a:spcAft>
                        <a:buNone/>
                      </a:pPr>
                      <a:r>
                        <a:rPr lang="pt-BR" sz="1000">
                          <a:latin typeface="Times New Roman"/>
                          <a:ea typeface="Times New Roman"/>
                          <a:cs typeface="Times New Roman"/>
                          <a:sym typeface="Times New Roman"/>
                        </a:rPr>
                        <a:t> </a:t>
                      </a:r>
                      <a:r>
                        <a:rPr b="1" lang="pt-BR" sz="1200">
                          <a:latin typeface="Times New Roman"/>
                          <a:ea typeface="Times New Roman"/>
                          <a:cs typeface="Times New Roman"/>
                          <a:sym typeface="Times New Roman"/>
                        </a:rPr>
                        <a:t>🗅 🗅</a:t>
                      </a:r>
                      <a:r>
                        <a:rPr b="1" lang="pt-BR" sz="1200">
                          <a:solidFill>
                            <a:schemeClr val="dk1"/>
                          </a:solidFill>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pt-BR" sz="1000">
                          <a:latin typeface="Times New Roman"/>
                          <a:ea typeface="Times New Roman"/>
                          <a:cs typeface="Times New Roman"/>
                          <a:sym typeface="Times New Roman"/>
                        </a:rPr>
                        <a:t>em implementação </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implementadas</a:t>
                      </a:r>
                      <a:endParaRPr sz="1000">
                        <a:latin typeface="Times New Roman"/>
                        <a:ea typeface="Times New Roman"/>
                        <a:cs typeface="Times New Roman"/>
                        <a:sym typeface="Times New Roman"/>
                      </a:endParaRPr>
                    </a:p>
                    <a:p>
                      <a:pPr indent="0" lvl="0" marL="0" rtl="0" algn="l">
                        <a:spcBef>
                          <a:spcPts val="0"/>
                        </a:spcBef>
                        <a:spcAft>
                          <a:spcPts val="0"/>
                        </a:spcAft>
                        <a:buNone/>
                      </a:pPr>
                      <a:r>
                        <a:rPr b="1" lang="pt-BR" sz="1200">
                          <a:latin typeface="Times New Roman"/>
                          <a:ea typeface="Times New Roman"/>
                          <a:cs typeface="Times New Roman"/>
                          <a:sym typeface="Times New Roman"/>
                        </a:rPr>
                        <a:t>   🗅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sz="1000">
                          <a:latin typeface="Times New Roman"/>
                          <a:ea typeface="Times New Roman"/>
                          <a:cs typeface="Times New Roman"/>
                          <a:sym typeface="Times New Roman"/>
                        </a:rPr>
                        <a:t> em revisão</a:t>
                      </a:r>
                      <a:endParaRPr sz="1000">
                        <a:latin typeface="Times New Roman"/>
                        <a:ea typeface="Times New Roman"/>
                        <a:cs typeface="Times New Roman"/>
                        <a:sym typeface="Times New Roman"/>
                      </a:endParaRPr>
                    </a:p>
                    <a:p>
                      <a:pPr indent="0" lvl="0" marL="0" rtl="0" algn="ctr">
                        <a:spcBef>
                          <a:spcPts val="0"/>
                        </a:spcBef>
                        <a:spcAft>
                          <a:spcPts val="0"/>
                        </a:spcAft>
                        <a:buNone/>
                      </a:pPr>
                      <a:r>
                        <a:rPr lang="pt-B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63500" marB="63500" marR="63500" marL="63500"/>
                </a:tc>
              </a:tr>
            </a:tbl>
          </a:graphicData>
        </a:graphic>
      </p:graphicFrame>
      <p:sp>
        <p:nvSpPr>
          <p:cNvPr id="817" name="Google Shape;817;p109"/>
          <p:cNvSpPr/>
          <p:nvPr/>
        </p:nvSpPr>
        <p:spPr>
          <a:xfrm>
            <a:off x="4329575" y="3812125"/>
            <a:ext cx="2181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8" name="Google Shape;818;p109"/>
          <p:cNvCxnSpPr/>
          <p:nvPr/>
        </p:nvCxnSpPr>
        <p:spPr>
          <a:xfrm>
            <a:off x="3344225" y="2578375"/>
            <a:ext cx="1090800" cy="12339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10"/>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600"/>
              <a:t>Exemplo 2</a:t>
            </a:r>
            <a:endParaRPr sz="3600"/>
          </a:p>
        </p:txBody>
      </p:sp>
      <p:sp>
        <p:nvSpPr>
          <p:cNvPr id="824" name="Google Shape;824;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1"/>
          <p:cNvSpPr txBox="1"/>
          <p:nvPr>
            <p:ph type="title"/>
          </p:nvPr>
        </p:nvSpPr>
        <p:spPr>
          <a:xfrm>
            <a:off x="235500" y="140225"/>
            <a:ext cx="3680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Ontem no final do dia</a:t>
            </a:r>
            <a:endParaRPr sz="1800"/>
          </a:p>
        </p:txBody>
      </p:sp>
      <p:sp>
        <p:nvSpPr>
          <p:cNvPr id="830" name="Google Shape;830;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31" name="Google Shape;831;p111"/>
          <p:cNvPicPr preferRelativeResize="0"/>
          <p:nvPr/>
        </p:nvPicPr>
        <p:blipFill>
          <a:blip r:embed="rId3">
            <a:alphaModFix/>
          </a:blip>
          <a:stretch>
            <a:fillRect/>
          </a:stretch>
        </p:blipFill>
        <p:spPr>
          <a:xfrm>
            <a:off x="152400" y="636725"/>
            <a:ext cx="6774627" cy="1444183"/>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12"/>
          <p:cNvSpPr txBox="1"/>
          <p:nvPr>
            <p:ph type="title"/>
          </p:nvPr>
        </p:nvSpPr>
        <p:spPr>
          <a:xfrm>
            <a:off x="235500" y="140225"/>
            <a:ext cx="3680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Ontem no final do dia</a:t>
            </a:r>
            <a:endParaRPr sz="1800"/>
          </a:p>
        </p:txBody>
      </p:sp>
      <p:sp>
        <p:nvSpPr>
          <p:cNvPr id="837" name="Google Shape;837;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38" name="Google Shape;838;p112"/>
          <p:cNvPicPr preferRelativeResize="0"/>
          <p:nvPr/>
        </p:nvPicPr>
        <p:blipFill>
          <a:blip r:embed="rId3">
            <a:alphaModFix/>
          </a:blip>
          <a:stretch>
            <a:fillRect/>
          </a:stretch>
        </p:blipFill>
        <p:spPr>
          <a:xfrm>
            <a:off x="152400" y="636725"/>
            <a:ext cx="6774627" cy="1444183"/>
          </a:xfrm>
          <a:prstGeom prst="rect">
            <a:avLst/>
          </a:prstGeom>
          <a:noFill/>
          <a:ln>
            <a:noFill/>
          </a:ln>
        </p:spPr>
      </p:pic>
      <p:sp>
        <p:nvSpPr>
          <p:cNvPr id="839" name="Google Shape;839;p112"/>
          <p:cNvSpPr txBox="1"/>
          <p:nvPr>
            <p:ph type="title"/>
          </p:nvPr>
        </p:nvSpPr>
        <p:spPr>
          <a:xfrm>
            <a:off x="159300" y="2273825"/>
            <a:ext cx="255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solidFill>
                  <a:srgbClr val="000000"/>
                </a:solidFill>
              </a:rPr>
              <a:t>Hoje no final do dia</a:t>
            </a:r>
            <a:endParaRPr sz="1800">
              <a:solidFill>
                <a:srgbClr val="000000"/>
              </a:solidFill>
            </a:endParaRPr>
          </a:p>
          <a:p>
            <a:pPr indent="0" lvl="0" marL="0" rtl="0" algn="l">
              <a:spcBef>
                <a:spcPts val="0"/>
              </a:spcBef>
              <a:spcAft>
                <a:spcPts val="0"/>
              </a:spcAft>
              <a:buNone/>
            </a:pPr>
            <a:r>
              <a:t/>
            </a:r>
            <a:endParaRPr sz="1800"/>
          </a:p>
        </p:txBody>
      </p:sp>
      <p:pic>
        <p:nvPicPr>
          <p:cNvPr id="840" name="Google Shape;840;p112"/>
          <p:cNvPicPr preferRelativeResize="0"/>
          <p:nvPr/>
        </p:nvPicPr>
        <p:blipFill>
          <a:blip r:embed="rId4">
            <a:alphaModFix/>
          </a:blip>
          <a:stretch>
            <a:fillRect/>
          </a:stretch>
        </p:blipFill>
        <p:spPr>
          <a:xfrm>
            <a:off x="258150" y="2830700"/>
            <a:ext cx="6532175" cy="162700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13"/>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3600"/>
              <a:t>Kanban: Limites WIP</a:t>
            </a:r>
            <a:endParaRPr b="1" sz="3600"/>
          </a:p>
        </p:txBody>
      </p:sp>
      <p:sp>
        <p:nvSpPr>
          <p:cNvPr id="846" name="Google Shape;846;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14"/>
          <p:cNvSpPr txBox="1"/>
          <p:nvPr>
            <p:ph type="title"/>
          </p:nvPr>
        </p:nvSpPr>
        <p:spPr>
          <a:xfrm>
            <a:off x="311700" y="292625"/>
            <a:ext cx="55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Limites WIP (Work in Progress)</a:t>
            </a:r>
            <a:endParaRPr/>
          </a:p>
        </p:txBody>
      </p:sp>
      <p:sp>
        <p:nvSpPr>
          <p:cNvPr id="852" name="Google Shape;852;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53" name="Google Shape;853;p114"/>
          <p:cNvPicPr preferRelativeResize="0"/>
          <p:nvPr/>
        </p:nvPicPr>
        <p:blipFill>
          <a:blip r:embed="rId3">
            <a:alphaModFix/>
          </a:blip>
          <a:stretch>
            <a:fillRect/>
          </a:stretch>
        </p:blipFill>
        <p:spPr>
          <a:xfrm>
            <a:off x="381000" y="1093925"/>
            <a:ext cx="6606272" cy="1620962"/>
          </a:xfrm>
          <a:prstGeom prst="rect">
            <a:avLst/>
          </a:prstGeom>
          <a:noFill/>
          <a:ln>
            <a:noFill/>
          </a:ln>
        </p:spPr>
      </p:pic>
      <p:sp>
        <p:nvSpPr>
          <p:cNvPr id="854" name="Google Shape;854;p114"/>
          <p:cNvSpPr/>
          <p:nvPr/>
        </p:nvSpPr>
        <p:spPr>
          <a:xfrm>
            <a:off x="4108150" y="13737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4"/>
          <p:cNvSpPr/>
          <p:nvPr/>
        </p:nvSpPr>
        <p:spPr>
          <a:xfrm>
            <a:off x="2050750" y="13737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14"/>
          <p:cNvSpPr/>
          <p:nvPr/>
        </p:nvSpPr>
        <p:spPr>
          <a:xfrm>
            <a:off x="5708350" y="13737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15"/>
          <p:cNvSpPr txBox="1"/>
          <p:nvPr>
            <p:ph type="title"/>
          </p:nvPr>
        </p:nvSpPr>
        <p:spPr>
          <a:xfrm>
            <a:off x="311700" y="292625"/>
            <a:ext cx="55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Limites WIP (Work in Progress)</a:t>
            </a:r>
            <a:endParaRPr/>
          </a:p>
        </p:txBody>
      </p:sp>
      <p:sp>
        <p:nvSpPr>
          <p:cNvPr id="862" name="Google Shape;862;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63" name="Google Shape;863;p115"/>
          <p:cNvPicPr preferRelativeResize="0"/>
          <p:nvPr/>
        </p:nvPicPr>
        <p:blipFill>
          <a:blip r:embed="rId3">
            <a:alphaModFix/>
          </a:blip>
          <a:stretch>
            <a:fillRect/>
          </a:stretch>
        </p:blipFill>
        <p:spPr>
          <a:xfrm>
            <a:off x="914400" y="2160725"/>
            <a:ext cx="6606272" cy="1620962"/>
          </a:xfrm>
          <a:prstGeom prst="rect">
            <a:avLst/>
          </a:prstGeom>
          <a:noFill/>
          <a:ln>
            <a:noFill/>
          </a:ln>
        </p:spPr>
      </p:pic>
      <p:sp>
        <p:nvSpPr>
          <p:cNvPr id="864" name="Google Shape;864;p115"/>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1000"/>
              </a:spcAft>
              <a:buSzPts val="2400"/>
              <a:buChar char="●"/>
            </a:pPr>
            <a:r>
              <a:rPr lang="pt-BR" sz="2400"/>
              <a:t>Número máximo de tarefas em um passo, contando tarefas em andamento e concluídas </a:t>
            </a:r>
            <a:endParaRPr sz="2400"/>
          </a:p>
        </p:txBody>
      </p:sp>
      <p:sp>
        <p:nvSpPr>
          <p:cNvPr id="865" name="Google Shape;865;p115"/>
          <p:cNvSpPr/>
          <p:nvPr/>
        </p:nvSpPr>
        <p:spPr>
          <a:xfrm>
            <a:off x="4641550" y="24405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6" name="Google Shape;866;p115"/>
          <p:cNvCxnSpPr/>
          <p:nvPr/>
        </p:nvCxnSpPr>
        <p:spPr>
          <a:xfrm flipH="1">
            <a:off x="3848800" y="3259550"/>
            <a:ext cx="229500" cy="1196400"/>
          </a:xfrm>
          <a:prstGeom prst="straightConnector1">
            <a:avLst/>
          </a:prstGeom>
          <a:noFill/>
          <a:ln cap="flat" cmpd="sng" w="9525">
            <a:solidFill>
              <a:schemeClr val="dk2"/>
            </a:solidFill>
            <a:prstDash val="solid"/>
            <a:round/>
            <a:headEnd len="med" w="med" type="none"/>
            <a:tailEnd len="med" w="med" type="triangle"/>
          </a:ln>
        </p:spPr>
      </p:cxnSp>
      <p:sp>
        <p:nvSpPr>
          <p:cNvPr id="867" name="Google Shape;867;p115"/>
          <p:cNvSpPr txBox="1"/>
          <p:nvPr/>
        </p:nvSpPr>
        <p:spPr>
          <a:xfrm>
            <a:off x="3623500" y="4399350"/>
            <a:ext cx="503400" cy="4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4</a:t>
            </a:r>
            <a:endParaRPr/>
          </a:p>
        </p:txBody>
      </p:sp>
      <p:cxnSp>
        <p:nvCxnSpPr>
          <p:cNvPr id="868" name="Google Shape;868;p115"/>
          <p:cNvCxnSpPr/>
          <p:nvPr/>
        </p:nvCxnSpPr>
        <p:spPr>
          <a:xfrm flipH="1">
            <a:off x="5068000" y="3259550"/>
            <a:ext cx="229500" cy="1196400"/>
          </a:xfrm>
          <a:prstGeom prst="straightConnector1">
            <a:avLst/>
          </a:prstGeom>
          <a:noFill/>
          <a:ln cap="flat" cmpd="sng" w="9525">
            <a:solidFill>
              <a:schemeClr val="dk2"/>
            </a:solidFill>
            <a:prstDash val="solid"/>
            <a:round/>
            <a:headEnd len="med" w="med" type="none"/>
            <a:tailEnd len="med" w="med" type="triangle"/>
          </a:ln>
        </p:spPr>
      </p:cxnSp>
      <p:sp>
        <p:nvSpPr>
          <p:cNvPr id="869" name="Google Shape;869;p115"/>
          <p:cNvSpPr txBox="1"/>
          <p:nvPr/>
        </p:nvSpPr>
        <p:spPr>
          <a:xfrm>
            <a:off x="4842700" y="4399350"/>
            <a:ext cx="503400" cy="4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0</a:t>
            </a:r>
            <a:endParaRPr/>
          </a:p>
        </p:txBody>
      </p:sp>
      <p:sp>
        <p:nvSpPr>
          <p:cNvPr id="870" name="Google Shape;870;p115"/>
          <p:cNvSpPr/>
          <p:nvPr/>
        </p:nvSpPr>
        <p:spPr>
          <a:xfrm>
            <a:off x="3623500" y="4497925"/>
            <a:ext cx="3321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5"/>
          <p:cNvSpPr/>
          <p:nvPr/>
        </p:nvSpPr>
        <p:spPr>
          <a:xfrm>
            <a:off x="4842700" y="4497925"/>
            <a:ext cx="3321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15"/>
          <p:cNvSpPr/>
          <p:nvPr/>
        </p:nvSpPr>
        <p:spPr>
          <a:xfrm>
            <a:off x="3318700" y="4380025"/>
            <a:ext cx="2091600" cy="572700"/>
          </a:xfrm>
          <a:prstGeom prst="ellipse">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1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Objetivos dos Limites WIP</a:t>
            </a:r>
            <a:endParaRPr/>
          </a:p>
        </p:txBody>
      </p:sp>
      <p:sp>
        <p:nvSpPr>
          <p:cNvPr id="878" name="Google Shape;878;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879" name="Google Shape;879;p116"/>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Criar um fluxo de trabalho sustentável</a:t>
            </a:r>
            <a:endParaRPr sz="2400"/>
          </a:p>
          <a:p>
            <a:pPr indent="-381000" lvl="0" marL="457200" marR="0" rtl="0" algn="l">
              <a:lnSpc>
                <a:spcPct val="114000"/>
              </a:lnSpc>
              <a:spcBef>
                <a:spcPts val="1000"/>
              </a:spcBef>
              <a:spcAft>
                <a:spcPts val="0"/>
              </a:spcAft>
              <a:buSzPts val="2400"/>
              <a:buChar char="●"/>
            </a:pPr>
            <a:r>
              <a:rPr lang="pt-BR" sz="2400"/>
              <a:t>Evitar que o time fique sobrecarregado de trabalho</a:t>
            </a:r>
            <a:endParaRPr sz="2400"/>
          </a:p>
          <a:p>
            <a:pPr indent="-381000" lvl="0" marL="457200" marR="0" rtl="0" algn="l">
              <a:lnSpc>
                <a:spcPct val="114000"/>
              </a:lnSpc>
              <a:spcBef>
                <a:spcPts val="1000"/>
              </a:spcBef>
              <a:spcAft>
                <a:spcPts val="0"/>
              </a:spcAft>
              <a:buSzPts val="2400"/>
              <a:buChar char="●"/>
            </a:pPr>
            <a:r>
              <a:rPr lang="pt-BR" sz="2400"/>
              <a:t>WIP = "acordo" entre o time e a organização</a:t>
            </a:r>
            <a:endParaRPr sz="2400"/>
          </a:p>
          <a:p>
            <a:pPr indent="-381000" lvl="0" marL="457200" marR="0" rtl="0" algn="l">
              <a:lnSpc>
                <a:spcPct val="114000"/>
              </a:lnSpc>
              <a:spcBef>
                <a:spcPts val="1000"/>
              </a:spcBef>
              <a:spcAft>
                <a:spcPts val="1000"/>
              </a:spcAft>
              <a:buSzPts val="2400"/>
              <a:buChar char="●"/>
            </a:pPr>
            <a:r>
              <a:rPr lang="pt-BR" sz="2400"/>
              <a:t>Capacidade de trabalho de um time</a:t>
            </a:r>
            <a:endParaRPr sz="240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17"/>
          <p:cNvSpPr txBox="1"/>
          <p:nvPr>
            <p:ph type="title"/>
          </p:nvPr>
        </p:nvSpPr>
        <p:spPr>
          <a:xfrm>
            <a:off x="311700" y="11308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000">
                <a:solidFill>
                  <a:schemeClr val="dk2"/>
                </a:solidFill>
              </a:rPr>
              <a:t>Frase comum em Kanban: </a:t>
            </a:r>
            <a:endParaRPr sz="30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pt-BR" sz="3000">
                <a:solidFill>
                  <a:schemeClr val="dk2"/>
                </a:solidFill>
                <a:highlight>
                  <a:srgbClr val="FFF2CC"/>
                </a:highlight>
              </a:rPr>
              <a:t>pare de começar e comece a terminar</a:t>
            </a:r>
            <a:endParaRPr sz="3600">
              <a:highlight>
                <a:srgbClr val="FFF2CC"/>
              </a:highlight>
            </a:endParaRPr>
          </a:p>
        </p:txBody>
      </p:sp>
      <p:sp>
        <p:nvSpPr>
          <p:cNvPr id="885" name="Google Shape;885;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18"/>
          <p:cNvSpPr txBox="1"/>
          <p:nvPr>
            <p:ph type="title"/>
          </p:nvPr>
        </p:nvSpPr>
        <p:spPr>
          <a:xfrm>
            <a:off x="311700" y="292625"/>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Mais um exemplo: Implementação no limite</a:t>
            </a:r>
            <a:endParaRPr/>
          </a:p>
        </p:txBody>
      </p:sp>
      <p:sp>
        <p:nvSpPr>
          <p:cNvPr id="891" name="Google Shape;891;p1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892" name="Google Shape;892;p118"/>
          <p:cNvGraphicFramePr/>
          <p:nvPr/>
        </p:nvGraphicFramePr>
        <p:xfrm>
          <a:off x="304800" y="1219200"/>
          <a:ext cx="3000000" cy="3000000"/>
        </p:xfrm>
        <a:graphic>
          <a:graphicData uri="http://schemas.openxmlformats.org/drawingml/2006/table">
            <a:tbl>
              <a:tblPr>
                <a:noFill/>
                <a:tableStyleId>{FF9D8034-3FCC-48F4-A0C0-902DE1BD5031}</a:tableStyleId>
              </a:tblPr>
              <a:tblGrid>
                <a:gridCol w="1017675"/>
                <a:gridCol w="587525"/>
                <a:gridCol w="1059650"/>
                <a:gridCol w="1059650"/>
                <a:gridCol w="818350"/>
                <a:gridCol w="1300950"/>
                <a:gridCol w="598025"/>
              </a:tblGrid>
              <a:tr h="448850">
                <a:tc>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Backlog</a:t>
                      </a:r>
                      <a:endParaRPr b="1">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Especificação (2)</a:t>
                      </a:r>
                      <a:endParaRPr b="1">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Implementação (5) </a:t>
                      </a:r>
                      <a:endParaRPr b="1">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Revisão (3)</a:t>
                      </a:r>
                      <a:endParaRPr b="1">
                        <a:latin typeface="Times New Roman"/>
                        <a:ea typeface="Times New Roman"/>
                        <a:cs typeface="Times New Roman"/>
                        <a:sym typeface="Times New Roman"/>
                      </a:endParaRPr>
                    </a:p>
                  </a:txBody>
                  <a:tcPr marT="63500" marB="63500" marR="63500" marL="63500"/>
                </a:tc>
                <a:tc hMerge="1"/>
              </a:tr>
              <a:tr h="964550">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a:latin typeface="Times New Roman"/>
                          <a:ea typeface="Times New Roman"/>
                          <a:cs typeface="Times New Roman"/>
                          <a:sym typeface="Times New Roman"/>
                        </a:rPr>
                        <a:t>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p>
                      <a:pPr indent="0" lvl="0" marL="0" rtl="0" algn="ctr">
                        <a:spcBef>
                          <a:spcPts val="0"/>
                        </a:spcBef>
                        <a:spcAft>
                          <a:spcPts val="0"/>
                        </a:spcAft>
                        <a:buNone/>
                      </a:pPr>
                      <a:r>
                        <a:rPr lang="pt-BR">
                          <a:latin typeface="Times New Roman"/>
                          <a:ea typeface="Times New Roman"/>
                          <a:cs typeface="Times New Roman"/>
                          <a:sym typeface="Times New Roman"/>
                        </a:rPr>
                        <a:t>X </a:t>
                      </a:r>
                      <a:endParaRPr>
                        <a:latin typeface="Times New Roman"/>
                        <a:ea typeface="Times New Roman"/>
                        <a:cs typeface="Times New Roman"/>
                        <a:sym typeface="Times New Roman"/>
                      </a:endParaRPr>
                    </a:p>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r>
            </a:tbl>
          </a:graphicData>
        </a:graphic>
      </p:graphicFrame>
      <p:sp>
        <p:nvSpPr>
          <p:cNvPr id="893" name="Google Shape;893;p118"/>
          <p:cNvSpPr txBox="1"/>
          <p:nvPr>
            <p:ph idx="1" type="body"/>
          </p:nvPr>
        </p:nvSpPr>
        <p:spPr>
          <a:xfrm>
            <a:off x="159300" y="28288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Logo, é o</a:t>
            </a:r>
            <a:r>
              <a:rPr lang="pt-BR" sz="2400"/>
              <a:t> momento de revisar algumas tarefas</a:t>
            </a:r>
            <a:endParaRPr sz="240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19"/>
          <p:cNvSpPr txBox="1"/>
          <p:nvPr>
            <p:ph type="title"/>
          </p:nvPr>
        </p:nvSpPr>
        <p:spPr>
          <a:xfrm>
            <a:off x="311700" y="292625"/>
            <a:ext cx="55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WIP do Passo de Especificação</a:t>
            </a:r>
            <a:endParaRPr/>
          </a:p>
        </p:txBody>
      </p:sp>
      <p:sp>
        <p:nvSpPr>
          <p:cNvPr id="899" name="Google Shape;899;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900" name="Google Shape;900;p119"/>
          <p:cNvPicPr preferRelativeResize="0"/>
          <p:nvPr/>
        </p:nvPicPr>
        <p:blipFill>
          <a:blip r:embed="rId3">
            <a:alphaModFix/>
          </a:blip>
          <a:stretch>
            <a:fillRect/>
          </a:stretch>
        </p:blipFill>
        <p:spPr>
          <a:xfrm>
            <a:off x="152400" y="2465525"/>
            <a:ext cx="6301169" cy="1546100"/>
          </a:xfrm>
          <a:prstGeom prst="rect">
            <a:avLst/>
          </a:prstGeom>
          <a:noFill/>
          <a:ln>
            <a:noFill/>
          </a:ln>
        </p:spPr>
      </p:pic>
      <p:sp>
        <p:nvSpPr>
          <p:cNvPr id="901" name="Google Shape;901;p119"/>
          <p:cNvSpPr txBox="1"/>
          <p:nvPr>
            <p:ph idx="1" type="body"/>
          </p:nvPr>
        </p:nvSpPr>
        <p:spPr>
          <a:xfrm>
            <a:off x="311700" y="8476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Número de histórias em especificação + número de grupos de tarefas especificadas (linhas do quadro)</a:t>
            </a:r>
            <a:endParaRPr sz="2400"/>
          </a:p>
          <a:p>
            <a:pPr indent="-381000" lvl="0" marL="457200" rtl="0" algn="l">
              <a:lnSpc>
                <a:spcPct val="114000"/>
              </a:lnSpc>
              <a:spcBef>
                <a:spcPts val="1000"/>
              </a:spcBef>
              <a:spcAft>
                <a:spcPts val="0"/>
              </a:spcAft>
              <a:buSzPts val="2400"/>
              <a:buChar char="●"/>
            </a:pPr>
            <a:r>
              <a:rPr lang="pt-BR" sz="2400"/>
              <a:t>Tarefas na mesma linha = resultantes da mesma história</a:t>
            </a:r>
            <a:endParaRPr sz="2400"/>
          </a:p>
          <a:p>
            <a:pPr indent="0" lvl="0" marL="914400" rtl="0" algn="l">
              <a:lnSpc>
                <a:spcPct val="114000"/>
              </a:lnSpc>
              <a:spcBef>
                <a:spcPts val="1000"/>
              </a:spcBef>
              <a:spcAft>
                <a:spcPts val="1000"/>
              </a:spcAft>
              <a:buNone/>
            </a:pPr>
            <a:r>
              <a:t/>
            </a:r>
            <a:endParaRPr sz="2400"/>
          </a:p>
        </p:txBody>
      </p:sp>
      <p:sp>
        <p:nvSpPr>
          <p:cNvPr id="902" name="Google Shape;902;p119"/>
          <p:cNvSpPr/>
          <p:nvPr/>
        </p:nvSpPr>
        <p:spPr>
          <a:xfrm>
            <a:off x="1669750" y="3145525"/>
            <a:ext cx="548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9"/>
          <p:cNvSpPr/>
          <p:nvPr/>
        </p:nvSpPr>
        <p:spPr>
          <a:xfrm>
            <a:off x="1593550" y="3354925"/>
            <a:ext cx="10443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4" name="Google Shape;904;p119"/>
          <p:cNvCxnSpPr/>
          <p:nvPr/>
        </p:nvCxnSpPr>
        <p:spPr>
          <a:xfrm flipH="1">
            <a:off x="755500" y="3716750"/>
            <a:ext cx="503400" cy="743400"/>
          </a:xfrm>
          <a:prstGeom prst="straightConnector1">
            <a:avLst/>
          </a:prstGeom>
          <a:noFill/>
          <a:ln cap="flat" cmpd="sng" w="9525">
            <a:solidFill>
              <a:schemeClr val="dk2"/>
            </a:solidFill>
            <a:prstDash val="solid"/>
            <a:round/>
            <a:headEnd len="med" w="med" type="none"/>
            <a:tailEnd len="med" w="med" type="triangle"/>
          </a:ln>
        </p:spPr>
      </p:cxnSp>
      <p:cxnSp>
        <p:nvCxnSpPr>
          <p:cNvPr id="905" name="Google Shape;905;p119"/>
          <p:cNvCxnSpPr/>
          <p:nvPr/>
        </p:nvCxnSpPr>
        <p:spPr>
          <a:xfrm>
            <a:off x="2325700" y="3640550"/>
            <a:ext cx="191700" cy="803400"/>
          </a:xfrm>
          <a:prstGeom prst="straightConnector1">
            <a:avLst/>
          </a:prstGeom>
          <a:noFill/>
          <a:ln cap="flat" cmpd="sng" w="9525">
            <a:solidFill>
              <a:schemeClr val="dk2"/>
            </a:solidFill>
            <a:prstDash val="solid"/>
            <a:round/>
            <a:headEnd len="med" w="med" type="none"/>
            <a:tailEnd len="med" w="med" type="triangle"/>
          </a:ln>
        </p:spPr>
      </p:cxnSp>
      <p:cxnSp>
        <p:nvCxnSpPr>
          <p:cNvPr id="906" name="Google Shape;906;p119"/>
          <p:cNvCxnSpPr/>
          <p:nvPr/>
        </p:nvCxnSpPr>
        <p:spPr>
          <a:xfrm flipH="1">
            <a:off x="1486600" y="3335750"/>
            <a:ext cx="229500" cy="1196400"/>
          </a:xfrm>
          <a:prstGeom prst="straightConnector1">
            <a:avLst/>
          </a:prstGeom>
          <a:noFill/>
          <a:ln cap="flat" cmpd="sng" w="9525">
            <a:solidFill>
              <a:schemeClr val="dk2"/>
            </a:solidFill>
            <a:prstDash val="solid"/>
            <a:round/>
            <a:headEnd len="med" w="med" type="none"/>
            <a:tailEnd len="med" w="med" type="triangle"/>
          </a:ln>
        </p:spPr>
      </p:cxnSp>
      <p:sp>
        <p:nvSpPr>
          <p:cNvPr id="907" name="Google Shape;907;p119"/>
          <p:cNvSpPr txBox="1"/>
          <p:nvPr/>
        </p:nvSpPr>
        <p:spPr>
          <a:xfrm>
            <a:off x="575500" y="4399350"/>
            <a:ext cx="503400" cy="4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0</a:t>
            </a:r>
            <a:endParaRPr/>
          </a:p>
        </p:txBody>
      </p:sp>
      <p:sp>
        <p:nvSpPr>
          <p:cNvPr id="908" name="Google Shape;908;p119"/>
          <p:cNvSpPr txBox="1"/>
          <p:nvPr/>
        </p:nvSpPr>
        <p:spPr>
          <a:xfrm>
            <a:off x="1261300" y="4475550"/>
            <a:ext cx="503400" cy="4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+1</a:t>
            </a:r>
            <a:endParaRPr/>
          </a:p>
        </p:txBody>
      </p:sp>
      <p:sp>
        <p:nvSpPr>
          <p:cNvPr id="909" name="Google Shape;909;p119"/>
          <p:cNvSpPr txBox="1"/>
          <p:nvPr/>
        </p:nvSpPr>
        <p:spPr>
          <a:xfrm>
            <a:off x="2328100" y="4399350"/>
            <a:ext cx="503400" cy="4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+1</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20"/>
          <p:cNvSpPr txBox="1"/>
          <p:nvPr>
            <p:ph type="title"/>
          </p:nvPr>
        </p:nvSpPr>
        <p:spPr>
          <a:xfrm>
            <a:off x="311700" y="292625"/>
            <a:ext cx="55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WIP de Revisão de Código</a:t>
            </a:r>
            <a:endParaRPr/>
          </a:p>
        </p:txBody>
      </p:sp>
      <p:sp>
        <p:nvSpPr>
          <p:cNvPr id="915" name="Google Shape;915;p120"/>
          <p:cNvSpPr txBox="1"/>
          <p:nvPr>
            <p:ph idx="12" type="sldNum"/>
          </p:nvPr>
        </p:nvSpPr>
        <p:spPr>
          <a:xfrm>
            <a:off x="90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916" name="Google Shape;916;p120"/>
          <p:cNvPicPr preferRelativeResize="0"/>
          <p:nvPr/>
        </p:nvPicPr>
        <p:blipFill>
          <a:blip r:embed="rId3">
            <a:alphaModFix/>
          </a:blip>
          <a:stretch>
            <a:fillRect/>
          </a:stretch>
        </p:blipFill>
        <p:spPr>
          <a:xfrm>
            <a:off x="152400" y="1703525"/>
            <a:ext cx="6606272" cy="1620962"/>
          </a:xfrm>
          <a:prstGeom prst="rect">
            <a:avLst/>
          </a:prstGeom>
          <a:noFill/>
          <a:ln>
            <a:noFill/>
          </a:ln>
        </p:spPr>
      </p:pic>
      <p:sp>
        <p:nvSpPr>
          <p:cNvPr id="917" name="Google Shape;917;p120"/>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Conta apenas tarefas na primeira coluna (em revisão)</a:t>
            </a:r>
            <a:endParaRPr sz="2400"/>
          </a:p>
          <a:p>
            <a:pPr indent="0" lvl="0" marL="914400" rtl="0" algn="l">
              <a:lnSpc>
                <a:spcPct val="114000"/>
              </a:lnSpc>
              <a:spcBef>
                <a:spcPts val="1000"/>
              </a:spcBef>
              <a:spcAft>
                <a:spcPts val="1000"/>
              </a:spcAft>
              <a:buNone/>
            </a:pPr>
            <a:r>
              <a:t/>
            </a:r>
            <a:endParaRPr sz="2400"/>
          </a:p>
        </p:txBody>
      </p:sp>
      <p:sp>
        <p:nvSpPr>
          <p:cNvPr id="918" name="Google Shape;918;p120"/>
          <p:cNvSpPr/>
          <p:nvPr/>
        </p:nvSpPr>
        <p:spPr>
          <a:xfrm>
            <a:off x="5479750" y="1983325"/>
            <a:ext cx="227700" cy="275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9" name="Google Shape;919;p120"/>
          <p:cNvCxnSpPr/>
          <p:nvPr/>
        </p:nvCxnSpPr>
        <p:spPr>
          <a:xfrm flipH="1">
            <a:off x="4610725" y="2667800"/>
            <a:ext cx="920700" cy="1178700"/>
          </a:xfrm>
          <a:prstGeom prst="straightConnector1">
            <a:avLst/>
          </a:prstGeom>
          <a:noFill/>
          <a:ln cap="flat" cmpd="sng" w="9525">
            <a:solidFill>
              <a:schemeClr val="dk2"/>
            </a:solidFill>
            <a:prstDash val="solid"/>
            <a:round/>
            <a:headEnd len="med" w="med" type="none"/>
            <a:tailEnd len="med" w="med" type="triangle"/>
          </a:ln>
        </p:spPr>
      </p:cxnSp>
      <p:sp>
        <p:nvSpPr>
          <p:cNvPr id="920" name="Google Shape;920;p120"/>
          <p:cNvSpPr/>
          <p:nvPr/>
        </p:nvSpPr>
        <p:spPr>
          <a:xfrm>
            <a:off x="4156900" y="3922825"/>
            <a:ext cx="835800" cy="393600"/>
          </a:xfrm>
          <a:prstGeom prst="ellipse">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1</a:t>
            </a:r>
            <a:endParaRPr/>
          </a:p>
        </p:txBody>
      </p:sp>
      <p:cxnSp>
        <p:nvCxnSpPr>
          <p:cNvPr id="921" name="Google Shape;921;p120"/>
          <p:cNvCxnSpPr/>
          <p:nvPr/>
        </p:nvCxnSpPr>
        <p:spPr>
          <a:xfrm flipH="1">
            <a:off x="5651200" y="2841450"/>
            <a:ext cx="867900" cy="1241100"/>
          </a:xfrm>
          <a:prstGeom prst="straightConnector1">
            <a:avLst/>
          </a:prstGeom>
          <a:noFill/>
          <a:ln cap="flat" cmpd="sng" w="9525">
            <a:solidFill>
              <a:schemeClr val="dk2"/>
            </a:solidFill>
            <a:prstDash val="solid"/>
            <a:round/>
            <a:headEnd len="med" w="med" type="none"/>
            <a:tailEnd len="med" w="med" type="triangle"/>
          </a:ln>
        </p:spPr>
      </p:cxnSp>
      <p:sp>
        <p:nvSpPr>
          <p:cNvPr id="922" name="Google Shape;922;p120"/>
          <p:cNvSpPr txBox="1"/>
          <p:nvPr/>
        </p:nvSpPr>
        <p:spPr>
          <a:xfrm>
            <a:off x="5014607" y="4088347"/>
            <a:ext cx="17298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t>Não contam para </a:t>
            </a:r>
            <a:endParaRPr/>
          </a:p>
          <a:p>
            <a:pPr indent="0" lvl="0" marL="0" rtl="0" algn="ctr">
              <a:spcBef>
                <a:spcPts val="0"/>
              </a:spcBef>
              <a:spcAft>
                <a:spcPts val="0"/>
              </a:spcAft>
              <a:buNone/>
            </a:pPr>
            <a:r>
              <a:rPr lang="pt-BR"/>
              <a:t>fins de WIP</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2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Comentários Finais sobre Kanban</a:t>
            </a:r>
            <a:endParaRPr/>
          </a:p>
        </p:txBody>
      </p:sp>
      <p:sp>
        <p:nvSpPr>
          <p:cNvPr id="928" name="Google Shape;928;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929" name="Google Shape;929;p121"/>
          <p:cNvSpPr txBox="1"/>
          <p:nvPr>
            <p:ph idx="1" type="body"/>
          </p:nvPr>
        </p:nvSpPr>
        <p:spPr>
          <a:xfrm>
            <a:off x="311700" y="923875"/>
            <a:ext cx="87636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pt-BR" sz="2400"/>
              <a:t>Kanban é mais simples do que Scrum</a:t>
            </a:r>
            <a:endParaRPr sz="2400"/>
          </a:p>
          <a:p>
            <a:pPr indent="-381000" lvl="0" marL="457200" rtl="0" algn="l">
              <a:lnSpc>
                <a:spcPct val="114000"/>
              </a:lnSpc>
              <a:spcBef>
                <a:spcPts val="1000"/>
              </a:spcBef>
              <a:spcAft>
                <a:spcPts val="0"/>
              </a:spcAft>
              <a:buSzPts val="2400"/>
              <a:buChar char="●"/>
            </a:pPr>
            <a:r>
              <a:rPr lang="pt-BR" sz="2400"/>
              <a:t>Kanban é mais adequado para times maduros</a:t>
            </a:r>
            <a:endParaRPr sz="2400"/>
          </a:p>
          <a:p>
            <a:pPr indent="-381000" lvl="0" marL="457200" rtl="0" algn="l">
              <a:lnSpc>
                <a:spcPct val="114000"/>
              </a:lnSpc>
              <a:spcBef>
                <a:spcPts val="1000"/>
              </a:spcBef>
              <a:spcAft>
                <a:spcPts val="1000"/>
              </a:spcAft>
              <a:buSzPts val="2400"/>
              <a:buChar char="●"/>
            </a:pPr>
            <a:r>
              <a:rPr lang="pt-BR" sz="2400"/>
              <a:t>Talvez, começar com Scrum e depois ir para Kanban</a:t>
            </a:r>
            <a:endParaRPr sz="2400"/>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sz="3200"/>
              <a:t>Exercícios sobre Kanban</a:t>
            </a:r>
            <a:endParaRPr b="1" sz="3200"/>
          </a:p>
          <a:p>
            <a:pPr indent="0" lvl="0" marL="0" rtl="0" algn="ctr">
              <a:spcBef>
                <a:spcPts val="0"/>
              </a:spcBef>
              <a:spcAft>
                <a:spcPts val="0"/>
              </a:spcAft>
              <a:buNone/>
            </a:pPr>
            <a:r>
              <a:t/>
            </a:r>
            <a:endParaRPr/>
          </a:p>
          <a:p>
            <a:pPr indent="0" lvl="0" marL="0" rtl="0" algn="ctr">
              <a:spcBef>
                <a:spcPts val="0"/>
              </a:spcBef>
              <a:spcAft>
                <a:spcPts val="0"/>
              </a:spcAft>
              <a:buNone/>
            </a:pPr>
            <a:r>
              <a:t/>
            </a:r>
            <a:endParaRPr sz="1800"/>
          </a:p>
        </p:txBody>
      </p:sp>
      <p:sp>
        <p:nvSpPr>
          <p:cNvPr id="935" name="Google Shape;935;p12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23"/>
          <p:cNvSpPr txBox="1"/>
          <p:nvPr>
            <p:ph type="title"/>
          </p:nvPr>
        </p:nvSpPr>
        <p:spPr>
          <a:xfrm>
            <a:off x="311700" y="292625"/>
            <a:ext cx="836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400">
                <a:solidFill>
                  <a:schemeClr val="dk2"/>
                </a:solidFill>
              </a:rPr>
              <a:t>1. </a:t>
            </a:r>
            <a:r>
              <a:rPr lang="pt-BR" sz="2400">
                <a:solidFill>
                  <a:schemeClr val="dk2"/>
                </a:solidFill>
              </a:rPr>
              <a:t>Qual é o erro que existe no seguinte quadro Kanban?</a:t>
            </a:r>
            <a:r>
              <a:rPr lang="pt-BR"/>
              <a:t> </a:t>
            </a:r>
            <a:endParaRPr/>
          </a:p>
        </p:txBody>
      </p:sp>
      <p:sp>
        <p:nvSpPr>
          <p:cNvPr id="941" name="Google Shape;941;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942" name="Google Shape;942;p123"/>
          <p:cNvGraphicFramePr/>
          <p:nvPr/>
        </p:nvGraphicFramePr>
        <p:xfrm>
          <a:off x="990600" y="1219200"/>
          <a:ext cx="3000000" cy="3000000"/>
        </p:xfrm>
        <a:graphic>
          <a:graphicData uri="http://schemas.openxmlformats.org/drawingml/2006/table">
            <a:tbl>
              <a:tblPr>
                <a:noFill/>
                <a:tableStyleId>{FF9D8034-3FCC-48F4-A0C0-902DE1BD5031}</a:tableStyleId>
              </a:tblPr>
              <a:tblGrid>
                <a:gridCol w="1017675"/>
                <a:gridCol w="587525"/>
                <a:gridCol w="1059650"/>
                <a:gridCol w="1059650"/>
                <a:gridCol w="818350"/>
                <a:gridCol w="1300950"/>
                <a:gridCol w="598025"/>
              </a:tblGrid>
              <a:tr h="448850">
                <a:tc>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Backlog</a:t>
                      </a:r>
                      <a:endParaRPr b="1">
                        <a:latin typeface="Times New Roman"/>
                        <a:ea typeface="Times New Roman"/>
                        <a:cs typeface="Times New Roman"/>
                        <a:sym typeface="Times New Roman"/>
                      </a:endParaRPr>
                    </a:p>
                  </a:txBody>
                  <a:tcPr marT="63500" marB="63500" marR="63500" marL="63500"/>
                </a:tc>
                <a:tc gridSpan="2">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Especificação (2)</a:t>
                      </a:r>
                      <a:endParaRPr b="1">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Implementação (5) </a:t>
                      </a:r>
                      <a:endParaRPr b="1">
                        <a:latin typeface="Times New Roman"/>
                        <a:ea typeface="Times New Roman"/>
                        <a:cs typeface="Times New Roman"/>
                        <a:sym typeface="Times New Roman"/>
                      </a:endParaRPr>
                    </a:p>
                  </a:txBody>
                  <a:tcPr marT="63500" marB="63500" marR="63500" marL="63500"/>
                </a:tc>
                <a:tc hMerge="1"/>
                <a:tc gridSpan="2">
                  <a:txBody>
                    <a:bodyPr/>
                    <a:lstStyle/>
                    <a:p>
                      <a:pPr indent="0" lvl="0" marL="0" rtl="0" algn="ctr">
                        <a:spcBef>
                          <a:spcPts val="0"/>
                        </a:spcBef>
                        <a:spcAft>
                          <a:spcPts val="0"/>
                        </a:spcAft>
                        <a:buNone/>
                      </a:pPr>
                      <a:r>
                        <a:rPr b="1" lang="pt-BR">
                          <a:latin typeface="Times New Roman"/>
                          <a:ea typeface="Times New Roman"/>
                          <a:cs typeface="Times New Roman"/>
                          <a:sym typeface="Times New Roman"/>
                        </a:rPr>
                        <a:t>Validação (3)</a:t>
                      </a:r>
                      <a:endParaRPr b="1">
                        <a:latin typeface="Times New Roman"/>
                        <a:ea typeface="Times New Roman"/>
                        <a:cs typeface="Times New Roman"/>
                        <a:sym typeface="Times New Roman"/>
                      </a:endParaRPr>
                    </a:p>
                  </a:txBody>
                  <a:tcPr marT="63500" marB="63500" marR="63500" marL="63500"/>
                </a:tc>
                <a:tc hMerge="1"/>
              </a:tr>
              <a:tr h="964550">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a:latin typeface="Times New Roman"/>
                          <a:ea typeface="Times New Roman"/>
                          <a:cs typeface="Times New Roman"/>
                          <a:sym typeface="Times New Roman"/>
                        </a:rPr>
                        <a:t>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pt-BR">
                          <a:latin typeface="Times New Roman"/>
                          <a:ea typeface="Times New Roman"/>
                          <a:cs typeface="Times New Roman"/>
                          <a:sym typeface="Times New Roman"/>
                        </a:rPr>
                        <a:t>X</a:t>
                      </a:r>
                      <a:endParaRPr>
                        <a:latin typeface="Times New Roman"/>
                        <a:ea typeface="Times New Roman"/>
                        <a:cs typeface="Times New Roman"/>
                        <a:sym typeface="Times New Roman"/>
                      </a:endParaRPr>
                    </a:p>
                    <a:p>
                      <a:pPr indent="0" lvl="0" marL="0" rtl="0" algn="ctr">
                        <a:spcBef>
                          <a:spcPts val="0"/>
                        </a:spcBef>
                        <a:spcAft>
                          <a:spcPts val="0"/>
                        </a:spcAft>
                        <a:buNone/>
                      </a:pPr>
                      <a:r>
                        <a:rPr lang="pt-BR">
                          <a:latin typeface="Times New Roman"/>
                          <a:ea typeface="Times New Roman"/>
                          <a:cs typeface="Times New Roman"/>
                          <a:sym typeface="Times New Roman"/>
                        </a:rPr>
                        <a:t>X </a:t>
                      </a:r>
                      <a:endParaRPr>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lang="pt-BR">
                          <a:solidFill>
                            <a:schemeClr val="dk1"/>
                          </a:solidFill>
                          <a:latin typeface="Times New Roman"/>
                          <a:ea typeface="Times New Roman"/>
                          <a:cs typeface="Times New Roman"/>
                          <a:sym typeface="Times New Roman"/>
                        </a:rPr>
                        <a:t>X</a:t>
                      </a:r>
                      <a:endParaRPr>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948" name="Google Shape;948;p124"/>
          <p:cNvSpPr txBox="1"/>
          <p:nvPr>
            <p:ph idx="1" type="body"/>
          </p:nvPr>
        </p:nvSpPr>
        <p:spPr>
          <a:xfrm>
            <a:off x="311700" y="161875"/>
            <a:ext cx="8520600" cy="8205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0"/>
              </a:spcAft>
              <a:buNone/>
            </a:pPr>
            <a:r>
              <a:rPr lang="pt-BR" sz="2400"/>
              <a:t>2. É possível voltar com o cartão em um quadro Kanban? Se sim, descreva uma situação na qual isso pode ocorrer.</a:t>
            </a:r>
            <a:endParaRPr sz="2400"/>
          </a:p>
          <a:p>
            <a:pPr indent="0" lvl="0" marL="0" rtl="0" algn="l">
              <a:lnSpc>
                <a:spcPct val="114000"/>
              </a:lnSpc>
              <a:spcBef>
                <a:spcPts val="1500"/>
              </a:spcBef>
              <a:spcAft>
                <a:spcPts val="0"/>
              </a:spcAft>
              <a:buNone/>
            </a:pPr>
            <a:r>
              <a:rPr lang="pt-BR" sz="2400"/>
              <a:t>3. Um dos problemas comuns em times de software é o excesso de trabalho. Como Kanban pode ajudar a resolver esse problema?</a:t>
            </a:r>
            <a:endParaRPr sz="2400"/>
          </a:p>
          <a:p>
            <a:pPr indent="0" lvl="0" marL="0" rtl="0" algn="l">
              <a:lnSpc>
                <a:spcPct val="114000"/>
              </a:lnSpc>
              <a:spcBef>
                <a:spcPts val="1500"/>
              </a:spcBef>
              <a:spcAft>
                <a:spcPts val="0"/>
              </a:spcAft>
              <a:buNone/>
            </a:pPr>
            <a:r>
              <a:rPr lang="pt-BR" sz="2400"/>
              <a:t>4. Um outro problema em times de software são desenvolvedores que "correm" para entregar histórias, mas sem o devido nível de qualidade. Como Kanban pode ajudar a resolver esse problema?</a:t>
            </a:r>
            <a:endParaRPr sz="2400"/>
          </a:p>
          <a:p>
            <a:pPr indent="0" lvl="0" marL="0" rtl="0" algn="l">
              <a:lnSpc>
                <a:spcPct val="114000"/>
              </a:lnSpc>
              <a:spcBef>
                <a:spcPts val="1500"/>
              </a:spcBef>
              <a:spcAft>
                <a:spcPts val="0"/>
              </a:spcAft>
              <a:buNone/>
            </a:pPr>
            <a:r>
              <a:t/>
            </a:r>
            <a:endParaRPr sz="2400"/>
          </a:p>
          <a:p>
            <a:pPr indent="0" lvl="0" marL="0" rtl="0" algn="l">
              <a:lnSpc>
                <a:spcPct val="114000"/>
              </a:lnSpc>
              <a:spcBef>
                <a:spcPts val="1000"/>
              </a:spcBef>
              <a:spcAft>
                <a:spcPts val="1000"/>
              </a:spcAft>
              <a:buNone/>
            </a:pPr>
            <a:r>
              <a:t/>
            </a:r>
            <a:endParaRPr sz="2400"/>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Antes de concluir</a:t>
            </a:r>
            <a:endParaRPr/>
          </a:p>
        </p:txBody>
      </p:sp>
      <p:sp>
        <p:nvSpPr>
          <p:cNvPr id="954" name="Google Shape;954;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955" name="Google Shape;955;p125"/>
          <p:cNvSpPr txBox="1"/>
          <p:nvPr>
            <p:ph idx="1" type="body"/>
          </p:nvPr>
        </p:nvSpPr>
        <p:spPr>
          <a:xfrm>
            <a:off x="311700" y="1076275"/>
            <a:ext cx="8520600" cy="3073200"/>
          </a:xfrm>
          <a:prstGeom prst="rect">
            <a:avLst/>
          </a:prstGeom>
        </p:spPr>
        <p:txBody>
          <a:bodyPr anchorCtr="0" anchor="t" bIns="91425" lIns="91425" spcFirstLastPara="1" rIns="91425" wrap="square" tIns="91425">
            <a:noAutofit/>
          </a:bodyPr>
          <a:lstStyle/>
          <a:p>
            <a:pPr indent="-381000" lvl="0" marL="457200" marR="0" rtl="0" algn="l">
              <a:lnSpc>
                <a:spcPct val="114000"/>
              </a:lnSpc>
              <a:spcBef>
                <a:spcPts val="0"/>
              </a:spcBef>
              <a:spcAft>
                <a:spcPts val="0"/>
              </a:spcAft>
              <a:buSzPts val="2400"/>
              <a:buChar char="●"/>
            </a:pPr>
            <a:r>
              <a:rPr lang="pt-BR" sz="2400"/>
              <a:t>Processos não são adotados 100% igual ao manual</a:t>
            </a:r>
            <a:endParaRPr sz="2400"/>
          </a:p>
          <a:p>
            <a:pPr indent="-381000" lvl="1" marL="914400" marR="0" rtl="0" algn="l">
              <a:lnSpc>
                <a:spcPct val="114000"/>
              </a:lnSpc>
              <a:spcBef>
                <a:spcPts val="1000"/>
              </a:spcBef>
              <a:spcAft>
                <a:spcPts val="0"/>
              </a:spcAft>
              <a:buSzPts val="2400"/>
              <a:buChar char="○"/>
            </a:pPr>
            <a:r>
              <a:rPr lang="pt-BR" sz="2400"/>
              <a:t>Bom senso é importante</a:t>
            </a:r>
            <a:endParaRPr sz="2400"/>
          </a:p>
          <a:p>
            <a:pPr indent="-381000" lvl="1" marL="914400" marR="0" rtl="0" algn="l">
              <a:lnSpc>
                <a:spcPct val="114000"/>
              </a:lnSpc>
              <a:spcBef>
                <a:spcPts val="1000"/>
              </a:spcBef>
              <a:spcAft>
                <a:spcPts val="0"/>
              </a:spcAft>
              <a:buSzPts val="2400"/>
              <a:buChar char="○"/>
            </a:pPr>
            <a:r>
              <a:rPr lang="pt-BR" sz="2400"/>
              <a:t>Experimentação é importante</a:t>
            </a:r>
            <a:endParaRPr sz="2400"/>
          </a:p>
          <a:p>
            <a:pPr indent="0" lvl="0" marL="0" marR="0" rtl="0" algn="l">
              <a:lnSpc>
                <a:spcPct val="114000"/>
              </a:lnSpc>
              <a:spcBef>
                <a:spcPts val="1000"/>
              </a:spcBef>
              <a:spcAft>
                <a:spcPts val="1000"/>
              </a:spcAft>
              <a:buNone/>
            </a:pPr>
            <a:r>
              <a:t/>
            </a:r>
            <a:endParaRPr sz="2400"/>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sz="3200"/>
              <a:t>Exercícios</a:t>
            </a:r>
            <a:endParaRPr sz="3200"/>
          </a:p>
          <a:p>
            <a:pPr indent="0" lvl="0" marL="0" rtl="0" algn="ctr">
              <a:spcBef>
                <a:spcPts val="0"/>
              </a:spcBef>
              <a:spcAft>
                <a:spcPts val="0"/>
              </a:spcAft>
              <a:buNone/>
            </a:pPr>
            <a:r>
              <a:t/>
            </a:r>
            <a:endParaRPr/>
          </a:p>
          <a:p>
            <a:pPr indent="0" lvl="0" marL="0" rtl="0" algn="ctr">
              <a:spcBef>
                <a:spcPts val="0"/>
              </a:spcBef>
              <a:spcAft>
                <a:spcPts val="0"/>
              </a:spcAft>
              <a:buNone/>
            </a:pPr>
            <a:r>
              <a:t/>
            </a:r>
            <a:endParaRPr sz="1800"/>
          </a:p>
        </p:txBody>
      </p:sp>
      <p:sp>
        <p:nvSpPr>
          <p:cNvPr id="961" name="Google Shape;961;p12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27"/>
          <p:cNvSpPr txBox="1"/>
          <p:nvPr>
            <p:ph idx="1" type="body"/>
          </p:nvPr>
        </p:nvSpPr>
        <p:spPr>
          <a:xfrm>
            <a:off x="235500" y="85675"/>
            <a:ext cx="8520600" cy="1178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pt-BR" sz="2000"/>
              <a:t>1</a:t>
            </a:r>
            <a:r>
              <a:rPr lang="pt-BR" sz="2000"/>
              <a:t>. O seguinte slide resume métodos ágeis em três áreas: processos, excelência técnica e cultura. No entanto, em cada uma delas, existe uma característica que NÃO é compatível com os princípios de agilidade. Indique tais características.</a:t>
            </a:r>
            <a:endParaRPr sz="2000"/>
          </a:p>
        </p:txBody>
      </p:sp>
      <p:sp>
        <p:nvSpPr>
          <p:cNvPr id="967" name="Google Shape;967;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968" name="Google Shape;968;p127"/>
          <p:cNvPicPr preferRelativeResize="0"/>
          <p:nvPr/>
        </p:nvPicPr>
        <p:blipFill>
          <a:blip r:embed="rId3">
            <a:alphaModFix/>
          </a:blip>
          <a:stretch>
            <a:fillRect/>
          </a:stretch>
        </p:blipFill>
        <p:spPr>
          <a:xfrm>
            <a:off x="1524450" y="1627475"/>
            <a:ext cx="6096600" cy="3429350"/>
          </a:xfrm>
          <a:prstGeom prst="rect">
            <a:avLst/>
          </a:prstGeom>
          <a:noFill/>
          <a:ln cap="flat" cmpd="sng" w="9525">
            <a:solidFill>
              <a:schemeClr val="dk2"/>
            </a:solidFill>
            <a:prstDash val="solid"/>
            <a:round/>
            <a:headEnd len="sm" w="sm" type="none"/>
            <a:tailEnd len="sm" w="sm" type="none"/>
          </a:ln>
        </p:spPr>
      </p:pic>
      <p:sp>
        <p:nvSpPr>
          <p:cNvPr id="969" name="Google Shape;969;p127"/>
          <p:cNvSpPr/>
          <p:nvPr/>
        </p:nvSpPr>
        <p:spPr>
          <a:xfrm>
            <a:off x="1751925" y="4794650"/>
            <a:ext cx="1051200" cy="2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28"/>
          <p:cNvSpPr txBox="1"/>
          <p:nvPr>
            <p:ph idx="1" type="body"/>
          </p:nvPr>
        </p:nvSpPr>
        <p:spPr>
          <a:xfrm>
            <a:off x="173525" y="161125"/>
            <a:ext cx="8658900" cy="440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000"/>
              <a:t>2</a:t>
            </a:r>
            <a:r>
              <a:rPr lang="pt-BR" sz="2000"/>
              <a:t>. Suponha que você trabalha em um Banco X e ficou encarregado pela implantação do PIX no mesmo. Então, sua primeira decisão foi montar um squad para ficar responsável por essa funcionalidade. Você decidiu também que esse squad deveria usar Scrum. Responda então:</a:t>
            </a:r>
            <a:endParaRPr sz="2000"/>
          </a:p>
          <a:p>
            <a:pPr indent="0" lvl="0" marL="0" rtl="0" algn="l">
              <a:spcBef>
                <a:spcPts val="1600"/>
              </a:spcBef>
              <a:spcAft>
                <a:spcPts val="0"/>
              </a:spcAft>
              <a:buClr>
                <a:schemeClr val="dk1"/>
              </a:buClr>
              <a:buSzPts val="1100"/>
              <a:buFont typeface="Arial"/>
              <a:buNone/>
            </a:pPr>
            <a:r>
              <a:rPr lang="pt-BR" sz="2000"/>
              <a:t>(a) Quais profissionais você deve contratar ou convidar para esse squad? Qual a responsabilidade deles?</a:t>
            </a:r>
            <a:endParaRPr sz="2000"/>
          </a:p>
          <a:p>
            <a:pPr indent="0" lvl="0" marL="0" rtl="0" algn="l">
              <a:spcBef>
                <a:spcPts val="1600"/>
              </a:spcBef>
              <a:spcAft>
                <a:spcPts val="0"/>
              </a:spcAft>
              <a:buClr>
                <a:schemeClr val="dk1"/>
              </a:buClr>
              <a:buSzPts val="1100"/>
              <a:buFont typeface="Arial"/>
              <a:buNone/>
            </a:pPr>
            <a:r>
              <a:rPr lang="pt-BR" sz="2000"/>
              <a:t>(b) Suponha que o projeto foi concluído com sucesso. Meses depois, o Banco Central baixou a seguinte regra: transferências via PIX entre 20:00 e 06:00 devem obedecer ao limite de R$ 1.000,00. Qual seria o papel de cada membro do time na implementação dessa nova regra? Descreva de forma simplificada.</a:t>
            </a:r>
            <a:endParaRPr sz="2000"/>
          </a:p>
          <a:p>
            <a:pPr indent="0" lvl="0" marL="0" rtl="0" algn="l">
              <a:spcBef>
                <a:spcPts val="1600"/>
              </a:spcBef>
              <a:spcAft>
                <a:spcPts val="1600"/>
              </a:spcAft>
              <a:buNone/>
            </a:pPr>
            <a:r>
              <a:t/>
            </a:r>
            <a:endParaRPr/>
          </a:p>
        </p:txBody>
      </p:sp>
      <p:sp>
        <p:nvSpPr>
          <p:cNvPr id="975" name="Google Shape;975;p1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29"/>
          <p:cNvSpPr txBox="1"/>
          <p:nvPr>
            <p:ph idx="1" type="body"/>
          </p:nvPr>
        </p:nvSpPr>
        <p:spPr>
          <a:xfrm>
            <a:off x="2355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000"/>
              <a:t>3</a:t>
            </a:r>
            <a:r>
              <a:rPr lang="pt-BR" sz="2000"/>
              <a:t>. Suponha que a UFMG pretende migrar para um novo sistema de apoio ao ensino, que irá substituir o Moodle. Ela está cogitando três estratégias:</a:t>
            </a:r>
            <a:endParaRPr sz="2000"/>
          </a:p>
          <a:p>
            <a:pPr indent="0" lvl="0" marL="0" rtl="0" algn="l">
              <a:spcBef>
                <a:spcPts val="1600"/>
              </a:spcBef>
              <a:spcAft>
                <a:spcPts val="0"/>
              </a:spcAft>
              <a:buNone/>
            </a:pPr>
            <a:r>
              <a:rPr lang="pt-BR" sz="2000"/>
              <a:t>(a) construir o novo sistema internamente, usando devs que são funcionários da universidade.</a:t>
            </a:r>
            <a:endParaRPr sz="2000"/>
          </a:p>
          <a:p>
            <a:pPr indent="0" lvl="0" marL="0" rtl="0" algn="l">
              <a:spcBef>
                <a:spcPts val="1600"/>
              </a:spcBef>
              <a:spcAft>
                <a:spcPts val="0"/>
              </a:spcAft>
              <a:buNone/>
            </a:pPr>
            <a:r>
              <a:rPr lang="pt-BR" sz="2000"/>
              <a:t>(b) terceirizar o desenvolvimento com uma agência ou fábrica de software. </a:t>
            </a:r>
            <a:endParaRPr sz="2000"/>
          </a:p>
          <a:p>
            <a:pPr indent="0" lvl="0" marL="0" rtl="0" algn="l">
              <a:spcBef>
                <a:spcPts val="1600"/>
              </a:spcBef>
              <a:spcAft>
                <a:spcPts val="0"/>
              </a:spcAft>
              <a:buNone/>
            </a:pPr>
            <a:r>
              <a:rPr lang="pt-BR" sz="2000"/>
              <a:t>(c) comprar ou assinar algum produto disponível no mercado.</a:t>
            </a:r>
            <a:endParaRPr sz="2000"/>
          </a:p>
          <a:p>
            <a:pPr indent="0" lvl="0" marL="0" rtl="0" algn="l">
              <a:spcBef>
                <a:spcPts val="1600"/>
              </a:spcBef>
              <a:spcAft>
                <a:spcPts val="0"/>
              </a:spcAft>
              <a:buNone/>
            </a:pPr>
            <a:r>
              <a:rPr lang="pt-BR" sz="2000"/>
              <a:t>Suponha que o sistema nas três alternativas será (ou foi) desenvolvido usando Scrum. Então, descreva o perfil de PO (Product Owner) mais adequado para cada uma delas.</a:t>
            </a:r>
            <a:endParaRPr sz="2000"/>
          </a:p>
          <a:p>
            <a:pPr indent="0" lvl="0" marL="0" rtl="0" algn="l">
              <a:spcBef>
                <a:spcPts val="1600"/>
              </a:spcBef>
              <a:spcAft>
                <a:spcPts val="1600"/>
              </a:spcAft>
              <a:buNone/>
            </a:pPr>
            <a:r>
              <a:t/>
            </a:r>
            <a:endParaRPr/>
          </a:p>
        </p:txBody>
      </p:sp>
      <p:sp>
        <p:nvSpPr>
          <p:cNvPr id="981" name="Google Shape;981;p1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130"/>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pt-BR" sz="2000"/>
              <a:t>4</a:t>
            </a:r>
            <a:r>
              <a:rPr lang="pt-BR" sz="2000"/>
              <a:t>. Ao comentar sobre os itens dos backlogs de Scrum, demos ênfase a histórias de usuários. Porém, elas não são os únicos itens possíveis em um backlog. </a:t>
            </a:r>
            <a:endParaRPr sz="2000"/>
          </a:p>
          <a:p>
            <a:pPr indent="0" lvl="0" marL="0" marR="0" rtl="0" algn="l">
              <a:lnSpc>
                <a:spcPct val="115000"/>
              </a:lnSpc>
              <a:spcBef>
                <a:spcPts val="1600"/>
              </a:spcBef>
              <a:spcAft>
                <a:spcPts val="0"/>
              </a:spcAft>
              <a:buNone/>
            </a:pPr>
            <a:r>
              <a:rPr lang="pt-BR" sz="2000"/>
              <a:t>Descreva ent</a:t>
            </a:r>
            <a:r>
              <a:rPr lang="pt-BR" sz="2000"/>
              <a:t>ão outros itens de trabalho que podem fazer parte do backlog do produto.</a:t>
            </a:r>
            <a:endParaRPr sz="2000"/>
          </a:p>
          <a:p>
            <a:pPr indent="0" lvl="0" marL="0" rtl="0" algn="l">
              <a:spcBef>
                <a:spcPts val="1600"/>
              </a:spcBef>
              <a:spcAft>
                <a:spcPts val="1600"/>
              </a:spcAft>
              <a:buNone/>
            </a:pPr>
            <a:r>
              <a:rPr lang="pt-BR"/>
              <a:t>	</a:t>
            </a:r>
            <a:endParaRPr/>
          </a:p>
        </p:txBody>
      </p:sp>
      <p:sp>
        <p:nvSpPr>
          <p:cNvPr id="987" name="Google Shape;987;p1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31"/>
          <p:cNvSpPr txBox="1"/>
          <p:nvPr>
            <p:ph idx="1" type="body"/>
          </p:nvPr>
        </p:nvSpPr>
        <p:spPr>
          <a:xfrm>
            <a:off x="235500" y="238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900"/>
              <a:t>5</a:t>
            </a:r>
            <a:r>
              <a:rPr lang="pt-BR" sz="1900"/>
              <a:t>. </a:t>
            </a:r>
            <a:r>
              <a:rPr lang="pt-BR" sz="2000"/>
              <a:t>Existem quatro variáveis importantes em contratos de software: </a:t>
            </a:r>
            <a:endParaRPr sz="2000"/>
          </a:p>
          <a:p>
            <a:pPr indent="-355600" lvl="0" marL="914400" rtl="0" algn="l">
              <a:spcBef>
                <a:spcPts val="1600"/>
              </a:spcBef>
              <a:spcAft>
                <a:spcPts val="0"/>
              </a:spcAft>
              <a:buSzPts val="2000"/>
              <a:buChar char="●"/>
            </a:pPr>
            <a:r>
              <a:rPr lang="pt-BR" sz="2000"/>
              <a:t>Escopo (requisitos)</a:t>
            </a:r>
            <a:endParaRPr sz="2000"/>
          </a:p>
          <a:p>
            <a:pPr indent="-355600" lvl="0" marL="914400" rtl="0" algn="l">
              <a:spcBef>
                <a:spcPts val="0"/>
              </a:spcBef>
              <a:spcAft>
                <a:spcPts val="0"/>
              </a:spcAft>
              <a:buSzPts val="2000"/>
              <a:buChar char="●"/>
            </a:pPr>
            <a:r>
              <a:rPr lang="pt-BR" sz="2000"/>
              <a:t>Tempo (prazo)</a:t>
            </a:r>
            <a:endParaRPr sz="2000"/>
          </a:p>
          <a:p>
            <a:pPr indent="-355600" lvl="0" marL="914400" rtl="0" algn="l">
              <a:spcBef>
                <a:spcPts val="0"/>
              </a:spcBef>
              <a:spcAft>
                <a:spcPts val="0"/>
              </a:spcAft>
              <a:buSzPts val="2000"/>
              <a:buChar char="●"/>
            </a:pPr>
            <a:r>
              <a:rPr lang="pt-BR" sz="2000"/>
              <a:t>Custo</a:t>
            </a:r>
            <a:endParaRPr sz="2000"/>
          </a:p>
          <a:p>
            <a:pPr indent="-355600" lvl="0" marL="914400" rtl="0" algn="l">
              <a:spcBef>
                <a:spcPts val="0"/>
              </a:spcBef>
              <a:spcAft>
                <a:spcPts val="0"/>
              </a:spcAft>
              <a:buSzPts val="2000"/>
              <a:buChar char="●"/>
            </a:pPr>
            <a:r>
              <a:rPr lang="pt-BR" sz="2000"/>
              <a:t>Qualidade</a:t>
            </a:r>
            <a:endParaRPr sz="2000"/>
          </a:p>
          <a:p>
            <a:pPr indent="0" lvl="0" marL="0" rtl="0" algn="l">
              <a:spcBef>
                <a:spcPts val="1600"/>
              </a:spcBef>
              <a:spcAft>
                <a:spcPts val="0"/>
              </a:spcAft>
              <a:buNone/>
            </a:pPr>
            <a:r>
              <a:rPr lang="pt-BR" sz="2000"/>
              <a:t>XP argumenta que é impossível fixar todas essas quatro variáveis por meio de um contrato, pois surpresas vão acontecer durante o projeto.</a:t>
            </a:r>
            <a:endParaRPr sz="2000"/>
          </a:p>
          <a:p>
            <a:pPr indent="0" lvl="0" marL="0" rtl="0" algn="l">
              <a:spcBef>
                <a:spcPts val="1600"/>
              </a:spcBef>
              <a:spcAft>
                <a:spcPts val="1600"/>
              </a:spcAft>
              <a:buNone/>
            </a:pPr>
            <a:r>
              <a:rPr lang="pt-BR" sz="2000"/>
              <a:t> Suponha então um contrato com escopo fechado. Se ocorrer uma surpresa ao longo do projeto, qual dessas variáveis tende a ser sacrificada pela empresa contratada a fim de evitar multas?</a:t>
            </a:r>
            <a:endParaRPr sz="2000"/>
          </a:p>
        </p:txBody>
      </p:sp>
      <p:sp>
        <p:nvSpPr>
          <p:cNvPr id="993" name="Google Shape;993;p1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32"/>
          <p:cNvSpPr txBox="1"/>
          <p:nvPr>
            <p:ph idx="1" type="body"/>
          </p:nvPr>
        </p:nvSpPr>
        <p:spPr>
          <a:xfrm>
            <a:off x="235500" y="238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000"/>
              <a:t>6</a:t>
            </a:r>
            <a:r>
              <a:rPr lang="pt-BR" sz="2000"/>
              <a:t>. </a:t>
            </a:r>
            <a:r>
              <a:rPr lang="pt-BR" sz="2000"/>
              <a:t>Suponha que você é o líder técnico (tech lead) de um time. </a:t>
            </a:r>
            <a:endParaRPr sz="2000"/>
          </a:p>
          <a:p>
            <a:pPr indent="0" lvl="0" marL="0" rtl="0" algn="l">
              <a:spcBef>
                <a:spcPts val="1600"/>
              </a:spcBef>
              <a:spcAft>
                <a:spcPts val="0"/>
              </a:spcAft>
              <a:buNone/>
            </a:pPr>
            <a:r>
              <a:rPr lang="pt-BR" sz="2000"/>
              <a:t>E os desenvolvedores estão reclamando que não conseguem usar certos módulos do sistema devido à documentação desatualizada da interface pública dos mesmos. </a:t>
            </a:r>
            <a:endParaRPr sz="2000"/>
          </a:p>
          <a:p>
            <a:pPr indent="0" lvl="0" marL="0" rtl="0" algn="l">
              <a:spcBef>
                <a:spcPts val="1600"/>
              </a:spcBef>
              <a:spcAft>
                <a:spcPts val="0"/>
              </a:spcAft>
              <a:buNone/>
            </a:pPr>
            <a:r>
              <a:rPr lang="pt-BR" sz="2000"/>
              <a:t>Ao investigar a questão, você descobriu que os devs, com frequência, alteram a interface dos módulos, porém não atualizam a documentação. </a:t>
            </a:r>
            <a:endParaRPr sz="2000"/>
          </a:p>
          <a:p>
            <a:pPr indent="0" lvl="0" marL="0" rtl="0" algn="l">
              <a:spcBef>
                <a:spcPts val="1600"/>
              </a:spcBef>
              <a:spcAft>
                <a:spcPts val="1600"/>
              </a:spcAft>
              <a:buNone/>
            </a:pPr>
            <a:r>
              <a:rPr lang="pt-BR" sz="2000"/>
              <a:t>Supondo que o time usa Scrum, qual medida você tomaria para evitar a ocorrência desse problema?</a:t>
            </a:r>
            <a:endParaRPr sz="2000"/>
          </a:p>
        </p:txBody>
      </p:sp>
      <p:sp>
        <p:nvSpPr>
          <p:cNvPr id="999" name="Google Shape;999;p1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33"/>
          <p:cNvSpPr txBox="1"/>
          <p:nvPr>
            <p:ph idx="1" type="body"/>
          </p:nvPr>
        </p:nvSpPr>
        <p:spPr>
          <a:xfrm>
            <a:off x="235500" y="238075"/>
            <a:ext cx="8520600" cy="28356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pt-BR" sz="2000"/>
              <a:t>7</a:t>
            </a:r>
            <a:r>
              <a:rPr lang="pt-BR" sz="2000"/>
              <a:t>. Em Engenharia de Software, anti-patterns são padrões </a:t>
            </a:r>
            <a:r>
              <a:rPr b="1" lang="pt-BR" sz="2000"/>
              <a:t>não</a:t>
            </a:r>
            <a:r>
              <a:rPr lang="pt-BR" sz="2000"/>
              <a:t> recomendados para um certo problema. </a:t>
            </a:r>
            <a:endParaRPr sz="2000"/>
          </a:p>
          <a:p>
            <a:pPr indent="0" lvl="0" marL="0" marR="0" rtl="0" algn="l">
              <a:lnSpc>
                <a:spcPct val="115000"/>
              </a:lnSpc>
              <a:spcBef>
                <a:spcPts val="1600"/>
              </a:spcBef>
              <a:spcAft>
                <a:spcPts val="1600"/>
              </a:spcAft>
              <a:buNone/>
            </a:pPr>
            <a:r>
              <a:rPr lang="pt-BR" sz="2000"/>
              <a:t>Descreva então três anti-patterns de Product Owner (PO).</a:t>
            </a:r>
            <a:endParaRPr sz="2000"/>
          </a:p>
        </p:txBody>
      </p:sp>
      <p:sp>
        <p:nvSpPr>
          <p:cNvPr id="1005" name="Google Shape;1005;p1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3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sz="3200"/>
              <a:t>Fim</a:t>
            </a:r>
            <a:endParaRPr b="1" sz="3200"/>
          </a:p>
          <a:p>
            <a:pPr indent="0" lvl="0" marL="0" rtl="0" algn="ctr">
              <a:spcBef>
                <a:spcPts val="0"/>
              </a:spcBef>
              <a:spcAft>
                <a:spcPts val="0"/>
              </a:spcAft>
              <a:buNone/>
            </a:pPr>
            <a:r>
              <a:t/>
            </a:r>
            <a:endParaRPr/>
          </a:p>
          <a:p>
            <a:pPr indent="0" lvl="0" marL="0" rtl="0" algn="ctr">
              <a:spcBef>
                <a:spcPts val="0"/>
              </a:spcBef>
              <a:spcAft>
                <a:spcPts val="0"/>
              </a:spcAft>
              <a:buNone/>
            </a:pPr>
            <a:r>
              <a:t/>
            </a:r>
            <a:endParaRPr sz="1800"/>
          </a:p>
        </p:txBody>
      </p:sp>
      <p:sp>
        <p:nvSpPr>
          <p:cNvPr id="1011" name="Google Shape;1011;p13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