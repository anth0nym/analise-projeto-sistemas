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220412-06AD-490C-AE37-287B2465A2A9}">
  <a:tblStyle styleId="{40220412-06AD-490C-AE37-287B2465A2A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18cedda5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18cedda5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70009fa9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70009fa9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50951bb1c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50951bb1c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0009fa95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0009fa95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0009fa95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70009fa95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6f48be17c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6f48be17c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0009fa95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0009fa95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0009fa95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0009fa95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70009fa95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70009fa95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70009fa95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70009fa951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1c78344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1c78344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4bace4ff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4bace4ff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70009fa951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70009fa951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70009fa95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70009fa95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70009fa951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70009fa951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70009fa95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70009fa95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70009fa951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70009fa951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70009fa951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70009fa95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70009fa951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70009fa951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70009fa95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70009fa95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70009fa95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70009fa95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70009fa95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70009fa95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845a60ba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845a60ba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1c78344e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1c78344e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7becdc7eb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7becdc7eb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7becdc7eb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7becdc7eb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c3d3a906d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c3d3a906d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7becdc7eb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7becdc7eb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7becdc7eb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7becdc7eb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7becdc7eb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7becdc7eb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7becdc7eb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7becdc7eb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e703a14a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e703a14a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845a60ba4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845a60ba4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2f7fa2207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42f7fa2207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69dd26f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69dd26f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69dd26fa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669dd26fa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845a60b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845a60b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845a60ba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845a60ba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845a60ba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845a60ba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845a60ba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f845a60ba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845a60ba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f845a60ba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845a60ba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845a60ba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8cfa63d3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8cfa63d3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09c180a0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09c180a0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70009fa951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70009fa951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702294d1d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702294d1d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702294d1d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702294d1d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70009fa95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70009fa95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8fbd7da66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8fbd7da66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8fbd7da66d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8fbd7da66d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8fbd7da66d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8fbd7da66d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7becdc7eb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7becdc7eb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09c180a05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09c180a05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8fbd7da66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8fbd7da66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7a2e5a85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7a2e5a85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09c180a05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09c180a05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70009fa951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70009fa951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70009fa951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70009fa951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70009fa951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70009fa951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70009fa951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70009fa951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09c180a05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09c180a05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09c180a05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09c180a05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70009fa95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70009fa95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70009fa951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70009fa951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70009fa951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70009fa95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797bfcd9d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797bfcd9d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797bfcd9d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2797bfcd9d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70009fa951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70009fa95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70009fa951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70009fa951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46b656cf7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46b656cf7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09e2fa5c26_1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09e2fa5c26_1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543287074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543287074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543287074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543287074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70d2c380a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70d2c380a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5421c6abc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5421c6abc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c4b0b05ff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c4b0b05ff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c4b0b05ff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c4b0b05ff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c4b0b05ff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c4b0b05ff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c4b0b05ff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c4b0b05ff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46b656cf7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46b656cf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c4b0b05ff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c4b0b05ff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28618be05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28618be05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28618be052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28618be052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7a2e5a856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7a2e5a856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7a2e5a856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7a2e5a856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e44a18925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e44a18925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797bfcd9d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797bfcd9d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2e44a18925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2e44a18925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0bc2c26e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0bc2c26e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f4076d429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f4076d429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f4076d429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f4076d429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70009fa95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70009fa95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70009fa951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70009fa951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70009fa951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70009fa951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70009fa951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70009fa951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70009fa951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70009fa951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c4b0b05ff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2c4b0b05ff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70009fa951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70009fa951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6cb2cd5a6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26cb2cd5a6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6cb2cd5a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26cb2cd5a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0bc2c26ea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0bc2c26ea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c4b0b05ff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c4b0b05ff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142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creativecommons.org/licenses/by/3.0/b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hyperlink" Target="https://www.lennysnewsletter.com/p/why-ubers-cpo-delivers-food-on-weekends-sachin-kansa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hyperlink" Target="https://www.lennysnewsletter.com/p/snapchat-ceo-why-distribution-i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png"/><Relationship Id="rId4" Type="http://schemas.openxmlformats.org/officeDocument/2006/relationships/image" Target="../media/image1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2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1.png"/><Relationship Id="rId4" Type="http://schemas.openxmlformats.org/officeDocument/2006/relationships/image" Target="../media/image2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28.png"/><Relationship Id="rId4" Type="http://schemas.openxmlformats.org/officeDocument/2006/relationships/hyperlink" Target="https://lovable.dev"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22.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9.png"/><Relationship Id="rId4" Type="http://schemas.openxmlformats.org/officeDocument/2006/relationships/hyperlink" Target="https://www.optimizely.com/sample-size-calculator/#/?conversion=1&amp;effect=10&amp;significance=95"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hyperlink" Target="https://www.optimizely.com/sample-size-calculator/#/?conversion=1&amp;effect=10&amp;significance=95"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26.png"/><Relationship Id="rId4" Type="http://schemas.openxmlformats.org/officeDocument/2006/relationships/image" Target="../media/image2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16936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Engenharia de Software Moderna</a:t>
            </a:r>
            <a:endParaRPr sz="2400"/>
          </a:p>
          <a:p>
            <a:pPr indent="0" lvl="0" marL="0" rtl="0" algn="ctr">
              <a:spcBef>
                <a:spcPts val="0"/>
              </a:spcBef>
              <a:spcAft>
                <a:spcPts val="0"/>
              </a:spcAft>
              <a:buNone/>
            </a:pPr>
            <a:r>
              <a:t/>
            </a:r>
            <a:endParaRPr b="1" sz="3200"/>
          </a:p>
          <a:p>
            <a:pPr indent="0" lvl="0" marL="0" rtl="0" algn="ctr">
              <a:spcBef>
                <a:spcPts val="0"/>
              </a:spcBef>
              <a:spcAft>
                <a:spcPts val="0"/>
              </a:spcAft>
              <a:buNone/>
            </a:pPr>
            <a:r>
              <a:rPr b="1" lang="en" sz="3200"/>
              <a:t>Cap. 3 - Requisitos</a:t>
            </a:r>
            <a:endParaRPr b="1" sz="3200"/>
          </a:p>
          <a:p>
            <a:pPr indent="0" lvl="0" marL="0" rtl="0" algn="ctr">
              <a:spcBef>
                <a:spcPts val="0"/>
              </a:spcBef>
              <a:spcAft>
                <a:spcPts val="0"/>
              </a:spcAft>
              <a:buNone/>
            </a:pPr>
            <a:r>
              <a:t/>
            </a:r>
            <a:endParaRPr b="1" sz="3000"/>
          </a:p>
          <a:p>
            <a:pPr indent="0" lvl="0" marL="0" rtl="0" algn="ctr">
              <a:spcBef>
                <a:spcPts val="0"/>
              </a:spcBef>
              <a:spcAft>
                <a:spcPts val="0"/>
              </a:spcAft>
              <a:buNone/>
            </a:pPr>
            <a:r>
              <a:rPr b="1" lang="en" sz="2400"/>
              <a:t>Prof. Marco Tulio Valente</a:t>
            </a:r>
            <a:endParaRPr b="1"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1400"/>
              <a:t>https://engsoftmoderna.info</a:t>
            </a:r>
            <a:endParaRPr sz="1400"/>
          </a:p>
        </p:txBody>
      </p:sp>
      <p:sp>
        <p:nvSpPr>
          <p:cNvPr id="55" name="Google Shape;55;p1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 name="Google Shape;56;p13"/>
          <p:cNvSpPr txBox="1"/>
          <p:nvPr/>
        </p:nvSpPr>
        <p:spPr>
          <a:xfrm>
            <a:off x="751450" y="4455775"/>
            <a:ext cx="7695900" cy="5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0000"/>
                </a:solidFill>
                <a:highlight>
                  <a:schemeClr val="lt1"/>
                </a:highlight>
              </a:rPr>
              <a:t>Licença </a:t>
            </a:r>
            <a:r>
              <a:rPr lang="en" sz="1200" u="sng">
                <a:solidFill>
                  <a:srgbClr val="FF0000"/>
                </a:solidFill>
                <a:highlight>
                  <a:schemeClr val="lt1"/>
                </a:highlight>
                <a:hlinkClick r:id="rId3">
                  <a:extLst>
                    <a:ext uri="{A12FA001-AC4F-418D-AE19-62706E023703}">
                      <ahyp:hlinkClr val="tx"/>
                    </a:ext>
                  </a:extLst>
                </a:hlinkClick>
              </a:rPr>
              <a:t>CC-BY</a:t>
            </a:r>
            <a:r>
              <a:rPr lang="en" sz="1200">
                <a:solidFill>
                  <a:srgbClr val="FF0000"/>
                </a:solidFill>
                <a:highlight>
                  <a:schemeClr val="lt1"/>
                </a:highlight>
              </a:rPr>
              <a:t>; permite copiar, distribuir, adaptar etc; porém, </a:t>
            </a:r>
            <a:r>
              <a:rPr b="1" lang="en" sz="1200">
                <a:solidFill>
                  <a:srgbClr val="FF0000"/>
                </a:solidFill>
                <a:highlight>
                  <a:schemeClr val="lt1"/>
                </a:highlight>
              </a:rPr>
              <a:t>créditos devem ser dados ao autor dos slides</a:t>
            </a:r>
            <a:endParaRPr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207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2"/>
                </a:solidFill>
              </a:rPr>
              <a:t>A parte mais difícil da construção de um software é a definição do que se deve construir -- Fred Brooks</a:t>
            </a:r>
            <a:endParaRPr sz="3200">
              <a:solidFill>
                <a:srgbClr val="FF0000"/>
              </a:solidFill>
            </a:endParaRPr>
          </a:p>
        </p:txBody>
      </p:sp>
      <p:sp>
        <p:nvSpPr>
          <p:cNvPr id="62" name="Google Shape;62;p1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Requisitos</a:t>
            </a:r>
            <a:endParaRPr/>
          </a:p>
        </p:txBody>
      </p:sp>
      <p:sp>
        <p:nvSpPr>
          <p:cNvPr id="68" name="Google Shape;68;p1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 name="Google Shape;69;p15"/>
          <p:cNvSpPr txBox="1"/>
          <p:nvPr>
            <p:ph idx="1" type="body"/>
          </p:nvPr>
        </p:nvSpPr>
        <p:spPr>
          <a:xfrm>
            <a:off x="311700" y="923875"/>
            <a:ext cx="8588400" cy="820500"/>
          </a:xfrm>
          <a:prstGeom prst="rect">
            <a:avLst/>
          </a:prstGeom>
        </p:spPr>
        <p:txBody>
          <a:bodyPr anchorCtr="0" anchor="t" bIns="91425" lIns="91425" spcFirstLastPara="1" rIns="91425" wrap="square" tIns="91425">
            <a:noAutofit/>
          </a:bodyPr>
          <a:lstStyle/>
          <a:p>
            <a:pPr indent="-381000" lvl="0" marL="457200" rtl="0" algn="l">
              <a:lnSpc>
                <a:spcPct val="114000"/>
              </a:lnSpc>
              <a:spcBef>
                <a:spcPts val="0"/>
              </a:spcBef>
              <a:spcAft>
                <a:spcPts val="0"/>
              </a:spcAft>
              <a:buSzPts val="2400"/>
              <a:buChar char="●"/>
            </a:pPr>
            <a:r>
              <a:rPr lang="en" sz="2400"/>
              <a:t>R</a:t>
            </a:r>
            <a:r>
              <a:rPr lang="en" sz="2400"/>
              <a:t>equisitos funcionais: </a:t>
            </a:r>
            <a:r>
              <a:rPr lang="en" sz="2400"/>
              <a:t>o que um sistema deve fazer</a:t>
            </a:r>
            <a:endParaRPr b="1" sz="2400"/>
          </a:p>
          <a:p>
            <a:pPr indent="-381000" lvl="1" marL="914400" rtl="0" algn="l">
              <a:lnSpc>
                <a:spcPct val="114000"/>
              </a:lnSpc>
              <a:spcBef>
                <a:spcPts val="1000"/>
              </a:spcBef>
              <a:spcAft>
                <a:spcPts val="0"/>
              </a:spcAft>
              <a:buSzPts val="2400"/>
              <a:buChar char="○"/>
            </a:pPr>
            <a:r>
              <a:rPr lang="en" sz="2400"/>
              <a:t>Funcionalidades</a:t>
            </a:r>
            <a:endParaRPr sz="2400"/>
          </a:p>
          <a:p>
            <a:pPr indent="-381000" lvl="0" marL="457200" rtl="0" algn="l">
              <a:lnSpc>
                <a:spcPct val="114000"/>
              </a:lnSpc>
              <a:spcBef>
                <a:spcPts val="1000"/>
              </a:spcBef>
              <a:spcAft>
                <a:spcPts val="0"/>
              </a:spcAft>
              <a:buSzPts val="2400"/>
              <a:buChar char="●"/>
            </a:pPr>
            <a:r>
              <a:rPr lang="en" sz="2400"/>
              <a:t>R</a:t>
            </a:r>
            <a:r>
              <a:rPr lang="en" sz="2400"/>
              <a:t>equisitos não-funcionais:</a:t>
            </a:r>
            <a:r>
              <a:rPr b="1" lang="en" sz="2400"/>
              <a:t> </a:t>
            </a:r>
            <a:r>
              <a:rPr lang="en" sz="2400"/>
              <a:t>s</a:t>
            </a:r>
            <a:r>
              <a:rPr lang="en" sz="2400"/>
              <a:t>ob que restrições </a:t>
            </a:r>
            <a:endParaRPr b="1" sz="2400"/>
          </a:p>
          <a:p>
            <a:pPr indent="-381000" lvl="1" marL="914400" rtl="0" algn="l">
              <a:lnSpc>
                <a:spcPct val="114000"/>
              </a:lnSpc>
              <a:spcBef>
                <a:spcPts val="1000"/>
              </a:spcBef>
              <a:spcAft>
                <a:spcPts val="1000"/>
              </a:spcAft>
              <a:buSzPts val="2400"/>
              <a:buChar char="○"/>
            </a:pPr>
            <a:r>
              <a:rPr lang="en" sz="2400"/>
              <a:t>Desempenho, segurança, disponibilidade, etc</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5" name="Google Shape;75;p16"/>
          <p:cNvPicPr preferRelativeResize="0"/>
          <p:nvPr/>
        </p:nvPicPr>
        <p:blipFill>
          <a:blip r:embed="rId3">
            <a:alphaModFix/>
          </a:blip>
          <a:stretch>
            <a:fillRect/>
          </a:stretch>
        </p:blipFill>
        <p:spPr>
          <a:xfrm>
            <a:off x="943958" y="838200"/>
            <a:ext cx="6667500" cy="2667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 que vamos estudar?</a:t>
            </a:r>
            <a:endParaRPr/>
          </a:p>
        </p:txBody>
      </p:sp>
      <p:sp>
        <p:nvSpPr>
          <p:cNvPr id="81" name="Google Shape;81;p1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Histórias de usuários</a:t>
            </a:r>
            <a:endParaRPr sz="2200"/>
          </a:p>
          <a:p>
            <a:pPr indent="-368300" lvl="0" marL="457200" marR="0" rtl="0" algn="l">
              <a:lnSpc>
                <a:spcPct val="114000"/>
              </a:lnSpc>
              <a:spcBef>
                <a:spcPts val="1000"/>
              </a:spcBef>
              <a:spcAft>
                <a:spcPts val="0"/>
              </a:spcAft>
              <a:buSzPts val="2200"/>
              <a:buChar char="●"/>
            </a:pPr>
            <a:r>
              <a:rPr lang="en" sz="2200"/>
              <a:t>Casos de Uso</a:t>
            </a:r>
            <a:endParaRPr sz="2200"/>
          </a:p>
          <a:p>
            <a:pPr indent="-368300" lvl="0" marL="457200" marR="0" rtl="0" algn="l">
              <a:lnSpc>
                <a:spcPct val="114000"/>
              </a:lnSpc>
              <a:spcBef>
                <a:spcPts val="1000"/>
              </a:spcBef>
              <a:spcAft>
                <a:spcPts val="0"/>
              </a:spcAft>
              <a:buSzPts val="2200"/>
              <a:buChar char="●"/>
            </a:pPr>
            <a:r>
              <a:rPr lang="en" sz="2200"/>
              <a:t>Produto Mínimo Viável (MVP)</a:t>
            </a:r>
            <a:endParaRPr sz="2200"/>
          </a:p>
          <a:p>
            <a:pPr indent="-368300" lvl="0" marL="457200" marR="0" rtl="0" algn="l">
              <a:lnSpc>
                <a:spcPct val="114000"/>
              </a:lnSpc>
              <a:spcBef>
                <a:spcPts val="1000"/>
              </a:spcBef>
              <a:spcAft>
                <a:spcPts val="0"/>
              </a:spcAft>
              <a:buSzPts val="2200"/>
              <a:buChar char="●"/>
            </a:pPr>
            <a:r>
              <a:rPr lang="en" sz="2200"/>
              <a:t>Testes A/B</a:t>
            </a:r>
            <a:endParaRPr sz="2200"/>
          </a:p>
          <a:p>
            <a:pPr indent="0" lvl="0" marL="45720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Histórias de Usuários</a:t>
            </a:r>
            <a:endParaRPr b="1">
              <a:solidFill>
                <a:srgbClr val="FF0000"/>
              </a:solidFill>
            </a:endParaRPr>
          </a:p>
        </p:txBody>
      </p:sp>
      <p:sp>
        <p:nvSpPr>
          <p:cNvPr id="88" name="Google Shape;88;p1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Antes ...</a:t>
            </a:r>
            <a:endParaRPr/>
          </a:p>
        </p:txBody>
      </p:sp>
      <p:sp>
        <p:nvSpPr>
          <p:cNvPr id="94" name="Google Shape;94;p1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5" name="Google Shape;95;p19"/>
          <p:cNvPicPr preferRelativeResize="0"/>
          <p:nvPr/>
        </p:nvPicPr>
        <p:blipFill>
          <a:blip r:embed="rId3">
            <a:alphaModFix/>
          </a:blip>
          <a:stretch>
            <a:fillRect/>
          </a:stretch>
        </p:blipFill>
        <p:spPr>
          <a:xfrm>
            <a:off x="123825" y="1452563"/>
            <a:ext cx="2800350" cy="1628775"/>
          </a:xfrm>
          <a:prstGeom prst="rect">
            <a:avLst/>
          </a:prstGeom>
          <a:noFill/>
          <a:ln>
            <a:noFill/>
          </a:ln>
        </p:spPr>
      </p:pic>
      <p:sp>
        <p:nvSpPr>
          <p:cNvPr id="96" name="Google Shape;96;p19"/>
          <p:cNvSpPr/>
          <p:nvPr/>
        </p:nvSpPr>
        <p:spPr>
          <a:xfrm>
            <a:off x="3008500" y="2025100"/>
            <a:ext cx="1003500" cy="50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 name="Google Shape;97;p19"/>
          <p:cNvPicPr preferRelativeResize="0"/>
          <p:nvPr/>
        </p:nvPicPr>
        <p:blipFill>
          <a:blip r:embed="rId4">
            <a:alphaModFix/>
          </a:blip>
          <a:stretch>
            <a:fillRect/>
          </a:stretch>
        </p:blipFill>
        <p:spPr>
          <a:xfrm>
            <a:off x="4164400" y="941525"/>
            <a:ext cx="1216466" cy="1083575"/>
          </a:xfrm>
          <a:prstGeom prst="rect">
            <a:avLst/>
          </a:prstGeom>
          <a:noFill/>
          <a:ln>
            <a:noFill/>
          </a:ln>
        </p:spPr>
      </p:pic>
      <p:pic>
        <p:nvPicPr>
          <p:cNvPr id="98" name="Google Shape;98;p19"/>
          <p:cNvPicPr preferRelativeResize="0"/>
          <p:nvPr/>
        </p:nvPicPr>
        <p:blipFill>
          <a:blip r:embed="rId4">
            <a:alphaModFix/>
          </a:blip>
          <a:stretch>
            <a:fillRect/>
          </a:stretch>
        </p:blipFill>
        <p:spPr>
          <a:xfrm>
            <a:off x="5383600" y="941525"/>
            <a:ext cx="1216466" cy="1083575"/>
          </a:xfrm>
          <a:prstGeom prst="rect">
            <a:avLst/>
          </a:prstGeom>
          <a:noFill/>
          <a:ln>
            <a:noFill/>
          </a:ln>
        </p:spPr>
      </p:pic>
      <p:pic>
        <p:nvPicPr>
          <p:cNvPr id="99" name="Google Shape;99;p19"/>
          <p:cNvPicPr preferRelativeResize="0"/>
          <p:nvPr/>
        </p:nvPicPr>
        <p:blipFill>
          <a:blip r:embed="rId4">
            <a:alphaModFix/>
          </a:blip>
          <a:stretch>
            <a:fillRect/>
          </a:stretch>
        </p:blipFill>
        <p:spPr>
          <a:xfrm>
            <a:off x="4240600" y="2008325"/>
            <a:ext cx="1216466" cy="1083575"/>
          </a:xfrm>
          <a:prstGeom prst="rect">
            <a:avLst/>
          </a:prstGeom>
          <a:noFill/>
          <a:ln>
            <a:noFill/>
          </a:ln>
        </p:spPr>
      </p:pic>
      <p:pic>
        <p:nvPicPr>
          <p:cNvPr id="100" name="Google Shape;100;p19"/>
          <p:cNvPicPr preferRelativeResize="0"/>
          <p:nvPr/>
        </p:nvPicPr>
        <p:blipFill>
          <a:blip r:embed="rId4">
            <a:alphaModFix/>
          </a:blip>
          <a:stretch>
            <a:fillRect/>
          </a:stretch>
        </p:blipFill>
        <p:spPr>
          <a:xfrm>
            <a:off x="5459800" y="2008325"/>
            <a:ext cx="1216466" cy="1083575"/>
          </a:xfrm>
          <a:prstGeom prst="rect">
            <a:avLst/>
          </a:prstGeom>
          <a:noFill/>
          <a:ln>
            <a:noFill/>
          </a:ln>
        </p:spPr>
      </p:pic>
      <p:pic>
        <p:nvPicPr>
          <p:cNvPr id="101" name="Google Shape;101;p19"/>
          <p:cNvPicPr preferRelativeResize="0"/>
          <p:nvPr/>
        </p:nvPicPr>
        <p:blipFill>
          <a:blip r:embed="rId4">
            <a:alphaModFix/>
          </a:blip>
          <a:stretch>
            <a:fillRect/>
          </a:stretch>
        </p:blipFill>
        <p:spPr>
          <a:xfrm>
            <a:off x="4240600" y="3075125"/>
            <a:ext cx="1216466" cy="1083575"/>
          </a:xfrm>
          <a:prstGeom prst="rect">
            <a:avLst/>
          </a:prstGeom>
          <a:noFill/>
          <a:ln>
            <a:noFill/>
          </a:ln>
        </p:spPr>
      </p:pic>
      <p:pic>
        <p:nvPicPr>
          <p:cNvPr id="102" name="Google Shape;102;p19"/>
          <p:cNvPicPr preferRelativeResize="0"/>
          <p:nvPr/>
        </p:nvPicPr>
        <p:blipFill>
          <a:blip r:embed="rId4">
            <a:alphaModFix/>
          </a:blip>
          <a:stretch>
            <a:fillRect/>
          </a:stretch>
        </p:blipFill>
        <p:spPr>
          <a:xfrm>
            <a:off x="5459800" y="3075125"/>
            <a:ext cx="1216466" cy="1083575"/>
          </a:xfrm>
          <a:prstGeom prst="rect">
            <a:avLst/>
          </a:prstGeom>
          <a:noFill/>
          <a:ln>
            <a:noFill/>
          </a:ln>
        </p:spPr>
      </p:pic>
      <p:sp>
        <p:nvSpPr>
          <p:cNvPr id="103" name="Google Shape;103;p19"/>
          <p:cNvSpPr txBox="1"/>
          <p:nvPr/>
        </p:nvSpPr>
        <p:spPr>
          <a:xfrm>
            <a:off x="261850" y="4038200"/>
            <a:ext cx="266220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Analistas</a:t>
            </a:r>
            <a:endParaRPr sz="1800"/>
          </a:p>
          <a:p>
            <a:pPr indent="0" lvl="0" marL="0" rtl="0" algn="ctr">
              <a:spcBef>
                <a:spcPts val="0"/>
              </a:spcBef>
              <a:spcAft>
                <a:spcPts val="0"/>
              </a:spcAft>
              <a:buNone/>
            </a:pPr>
            <a:r>
              <a:rPr lang="en" sz="1100"/>
              <a:t>(PRD: program requirement document) </a:t>
            </a:r>
            <a:endParaRPr sz="1100"/>
          </a:p>
        </p:txBody>
      </p:sp>
      <p:cxnSp>
        <p:nvCxnSpPr>
          <p:cNvPr id="104" name="Google Shape;104;p19"/>
          <p:cNvCxnSpPr/>
          <p:nvPr/>
        </p:nvCxnSpPr>
        <p:spPr>
          <a:xfrm>
            <a:off x="1547225" y="3413975"/>
            <a:ext cx="10500" cy="606300"/>
          </a:xfrm>
          <a:prstGeom prst="straightConnector1">
            <a:avLst/>
          </a:prstGeom>
          <a:noFill/>
          <a:ln cap="flat" cmpd="sng" w="9525">
            <a:solidFill>
              <a:schemeClr val="dk2"/>
            </a:solidFill>
            <a:prstDash val="solid"/>
            <a:round/>
            <a:headEnd len="med" w="med" type="none"/>
            <a:tailEnd len="med" w="med" type="triangle"/>
          </a:ln>
        </p:spPr>
      </p:cxnSp>
      <p:sp>
        <p:nvSpPr>
          <p:cNvPr id="105" name="Google Shape;105;p19"/>
          <p:cNvSpPr txBox="1"/>
          <p:nvPr/>
        </p:nvSpPr>
        <p:spPr>
          <a:xfrm>
            <a:off x="4012000" y="4190600"/>
            <a:ext cx="266220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Programadores </a:t>
            </a:r>
            <a:endParaRPr sz="1800"/>
          </a:p>
          <a:p>
            <a:pPr indent="0" lvl="0" marL="0" rtl="0" algn="ctr">
              <a:spcBef>
                <a:spcPts val="0"/>
              </a:spcBef>
              <a:spcAft>
                <a:spcPts val="0"/>
              </a:spcAft>
              <a:buNone/>
            </a:pPr>
            <a:r>
              <a:rPr lang="en" sz="1800"/>
              <a:t>(Fábrica de Software)</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Hoje</a:t>
            </a:r>
            <a:r>
              <a:rPr lang="en"/>
              <a:t> ...</a:t>
            </a:r>
            <a:endParaRPr/>
          </a:p>
        </p:txBody>
      </p:sp>
      <p:pic>
        <p:nvPicPr>
          <p:cNvPr id="111" name="Google Shape;111;p20"/>
          <p:cNvPicPr preferRelativeResize="0"/>
          <p:nvPr/>
        </p:nvPicPr>
        <p:blipFill>
          <a:blip r:embed="rId3">
            <a:alphaModFix/>
          </a:blip>
          <a:stretch>
            <a:fillRect/>
          </a:stretch>
        </p:blipFill>
        <p:spPr>
          <a:xfrm>
            <a:off x="1600200" y="941525"/>
            <a:ext cx="4637972" cy="3093502"/>
          </a:xfrm>
          <a:prstGeom prst="rect">
            <a:avLst/>
          </a:prstGeom>
          <a:noFill/>
          <a:ln>
            <a:noFill/>
          </a:ln>
        </p:spPr>
      </p:pic>
      <p:sp>
        <p:nvSpPr>
          <p:cNvPr id="112" name="Google Shape;112;p20"/>
          <p:cNvSpPr txBox="1"/>
          <p:nvPr/>
        </p:nvSpPr>
        <p:spPr>
          <a:xfrm>
            <a:off x="1130981" y="4293997"/>
            <a:ext cx="556170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666666"/>
                </a:solidFill>
              </a:rPr>
              <a:t>Product Owner senta junto dos desenvolvedores e explica requisitos para eles</a:t>
            </a:r>
            <a:endParaRPr sz="1800">
              <a:solidFill>
                <a:srgbClr val="666666"/>
              </a:solidFill>
            </a:endParaRPr>
          </a:p>
        </p:txBody>
      </p:sp>
      <p:cxnSp>
        <p:nvCxnSpPr>
          <p:cNvPr id="113" name="Google Shape;113;p20"/>
          <p:cNvCxnSpPr>
            <a:stCxn id="111" idx="0"/>
          </p:cNvCxnSpPr>
          <p:nvPr/>
        </p:nvCxnSpPr>
        <p:spPr>
          <a:xfrm flipH="1" rot="10800000">
            <a:off x="3919186" y="611525"/>
            <a:ext cx="564900" cy="330000"/>
          </a:xfrm>
          <a:prstGeom prst="straightConnector1">
            <a:avLst/>
          </a:prstGeom>
          <a:noFill/>
          <a:ln cap="flat" cmpd="sng" w="28575">
            <a:solidFill>
              <a:srgbClr val="4A86E8"/>
            </a:solidFill>
            <a:prstDash val="solid"/>
            <a:round/>
            <a:headEnd len="med" w="med" type="none"/>
            <a:tailEnd len="med" w="med" type="triangle"/>
          </a:ln>
        </p:spPr>
      </p:cxnSp>
      <p:sp>
        <p:nvSpPr>
          <p:cNvPr id="114" name="Google Shape;114;p20"/>
          <p:cNvSpPr txBox="1"/>
          <p:nvPr/>
        </p:nvSpPr>
        <p:spPr>
          <a:xfrm>
            <a:off x="4483275" y="391400"/>
            <a:ext cx="5649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PO</a:t>
            </a:r>
            <a:endParaRPr/>
          </a:p>
        </p:txBody>
      </p:sp>
      <p:cxnSp>
        <p:nvCxnSpPr>
          <p:cNvPr id="115" name="Google Shape;115;p20"/>
          <p:cNvCxnSpPr>
            <a:endCxn id="116" idx="1"/>
          </p:cNvCxnSpPr>
          <p:nvPr/>
        </p:nvCxnSpPr>
        <p:spPr>
          <a:xfrm>
            <a:off x="5407275" y="1281500"/>
            <a:ext cx="1209600" cy="189300"/>
          </a:xfrm>
          <a:prstGeom prst="straightConnector1">
            <a:avLst/>
          </a:prstGeom>
          <a:noFill/>
          <a:ln cap="flat" cmpd="sng" w="28575">
            <a:solidFill>
              <a:srgbClr val="4A86E8"/>
            </a:solidFill>
            <a:prstDash val="solid"/>
            <a:round/>
            <a:headEnd len="med" w="med" type="none"/>
            <a:tailEnd len="med" w="med" type="triangle"/>
          </a:ln>
        </p:spPr>
      </p:cxnSp>
      <p:sp>
        <p:nvSpPr>
          <p:cNvPr id="116" name="Google Shape;116;p20"/>
          <p:cNvSpPr txBox="1"/>
          <p:nvPr/>
        </p:nvSpPr>
        <p:spPr>
          <a:xfrm>
            <a:off x="6616875" y="1305800"/>
            <a:ext cx="8046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Devs</a:t>
            </a:r>
            <a:endParaRPr/>
          </a:p>
        </p:txBody>
      </p:sp>
      <p:cxnSp>
        <p:nvCxnSpPr>
          <p:cNvPr id="117" name="Google Shape;117;p20"/>
          <p:cNvCxnSpPr/>
          <p:nvPr/>
        </p:nvCxnSpPr>
        <p:spPr>
          <a:xfrm flipH="1" rot="10800000">
            <a:off x="6102650" y="1685675"/>
            <a:ext cx="503400" cy="1358400"/>
          </a:xfrm>
          <a:prstGeom prst="straightConnector1">
            <a:avLst/>
          </a:prstGeom>
          <a:noFill/>
          <a:ln cap="flat" cmpd="sng" w="28575">
            <a:solidFill>
              <a:srgbClr val="4A86E8"/>
            </a:solidFill>
            <a:prstDash val="solid"/>
            <a:round/>
            <a:headEnd len="med" w="med" type="none"/>
            <a:tailEnd len="med" w="med" type="triangle"/>
          </a:ln>
        </p:spPr>
      </p:cxnSp>
      <p:cxnSp>
        <p:nvCxnSpPr>
          <p:cNvPr id="118" name="Google Shape;118;p20"/>
          <p:cNvCxnSpPr/>
          <p:nvPr/>
        </p:nvCxnSpPr>
        <p:spPr>
          <a:xfrm flipH="1" rot="10800000">
            <a:off x="3800675" y="1725250"/>
            <a:ext cx="2673600" cy="1019100"/>
          </a:xfrm>
          <a:prstGeom prst="straightConnector1">
            <a:avLst/>
          </a:prstGeom>
          <a:noFill/>
          <a:ln cap="flat" cmpd="sng" w="28575">
            <a:solidFill>
              <a:srgbClr val="4A86E8"/>
            </a:solidFill>
            <a:prstDash val="solid"/>
            <a:round/>
            <a:headEnd len="med" w="med" type="none"/>
            <a:tailEnd len="med" w="med" type="triangle"/>
          </a:ln>
        </p:spPr>
      </p:cxnSp>
      <p:cxnSp>
        <p:nvCxnSpPr>
          <p:cNvPr id="119" name="Google Shape;119;p20"/>
          <p:cNvCxnSpPr/>
          <p:nvPr/>
        </p:nvCxnSpPr>
        <p:spPr>
          <a:xfrm flipH="1" rot="10800000">
            <a:off x="2295575" y="1635800"/>
            <a:ext cx="4178700" cy="587400"/>
          </a:xfrm>
          <a:prstGeom prst="straightConnector1">
            <a:avLst/>
          </a:prstGeom>
          <a:noFill/>
          <a:ln cap="flat" cmpd="sng" w="28575">
            <a:solidFill>
              <a:srgbClr val="4A86E8"/>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Histórias de Usuários = 3C</a:t>
            </a:r>
            <a:r>
              <a:rPr lang="en"/>
              <a:t>'s</a:t>
            </a:r>
            <a:endParaRPr/>
          </a:p>
        </p:txBody>
      </p:sp>
      <p:sp>
        <p:nvSpPr>
          <p:cNvPr id="125" name="Google Shape;125;p2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235500" y="1000075"/>
            <a:ext cx="86961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Não é só um cartão com 1-2 frases</a:t>
            </a:r>
            <a:endParaRPr sz="2200"/>
          </a:p>
          <a:p>
            <a:pPr indent="-368300" lvl="0" marL="457200" marR="0" rtl="0" algn="l">
              <a:lnSpc>
                <a:spcPct val="114000"/>
              </a:lnSpc>
              <a:spcBef>
                <a:spcPts val="1000"/>
              </a:spcBef>
              <a:spcAft>
                <a:spcPts val="0"/>
              </a:spcAft>
              <a:buSzPts val="2200"/>
              <a:buChar char="●"/>
            </a:pPr>
            <a:r>
              <a:rPr b="1" lang="en" sz="2200"/>
              <a:t>C</a:t>
            </a:r>
            <a:r>
              <a:rPr lang="en" sz="2200"/>
              <a:t>artão + </a:t>
            </a:r>
            <a:r>
              <a:rPr b="1" lang="en" sz="2200"/>
              <a:t>C</a:t>
            </a:r>
            <a:r>
              <a:rPr lang="en" sz="2200"/>
              <a:t>onversas + </a:t>
            </a:r>
            <a:r>
              <a:rPr b="1" lang="en" sz="2200"/>
              <a:t>C</a:t>
            </a:r>
            <a:r>
              <a:rPr lang="en" sz="2200"/>
              <a:t>onfirmação</a:t>
            </a:r>
            <a:endParaRPr sz="2200"/>
          </a:p>
          <a:p>
            <a:pPr indent="-368300" lvl="0" marL="457200" marR="0" rtl="0" algn="l">
              <a:lnSpc>
                <a:spcPct val="114000"/>
              </a:lnSpc>
              <a:spcBef>
                <a:spcPts val="1000"/>
              </a:spcBef>
              <a:spcAft>
                <a:spcPts val="0"/>
              </a:spcAft>
              <a:buSzPts val="2200"/>
              <a:buChar char="●"/>
            </a:pPr>
            <a:r>
              <a:rPr lang="en" sz="2200"/>
              <a:t>Cartão: lembrete para conversas sobre o requisito durante sprint</a:t>
            </a:r>
            <a:endParaRPr sz="2200"/>
          </a:p>
          <a:p>
            <a:pPr indent="-368300" lvl="0" marL="457200" marR="0" rtl="0" algn="l">
              <a:lnSpc>
                <a:spcPct val="114000"/>
              </a:lnSpc>
              <a:spcBef>
                <a:spcPts val="1000"/>
              </a:spcBef>
              <a:spcAft>
                <a:spcPts val="0"/>
              </a:spcAft>
              <a:buSzPts val="2200"/>
              <a:buChar char="●"/>
            </a:pPr>
            <a:r>
              <a:rPr lang="en" sz="2200"/>
              <a:t>Confirmação: cenários que serão usados pelo PO para aceitar a implementação da história; também chamados de testes ou critérios de aceitação</a:t>
            </a:r>
            <a:endParaRPr sz="2200"/>
          </a:p>
          <a:p>
            <a:pPr indent="0" lvl="0" marL="45720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Exemplo: Loja Virtual</a:t>
            </a:r>
            <a:endParaRPr/>
          </a:p>
        </p:txBody>
      </p:sp>
      <p:sp>
        <p:nvSpPr>
          <p:cNvPr id="132" name="Google Shape;132;p2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2"/>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b="1" lang="en" sz="2200"/>
              <a:t>Cartão:</a:t>
            </a:r>
            <a:r>
              <a:rPr lang="en" sz="2200"/>
              <a:t> "Com usuário, eu quero fechar uma compra"</a:t>
            </a:r>
            <a:endParaRPr sz="2200"/>
          </a:p>
          <a:p>
            <a:pPr indent="-368300" lvl="0" marL="457200" marR="0" rtl="0" algn="l">
              <a:lnSpc>
                <a:spcPct val="114000"/>
              </a:lnSpc>
              <a:spcBef>
                <a:spcPts val="1000"/>
              </a:spcBef>
              <a:spcAft>
                <a:spcPts val="0"/>
              </a:spcAft>
              <a:buSzPts val="2200"/>
              <a:buChar char="●"/>
            </a:pPr>
            <a:r>
              <a:rPr b="1" lang="en" sz="2200"/>
              <a:t>Conversas:</a:t>
            </a:r>
            <a:r>
              <a:rPr lang="en" sz="2200"/>
              <a:t> PO explica os meios de pagamento; as formas de entrega, formas de parcelamento, etc</a:t>
            </a:r>
            <a:endParaRPr sz="2200"/>
          </a:p>
          <a:p>
            <a:pPr indent="-368300" lvl="0" marL="457200" marR="0" rtl="0" algn="l">
              <a:lnSpc>
                <a:spcPct val="114000"/>
              </a:lnSpc>
              <a:spcBef>
                <a:spcPts val="1000"/>
              </a:spcBef>
              <a:spcAft>
                <a:spcPts val="0"/>
              </a:spcAft>
              <a:buSzPts val="2200"/>
              <a:buChar char="●"/>
            </a:pPr>
            <a:r>
              <a:rPr b="1" lang="en" sz="2200"/>
              <a:t>Confirmação:</a:t>
            </a:r>
            <a:endParaRPr b="1" sz="2200"/>
          </a:p>
          <a:p>
            <a:pPr indent="-368300" lvl="1" marL="914400" marR="0" rtl="0" algn="l">
              <a:lnSpc>
                <a:spcPct val="114000"/>
              </a:lnSpc>
              <a:spcBef>
                <a:spcPts val="1000"/>
              </a:spcBef>
              <a:spcAft>
                <a:spcPts val="0"/>
              </a:spcAft>
              <a:buSzPts val="2200"/>
              <a:buChar char="○"/>
            </a:pPr>
            <a:r>
              <a:rPr lang="en" sz="2200"/>
              <a:t>Testar compra à vista e compra parcelado</a:t>
            </a:r>
            <a:endParaRPr sz="2200"/>
          </a:p>
          <a:p>
            <a:pPr indent="-368300" lvl="1" marL="914400" marR="0" rtl="0" algn="l">
              <a:lnSpc>
                <a:spcPct val="114000"/>
              </a:lnSpc>
              <a:spcBef>
                <a:spcPts val="1000"/>
              </a:spcBef>
              <a:spcAft>
                <a:spcPts val="0"/>
              </a:spcAft>
              <a:buSzPts val="2200"/>
              <a:buChar char="○"/>
            </a:pPr>
            <a:r>
              <a:rPr lang="en" sz="2200"/>
              <a:t>Testar com cartões de crédito A, B e C; e com PIX</a:t>
            </a:r>
            <a:endParaRPr sz="2200"/>
          </a:p>
          <a:p>
            <a:pPr indent="-368300" lvl="1" marL="914400" marR="0" rtl="0" algn="l">
              <a:lnSpc>
                <a:spcPct val="114000"/>
              </a:lnSpc>
              <a:spcBef>
                <a:spcPts val="1000"/>
              </a:spcBef>
              <a:spcAft>
                <a:spcPts val="0"/>
              </a:spcAft>
              <a:buSzPts val="2200"/>
              <a:buChar char="○"/>
            </a:pPr>
            <a:r>
              <a:rPr lang="en" sz="2200"/>
              <a:t>Testar com modos de entrega X e Y</a:t>
            </a:r>
            <a:endParaRPr sz="2200"/>
          </a:p>
          <a:p>
            <a:pPr indent="0" lvl="0" marL="45720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Outros nomes para Confirma</a:t>
            </a:r>
            <a:r>
              <a:rPr lang="en"/>
              <a:t>ção</a:t>
            </a:r>
            <a:endParaRPr/>
          </a:p>
        </p:txBody>
      </p:sp>
      <p:sp>
        <p:nvSpPr>
          <p:cNvPr id="139" name="Google Shape;139;p2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3"/>
          <p:cNvSpPr txBox="1"/>
          <p:nvPr>
            <p:ph idx="1" type="body"/>
          </p:nvPr>
        </p:nvSpPr>
        <p:spPr>
          <a:xfrm>
            <a:off x="311700" y="970991"/>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Critérios de confirmação</a:t>
            </a:r>
            <a:endParaRPr sz="2200"/>
          </a:p>
          <a:p>
            <a:pPr indent="-368300" lvl="0" marL="457200" marR="0" rtl="0" algn="l">
              <a:lnSpc>
                <a:spcPct val="114000"/>
              </a:lnSpc>
              <a:spcBef>
                <a:spcPts val="1000"/>
              </a:spcBef>
              <a:spcAft>
                <a:spcPts val="0"/>
              </a:spcAft>
              <a:buSzPts val="2200"/>
              <a:buChar char="●"/>
            </a:pPr>
            <a:r>
              <a:rPr lang="en" sz="2200"/>
              <a:t>Critérios de aceitação</a:t>
            </a:r>
            <a:endParaRPr sz="2200"/>
          </a:p>
          <a:p>
            <a:pPr indent="-368300" lvl="0" marL="457200" marR="0" rtl="0" algn="l">
              <a:lnSpc>
                <a:spcPct val="114000"/>
              </a:lnSpc>
              <a:spcBef>
                <a:spcPts val="1000"/>
              </a:spcBef>
              <a:spcAft>
                <a:spcPts val="0"/>
              </a:spcAft>
              <a:buSzPts val="2200"/>
              <a:buChar char="●"/>
            </a:pPr>
            <a:r>
              <a:rPr lang="en" sz="2200"/>
              <a:t>Testes de aceitação</a:t>
            </a:r>
            <a:endParaRPr sz="2200"/>
          </a:p>
          <a:p>
            <a:pPr indent="0" lvl="0" marL="45720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Workshop de Escrita de Histórias (ou Inception)</a:t>
            </a:r>
            <a:endParaRPr/>
          </a:p>
        </p:txBody>
      </p:sp>
      <p:sp>
        <p:nvSpPr>
          <p:cNvPr id="146" name="Google Shape;146;p2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ph idx="1" type="body"/>
          </p:nvPr>
        </p:nvSpPr>
        <p:spPr>
          <a:xfrm>
            <a:off x="311700" y="10762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Realizado no início do projeto com os principais usuários</a:t>
            </a:r>
            <a:endParaRPr sz="2200"/>
          </a:p>
          <a:p>
            <a:pPr indent="-368300" lvl="0" marL="457200" marR="0" rtl="0" algn="l">
              <a:lnSpc>
                <a:spcPct val="114000"/>
              </a:lnSpc>
              <a:spcBef>
                <a:spcPts val="1000"/>
              </a:spcBef>
              <a:spcAft>
                <a:spcPts val="0"/>
              </a:spcAft>
              <a:buSzPts val="2200"/>
              <a:buChar char="●"/>
            </a:pPr>
            <a:r>
              <a:rPr lang="en" sz="2200"/>
              <a:t>Objetivos:</a:t>
            </a:r>
            <a:endParaRPr sz="2200"/>
          </a:p>
          <a:p>
            <a:pPr indent="-368300" lvl="1" marL="914400" marR="0" rtl="0" algn="l">
              <a:lnSpc>
                <a:spcPct val="114000"/>
              </a:lnSpc>
              <a:spcBef>
                <a:spcPts val="1000"/>
              </a:spcBef>
              <a:spcAft>
                <a:spcPts val="0"/>
              </a:spcAft>
              <a:buSzPts val="2200"/>
              <a:buChar char="○"/>
            </a:pPr>
            <a:r>
              <a:rPr lang="en" sz="2200"/>
              <a:t>Definir o que o produto vai fazer ⇒ lista inicial de histórias</a:t>
            </a:r>
            <a:endParaRPr sz="2200"/>
          </a:p>
          <a:p>
            <a:pPr indent="-368300" lvl="1" marL="914400" marR="0" rtl="0" algn="l">
              <a:lnSpc>
                <a:spcPct val="114000"/>
              </a:lnSpc>
              <a:spcBef>
                <a:spcPts val="1000"/>
              </a:spcBef>
              <a:spcAft>
                <a:spcPts val="0"/>
              </a:spcAft>
              <a:buSzPts val="2200"/>
              <a:buChar char="○"/>
            </a:pPr>
            <a:r>
              <a:rPr lang="en" sz="2200"/>
              <a:t>Definir o que o produto </a:t>
            </a:r>
            <a:r>
              <a:rPr b="1" lang="en" sz="2200"/>
              <a:t>não</a:t>
            </a:r>
            <a:r>
              <a:rPr lang="en" sz="2200"/>
              <a:t> vai fazer</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Formato escrita de histórias</a:t>
            </a:r>
            <a:endParaRPr/>
          </a:p>
        </p:txBody>
      </p:sp>
      <p:sp>
        <p:nvSpPr>
          <p:cNvPr id="153" name="Google Shape;153;p2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4" name="Google Shape;154;p25"/>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Como um [certo tipo de usuário],</a:t>
            </a:r>
            <a:endParaRPr sz="2200"/>
          </a:p>
          <a:p>
            <a:pPr indent="0" lvl="0" marL="457200" marR="0" rtl="0" algn="l">
              <a:lnSpc>
                <a:spcPct val="114000"/>
              </a:lnSpc>
              <a:spcBef>
                <a:spcPts val="1000"/>
              </a:spcBef>
              <a:spcAft>
                <a:spcPts val="0"/>
              </a:spcAft>
              <a:buNone/>
            </a:pPr>
            <a:r>
              <a:rPr lang="en" sz="2200"/>
              <a:t>	e</a:t>
            </a:r>
            <a:r>
              <a:rPr lang="en" sz="2200"/>
              <a:t>u gostaria de [realizar algo com o sistema]</a:t>
            </a:r>
            <a:endParaRPr sz="2200"/>
          </a:p>
          <a:p>
            <a:pPr indent="0" lvl="0" marL="45720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Exemplo: sistema de controle de bibliotecas</a:t>
            </a:r>
            <a:endParaRPr b="1">
              <a:solidFill>
                <a:srgbClr val="FF0000"/>
              </a:solidFill>
            </a:endParaRPr>
          </a:p>
        </p:txBody>
      </p:sp>
      <p:sp>
        <p:nvSpPr>
          <p:cNvPr id="160" name="Google Shape;160;p2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tipos de usuários</a:t>
            </a:r>
            <a:endParaRPr/>
          </a:p>
        </p:txBody>
      </p:sp>
      <p:sp>
        <p:nvSpPr>
          <p:cNvPr id="166" name="Google Shape;166;p2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7"/>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Aluno</a:t>
            </a:r>
            <a:endParaRPr sz="2200"/>
          </a:p>
          <a:p>
            <a:pPr indent="-368300" lvl="0" marL="457200" marR="0" rtl="0" algn="l">
              <a:lnSpc>
                <a:spcPct val="114000"/>
              </a:lnSpc>
              <a:spcBef>
                <a:spcPts val="1000"/>
              </a:spcBef>
              <a:spcAft>
                <a:spcPts val="0"/>
              </a:spcAft>
              <a:buSzPts val="2200"/>
              <a:buChar char="●"/>
            </a:pPr>
            <a:r>
              <a:rPr lang="en" sz="2200"/>
              <a:t>Professor</a:t>
            </a:r>
            <a:endParaRPr sz="2200"/>
          </a:p>
          <a:p>
            <a:pPr indent="-368300" lvl="0" marL="457200" marR="0" rtl="0" algn="l">
              <a:lnSpc>
                <a:spcPct val="114000"/>
              </a:lnSpc>
              <a:spcBef>
                <a:spcPts val="1000"/>
              </a:spcBef>
              <a:spcAft>
                <a:spcPts val="0"/>
              </a:spcAft>
              <a:buSzPts val="2200"/>
              <a:buChar char="●"/>
            </a:pPr>
            <a:r>
              <a:rPr lang="en" sz="2200"/>
              <a:t>Funcionário da biblioteca</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Histórias de Alunos</a:t>
            </a:r>
            <a:endParaRPr/>
          </a:p>
        </p:txBody>
      </p:sp>
      <p:sp>
        <p:nvSpPr>
          <p:cNvPr id="173" name="Google Shape;173;p2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42900" lvl="0" marL="457200" marR="0" rtl="0" algn="l">
              <a:lnSpc>
                <a:spcPct val="114000"/>
              </a:lnSpc>
              <a:spcBef>
                <a:spcPts val="0"/>
              </a:spcBef>
              <a:spcAft>
                <a:spcPts val="0"/>
              </a:spcAft>
              <a:buSzPts val="1800"/>
              <a:buChar char="●"/>
            </a:pPr>
            <a:r>
              <a:rPr lang="en"/>
              <a:t>Como aluno, eu gostaria de realizar empréstimos de livros</a:t>
            </a:r>
            <a:endParaRPr/>
          </a:p>
          <a:p>
            <a:pPr indent="-342900" lvl="0" marL="457200" marR="0" rtl="0" algn="l">
              <a:lnSpc>
                <a:spcPct val="114000"/>
              </a:lnSpc>
              <a:spcBef>
                <a:spcPts val="1000"/>
              </a:spcBef>
              <a:spcAft>
                <a:spcPts val="0"/>
              </a:spcAft>
              <a:buSzPts val="1800"/>
              <a:buChar char="●"/>
            </a:pPr>
            <a:r>
              <a:rPr lang="en"/>
              <a:t>Como </a:t>
            </a:r>
            <a:r>
              <a:rPr lang="en"/>
              <a:t>aluno</a:t>
            </a:r>
            <a:r>
              <a:rPr lang="en"/>
              <a:t>, eu gostaria de devolver um livro que tomei emprestado</a:t>
            </a:r>
            <a:endParaRPr/>
          </a:p>
          <a:p>
            <a:pPr indent="-342900" lvl="0" marL="457200" marR="0" rtl="0" algn="l">
              <a:lnSpc>
                <a:spcPct val="114000"/>
              </a:lnSpc>
              <a:spcBef>
                <a:spcPts val="1000"/>
              </a:spcBef>
              <a:spcAft>
                <a:spcPts val="0"/>
              </a:spcAft>
              <a:buSzPts val="1800"/>
              <a:buChar char="●"/>
            </a:pPr>
            <a:r>
              <a:rPr lang="en"/>
              <a:t>Como </a:t>
            </a:r>
            <a:r>
              <a:rPr lang="en"/>
              <a:t>aluno</a:t>
            </a:r>
            <a:r>
              <a:rPr lang="en"/>
              <a:t>, eu gostaria de renovar empréstimos de livros</a:t>
            </a:r>
            <a:endParaRPr/>
          </a:p>
          <a:p>
            <a:pPr indent="-342900" lvl="0" marL="457200" marR="0" rtl="0" algn="l">
              <a:lnSpc>
                <a:spcPct val="114000"/>
              </a:lnSpc>
              <a:spcBef>
                <a:spcPts val="1000"/>
              </a:spcBef>
              <a:spcAft>
                <a:spcPts val="0"/>
              </a:spcAft>
              <a:buSzPts val="1800"/>
              <a:buChar char="●"/>
            </a:pPr>
            <a:r>
              <a:rPr lang="en"/>
              <a:t>Como </a:t>
            </a:r>
            <a:r>
              <a:rPr lang="en"/>
              <a:t>aluno</a:t>
            </a:r>
            <a:r>
              <a:rPr lang="en"/>
              <a:t>, eu gostaria de pesquisar por livros</a:t>
            </a:r>
            <a:endParaRPr/>
          </a:p>
          <a:p>
            <a:pPr indent="-342900" lvl="0" marL="457200" marR="0" rtl="0" algn="l">
              <a:lnSpc>
                <a:spcPct val="114000"/>
              </a:lnSpc>
              <a:spcBef>
                <a:spcPts val="1000"/>
              </a:spcBef>
              <a:spcAft>
                <a:spcPts val="0"/>
              </a:spcAft>
              <a:buSzPts val="1800"/>
              <a:buChar char="●"/>
            </a:pPr>
            <a:r>
              <a:rPr lang="en"/>
              <a:t>Como </a:t>
            </a:r>
            <a:r>
              <a:rPr lang="en"/>
              <a:t>aluno</a:t>
            </a:r>
            <a:r>
              <a:rPr lang="en"/>
              <a:t>, eu gostaria de reservar livros que estão emprestados</a:t>
            </a:r>
            <a:endParaRPr/>
          </a:p>
          <a:p>
            <a:pPr indent="-342900" lvl="0" marL="457200" marR="0" rtl="0" algn="l">
              <a:lnSpc>
                <a:spcPct val="114000"/>
              </a:lnSpc>
              <a:spcBef>
                <a:spcPts val="1000"/>
              </a:spcBef>
              <a:spcAft>
                <a:spcPts val="0"/>
              </a:spcAft>
              <a:buSzPts val="1800"/>
              <a:buChar char="●"/>
            </a:pPr>
            <a:r>
              <a:rPr lang="en"/>
              <a:t>Como </a:t>
            </a:r>
            <a:r>
              <a:rPr lang="en"/>
              <a:t>aluno</a:t>
            </a:r>
            <a:r>
              <a:rPr lang="en"/>
              <a:t>, eu gostaria de receber e-mails com novas aquisições</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Histórias de Professores</a:t>
            </a:r>
            <a:endParaRPr/>
          </a:p>
        </p:txBody>
      </p:sp>
      <p:sp>
        <p:nvSpPr>
          <p:cNvPr id="180" name="Google Shape;180;p2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9"/>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42900" lvl="0" marL="457200" marR="0" rtl="0" algn="l">
              <a:lnSpc>
                <a:spcPct val="114000"/>
              </a:lnSpc>
              <a:spcBef>
                <a:spcPts val="0"/>
              </a:spcBef>
              <a:spcAft>
                <a:spcPts val="0"/>
              </a:spcAft>
              <a:buSzPts val="1800"/>
              <a:buChar char="●"/>
            </a:pPr>
            <a:r>
              <a:rPr lang="en"/>
              <a:t>Como professor, eu gostaria de realizar empréstimos de maior duração</a:t>
            </a:r>
            <a:endParaRPr/>
          </a:p>
          <a:p>
            <a:pPr indent="-342900" lvl="0" marL="457200" marR="0" rtl="0" algn="l">
              <a:lnSpc>
                <a:spcPct val="114000"/>
              </a:lnSpc>
              <a:spcBef>
                <a:spcPts val="1000"/>
              </a:spcBef>
              <a:spcAft>
                <a:spcPts val="0"/>
              </a:spcAft>
              <a:buSzPts val="1800"/>
              <a:buChar char="●"/>
            </a:pPr>
            <a:r>
              <a:rPr lang="en"/>
              <a:t>Como professor, eu gostaria de sugerir a compra de livros</a:t>
            </a:r>
            <a:endParaRPr/>
          </a:p>
          <a:p>
            <a:pPr indent="-342900" lvl="0" marL="457200" marR="0" rtl="0" algn="l">
              <a:lnSpc>
                <a:spcPct val="114000"/>
              </a:lnSpc>
              <a:spcBef>
                <a:spcPts val="1000"/>
              </a:spcBef>
              <a:spcAft>
                <a:spcPts val="0"/>
              </a:spcAft>
              <a:buSzPts val="1800"/>
              <a:buChar char="●"/>
            </a:pPr>
            <a:r>
              <a:rPr lang="en"/>
              <a:t>Como professor, eu gostaria de doar livros para a biblioteca</a:t>
            </a:r>
            <a:endParaRPr/>
          </a:p>
          <a:p>
            <a:pPr indent="-342900" lvl="0" marL="457200" marR="0" rtl="0" algn="l">
              <a:lnSpc>
                <a:spcPct val="114000"/>
              </a:lnSpc>
              <a:spcBef>
                <a:spcPts val="1000"/>
              </a:spcBef>
              <a:spcAft>
                <a:spcPts val="0"/>
              </a:spcAft>
              <a:buSzPts val="1800"/>
              <a:buChar char="●"/>
            </a:pPr>
            <a:r>
              <a:rPr lang="en"/>
              <a:t>Como professor, eu gostaria de devolver livros em outras bibliotecas</a:t>
            </a:r>
            <a:endParaRPr/>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Histórias de Funcionários da Biblioteca</a:t>
            </a:r>
            <a:endParaRPr/>
          </a:p>
        </p:txBody>
      </p:sp>
      <p:sp>
        <p:nvSpPr>
          <p:cNvPr id="187" name="Google Shape;187;p3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30"/>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42900" lvl="0" marL="457200" marR="0" rtl="0" algn="l">
              <a:lnSpc>
                <a:spcPct val="114000"/>
              </a:lnSpc>
              <a:spcBef>
                <a:spcPts val="0"/>
              </a:spcBef>
              <a:spcAft>
                <a:spcPts val="0"/>
              </a:spcAft>
              <a:buSzPts val="1800"/>
              <a:buChar char="●"/>
            </a:pPr>
            <a:r>
              <a:rPr lang="en"/>
              <a:t>Como funcionário, eu gostaria de cadastrar novos usuários</a:t>
            </a:r>
            <a:endParaRPr/>
          </a:p>
          <a:p>
            <a:pPr indent="-342900" lvl="0" marL="457200" marR="0" rtl="0" algn="l">
              <a:lnSpc>
                <a:spcPct val="114000"/>
              </a:lnSpc>
              <a:spcBef>
                <a:spcPts val="1000"/>
              </a:spcBef>
              <a:spcAft>
                <a:spcPts val="0"/>
              </a:spcAft>
              <a:buSzPts val="1800"/>
              <a:buChar char="●"/>
            </a:pPr>
            <a:r>
              <a:rPr lang="en"/>
              <a:t>Como funcionário, eu gostaria de cadastrar novos livros</a:t>
            </a:r>
            <a:endParaRPr/>
          </a:p>
          <a:p>
            <a:pPr indent="-342900" lvl="0" marL="457200" marR="0" rtl="0" algn="l">
              <a:lnSpc>
                <a:spcPct val="114000"/>
              </a:lnSpc>
              <a:spcBef>
                <a:spcPts val="1000"/>
              </a:spcBef>
              <a:spcAft>
                <a:spcPts val="0"/>
              </a:spcAft>
              <a:buSzPts val="1800"/>
              <a:buChar char="●"/>
            </a:pPr>
            <a:r>
              <a:rPr lang="en"/>
              <a:t>Como funcionário, eu gostaria de dar baixa em livros estragados</a:t>
            </a:r>
            <a:endParaRPr/>
          </a:p>
          <a:p>
            <a:pPr indent="-342900" lvl="0" marL="457200" marR="0" rtl="0" algn="l">
              <a:lnSpc>
                <a:spcPct val="114000"/>
              </a:lnSpc>
              <a:spcBef>
                <a:spcPts val="1000"/>
              </a:spcBef>
              <a:spcAft>
                <a:spcPts val="0"/>
              </a:spcAft>
              <a:buSzPts val="1800"/>
              <a:buChar char="●"/>
            </a:pPr>
            <a:r>
              <a:rPr lang="en"/>
              <a:t>Como funcionário, eu gostaria de obter estatísticas sobre o acervo</a:t>
            </a:r>
            <a:endParaRPr/>
          </a:p>
          <a:p>
            <a:pPr indent="-342900" lvl="0" marL="457200" marR="0" rtl="0" algn="l">
              <a:lnSpc>
                <a:spcPct val="114000"/>
              </a:lnSpc>
              <a:spcBef>
                <a:spcPts val="1000"/>
              </a:spcBef>
              <a:spcAft>
                <a:spcPts val="0"/>
              </a:spcAft>
              <a:buSzPts val="1800"/>
              <a:buChar char="●"/>
            </a:pPr>
            <a:r>
              <a:rPr lang="en"/>
              <a:t>Como funcionário, eu gostaria que o sistema envie e-mails de cobrança para alunos com empréstimos atrasados</a:t>
            </a:r>
            <a:endParaRPr/>
          </a:p>
          <a:p>
            <a:pPr indent="-342900" lvl="0" marL="457200" marR="0" rtl="0" algn="l">
              <a:lnSpc>
                <a:spcPct val="114000"/>
              </a:lnSpc>
              <a:spcBef>
                <a:spcPts val="1000"/>
              </a:spcBef>
              <a:spcAft>
                <a:spcPts val="0"/>
              </a:spcAft>
              <a:buSzPts val="1800"/>
              <a:buChar char="●"/>
            </a:pPr>
            <a:r>
              <a:rPr lang="en"/>
              <a:t>Como funcionário, eu gostaria que o sistema </a:t>
            </a:r>
            <a:endParaRPr/>
          </a:p>
          <a:p>
            <a:pPr indent="0" lvl="0" marL="457200" marR="0" rtl="0" algn="l">
              <a:lnSpc>
                <a:spcPct val="114000"/>
              </a:lnSpc>
              <a:spcBef>
                <a:spcPts val="0"/>
              </a:spcBef>
              <a:spcAft>
                <a:spcPts val="0"/>
              </a:spcAft>
              <a:buNone/>
            </a:pPr>
            <a:r>
              <a:rPr lang="en"/>
              <a:t>aplicasse multas quando da devolução </a:t>
            </a:r>
            <a:endParaRPr/>
          </a:p>
          <a:p>
            <a:pPr indent="0" lvl="0" marL="457200" marR="0" rtl="0" algn="l">
              <a:lnSpc>
                <a:spcPct val="114000"/>
              </a:lnSpc>
              <a:spcBef>
                <a:spcPts val="0"/>
              </a:spcBef>
              <a:spcAft>
                <a:spcPts val="0"/>
              </a:spcAft>
              <a:buNone/>
            </a:pPr>
            <a:r>
              <a:rPr lang="en"/>
              <a:t>de empréstimos atrasados</a:t>
            </a:r>
            <a:endParaRPr/>
          </a:p>
          <a:p>
            <a:pPr indent="0" lvl="0" marL="457200" marR="0" rtl="0" algn="l">
              <a:lnSpc>
                <a:spcPct val="114000"/>
              </a:lnSpc>
              <a:spcBef>
                <a:spcPts val="0"/>
              </a:spcBef>
              <a:spcAft>
                <a:spcPts val="0"/>
              </a:spcAft>
              <a:buNone/>
            </a:pPr>
            <a:r>
              <a:t/>
            </a:r>
            <a:endParaRPr/>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Características de boas histórias </a:t>
            </a:r>
            <a:r>
              <a:rPr b="1" lang="en">
                <a:solidFill>
                  <a:srgbClr val="666666"/>
                </a:solidFill>
              </a:rPr>
              <a:t>(INVEST)</a:t>
            </a:r>
            <a:endParaRPr b="1">
              <a:solidFill>
                <a:srgbClr val="666666"/>
              </a:solidFill>
            </a:endParaRPr>
          </a:p>
        </p:txBody>
      </p:sp>
      <p:sp>
        <p:nvSpPr>
          <p:cNvPr id="194" name="Google Shape;194;p3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b="1" lang="en" sz="2200">
                <a:solidFill>
                  <a:srgbClr val="666666"/>
                </a:solidFill>
              </a:rPr>
              <a:t>I</a:t>
            </a:r>
            <a:r>
              <a:rPr lang="en" sz="2200"/>
              <a:t>ndependentes</a:t>
            </a:r>
            <a:endParaRPr sz="2200"/>
          </a:p>
          <a:p>
            <a:pPr indent="-368300" lvl="0" marL="457200" marR="0" rtl="0" algn="l">
              <a:lnSpc>
                <a:spcPct val="114000"/>
              </a:lnSpc>
              <a:spcBef>
                <a:spcPts val="1000"/>
              </a:spcBef>
              <a:spcAft>
                <a:spcPts val="0"/>
              </a:spcAft>
              <a:buSzPts val="2200"/>
              <a:buChar char="●"/>
            </a:pPr>
            <a:r>
              <a:rPr lang="en" sz="2200"/>
              <a:t>Abertas para </a:t>
            </a:r>
            <a:r>
              <a:rPr b="1" lang="en" sz="2200">
                <a:solidFill>
                  <a:srgbClr val="666666"/>
                </a:solidFill>
              </a:rPr>
              <a:t>N</a:t>
            </a:r>
            <a:r>
              <a:rPr lang="en" sz="2200"/>
              <a:t>egociação</a:t>
            </a:r>
            <a:endParaRPr sz="2200"/>
          </a:p>
          <a:p>
            <a:pPr indent="-368300" lvl="0" marL="457200" marR="0" rtl="0" algn="l">
              <a:lnSpc>
                <a:spcPct val="114000"/>
              </a:lnSpc>
              <a:spcBef>
                <a:spcPts val="1000"/>
              </a:spcBef>
              <a:spcAft>
                <a:spcPts val="0"/>
              </a:spcAft>
              <a:buSzPts val="2200"/>
              <a:buChar char="●"/>
            </a:pPr>
            <a:r>
              <a:rPr lang="en" sz="2200"/>
              <a:t>Agregar </a:t>
            </a:r>
            <a:r>
              <a:rPr b="1" lang="en" sz="2200">
                <a:solidFill>
                  <a:srgbClr val="666666"/>
                </a:solidFill>
              </a:rPr>
              <a:t>V</a:t>
            </a:r>
            <a:r>
              <a:rPr lang="en" sz="2200"/>
              <a:t>alor</a:t>
            </a:r>
            <a:endParaRPr sz="2200"/>
          </a:p>
          <a:p>
            <a:pPr indent="-368300" lvl="0" marL="457200" marR="0" rtl="0" algn="l">
              <a:lnSpc>
                <a:spcPct val="114000"/>
              </a:lnSpc>
              <a:spcBef>
                <a:spcPts val="1000"/>
              </a:spcBef>
              <a:spcAft>
                <a:spcPts val="0"/>
              </a:spcAft>
              <a:buSzPts val="2200"/>
              <a:buChar char="●"/>
            </a:pPr>
            <a:r>
              <a:rPr b="1" lang="en" sz="2200">
                <a:solidFill>
                  <a:srgbClr val="666666"/>
                </a:solidFill>
              </a:rPr>
              <a:t>E</a:t>
            </a:r>
            <a:r>
              <a:rPr lang="en" sz="2200"/>
              <a:t>stimáveis</a:t>
            </a:r>
            <a:endParaRPr sz="2200"/>
          </a:p>
          <a:p>
            <a:pPr indent="-368300" lvl="0" marL="457200" marR="0" rtl="0" algn="l">
              <a:lnSpc>
                <a:spcPct val="114000"/>
              </a:lnSpc>
              <a:spcBef>
                <a:spcPts val="1000"/>
              </a:spcBef>
              <a:spcAft>
                <a:spcPts val="0"/>
              </a:spcAft>
              <a:buSzPts val="2200"/>
              <a:buChar char="●"/>
            </a:pPr>
            <a:r>
              <a:rPr b="1" lang="en" sz="2200">
                <a:solidFill>
                  <a:srgbClr val="666666"/>
                </a:solidFill>
              </a:rPr>
              <a:t>S</a:t>
            </a:r>
            <a:r>
              <a:rPr lang="en" sz="2200"/>
              <a:t>ucintas</a:t>
            </a:r>
            <a:endParaRPr sz="2200"/>
          </a:p>
          <a:p>
            <a:pPr indent="-368300" lvl="0" marL="457200" marR="0" rtl="0" algn="l">
              <a:lnSpc>
                <a:spcPct val="114000"/>
              </a:lnSpc>
              <a:spcBef>
                <a:spcPts val="1000"/>
              </a:spcBef>
              <a:spcAft>
                <a:spcPts val="0"/>
              </a:spcAft>
              <a:buSzPts val="2200"/>
              <a:buChar char="●"/>
            </a:pPr>
            <a:r>
              <a:rPr b="1" lang="en" sz="2200">
                <a:solidFill>
                  <a:srgbClr val="666666"/>
                </a:solidFill>
              </a:rPr>
              <a:t>T</a:t>
            </a:r>
            <a:r>
              <a:rPr lang="en" sz="2200"/>
              <a:t>estáveis</a:t>
            </a:r>
            <a:endParaRPr sz="2200"/>
          </a:p>
          <a:p>
            <a:pPr indent="0" lvl="0" marL="457200" marR="0" rtl="0" algn="l">
              <a:lnSpc>
                <a:spcPct val="114000"/>
              </a:lnSpc>
              <a:spcBef>
                <a:spcPts val="1000"/>
              </a:spcBef>
              <a:spcAft>
                <a:spcPts val="0"/>
              </a:spcAft>
              <a:buNone/>
            </a:pPr>
            <a:r>
              <a:t/>
            </a:r>
            <a:endParaRPr sz="24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311700" y="135477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solidFill>
                  <a:srgbClr val="666666"/>
                </a:solidFill>
              </a:rPr>
              <a:t>Histórias  ⇔  Requisitos Funcionais</a:t>
            </a:r>
            <a:endParaRPr sz="3200">
              <a:solidFill>
                <a:srgbClr val="666666"/>
              </a:solidFill>
            </a:endParaRPr>
          </a:p>
          <a:p>
            <a:pPr indent="0" lvl="0" marL="0" rtl="0" algn="ctr">
              <a:spcBef>
                <a:spcPts val="0"/>
              </a:spcBef>
              <a:spcAft>
                <a:spcPts val="0"/>
              </a:spcAft>
              <a:buNone/>
            </a:pPr>
            <a:r>
              <a:t/>
            </a:r>
            <a:endParaRPr sz="3200">
              <a:solidFill>
                <a:srgbClr val="666666"/>
              </a:solidFill>
            </a:endParaRPr>
          </a:p>
          <a:p>
            <a:pPr indent="0" lvl="0" marL="0" rtl="0" algn="ctr">
              <a:spcBef>
                <a:spcPts val="0"/>
              </a:spcBef>
              <a:spcAft>
                <a:spcPts val="0"/>
              </a:spcAft>
              <a:buNone/>
            </a:pPr>
            <a:r>
              <a:rPr lang="en" sz="3200">
                <a:solidFill>
                  <a:srgbClr val="666666"/>
                </a:solidFill>
              </a:rPr>
              <a:t>E os </a:t>
            </a:r>
            <a:r>
              <a:rPr lang="en" sz="3200">
                <a:solidFill>
                  <a:srgbClr val="666666"/>
                </a:solidFill>
                <a:highlight>
                  <a:srgbClr val="FFF2CC"/>
                </a:highlight>
              </a:rPr>
              <a:t>requisitos não-funcionais</a:t>
            </a:r>
            <a:r>
              <a:rPr lang="en" sz="3200">
                <a:solidFill>
                  <a:srgbClr val="666666"/>
                </a:solidFill>
              </a:rPr>
              <a:t>?</a:t>
            </a:r>
            <a:endParaRPr sz="3200">
              <a:solidFill>
                <a:srgbClr val="666666"/>
              </a:solidFill>
            </a:endParaRPr>
          </a:p>
        </p:txBody>
      </p:sp>
      <p:sp>
        <p:nvSpPr>
          <p:cNvPr id="201" name="Google Shape;201;p3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Requisitos não Funcionais (RNF)</a:t>
            </a:r>
            <a:endParaRPr/>
          </a:p>
        </p:txBody>
      </p:sp>
      <p:sp>
        <p:nvSpPr>
          <p:cNvPr id="207" name="Google Shape;207;p3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33"/>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Time deve definir RNF com o PO</a:t>
            </a:r>
            <a:endParaRPr sz="2200"/>
          </a:p>
          <a:p>
            <a:pPr indent="-368300" lvl="0" marL="457200" marR="0" rtl="0" algn="l">
              <a:lnSpc>
                <a:spcPct val="114000"/>
              </a:lnSpc>
              <a:spcBef>
                <a:spcPts val="1000"/>
              </a:spcBef>
              <a:spcAft>
                <a:spcPts val="0"/>
              </a:spcAft>
              <a:buSzPts val="2200"/>
              <a:buChar char="●"/>
            </a:pPr>
            <a:r>
              <a:rPr lang="en" sz="2200"/>
              <a:t>Time deve incluir RNF nos "done criteria"</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
        <p:nvSpPr>
          <p:cNvPr id="209" name="Google Shape;209;p33"/>
          <p:cNvSpPr txBox="1"/>
          <p:nvPr/>
        </p:nvSpPr>
        <p:spPr>
          <a:xfrm>
            <a:off x="4209025" y="2669900"/>
            <a:ext cx="4523100" cy="78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800">
                <a:solidFill>
                  <a:schemeClr val="dk2"/>
                </a:solidFill>
              </a:rPr>
              <a:t>Critérios para considerar uma história de usuário pronta</a:t>
            </a:r>
            <a:endParaRPr sz="1800">
              <a:solidFill>
                <a:schemeClr val="dk2"/>
              </a:solidFill>
            </a:endParaRPr>
          </a:p>
        </p:txBody>
      </p:sp>
      <p:cxnSp>
        <p:nvCxnSpPr>
          <p:cNvPr id="210" name="Google Shape;210;p33"/>
          <p:cNvCxnSpPr/>
          <p:nvPr/>
        </p:nvCxnSpPr>
        <p:spPr>
          <a:xfrm>
            <a:off x="5057125" y="1892500"/>
            <a:ext cx="1146600" cy="832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Exemplo</a:t>
            </a:r>
            <a:endParaRPr/>
          </a:p>
        </p:txBody>
      </p:sp>
      <p:sp>
        <p:nvSpPr>
          <p:cNvPr id="216" name="Google Shape;216;p3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4"/>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Suponha que desempenho seja um RNF importante</a:t>
            </a:r>
            <a:endParaRPr sz="2200"/>
          </a:p>
          <a:p>
            <a:pPr indent="-368300" lvl="0" marL="457200" marR="0" rtl="0" algn="l">
              <a:lnSpc>
                <a:spcPct val="114000"/>
              </a:lnSpc>
              <a:spcBef>
                <a:spcPts val="1000"/>
              </a:spcBef>
              <a:spcAft>
                <a:spcPts val="0"/>
              </a:spcAft>
              <a:buSzPts val="2200"/>
              <a:buChar char="●"/>
            </a:pPr>
            <a:r>
              <a:rPr lang="en" sz="2200"/>
              <a:t>Pode-se definir que história para ser considerada </a:t>
            </a:r>
            <a:r>
              <a:rPr b="1" lang="en" sz="2200"/>
              <a:t>pronta</a:t>
            </a:r>
            <a:r>
              <a:rPr lang="en" sz="2200"/>
              <a:t> deve:</a:t>
            </a:r>
            <a:endParaRPr sz="2200"/>
          </a:p>
          <a:p>
            <a:pPr indent="-368300" lvl="1" marL="914400" marR="0" rtl="0" algn="l">
              <a:lnSpc>
                <a:spcPct val="114000"/>
              </a:lnSpc>
              <a:spcBef>
                <a:spcPts val="1000"/>
              </a:spcBef>
              <a:spcAft>
                <a:spcPts val="0"/>
              </a:spcAft>
              <a:buSzPts val="2200"/>
              <a:buChar char="○"/>
            </a:pPr>
            <a:r>
              <a:rPr lang="en" sz="2200"/>
              <a:t>Passar por uma revisão de código focada em desempenho</a:t>
            </a:r>
            <a:endParaRPr sz="2200"/>
          </a:p>
          <a:p>
            <a:pPr indent="-368300" lvl="1" marL="914400" marR="0" rtl="0" algn="l">
              <a:lnSpc>
                <a:spcPct val="114000"/>
              </a:lnSpc>
              <a:spcBef>
                <a:spcPts val="1000"/>
              </a:spcBef>
              <a:spcAft>
                <a:spcPts val="0"/>
              </a:spcAft>
              <a:buSzPts val="2200"/>
              <a:buChar char="○"/>
            </a:pPr>
            <a:r>
              <a:rPr lang="en" sz="2200"/>
              <a:t>Passar por testes de desempenho, com carga real</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Mais exemplos (de Done Criteria)</a:t>
            </a:r>
            <a:endParaRPr b="1" sz="2000"/>
          </a:p>
          <a:p>
            <a:pPr indent="-355600" lvl="0" marL="457200" rtl="0" algn="l">
              <a:spcBef>
                <a:spcPts val="1600"/>
              </a:spcBef>
              <a:spcAft>
                <a:spcPts val="0"/>
              </a:spcAft>
              <a:buSzPts val="2000"/>
              <a:buAutoNum type="arabicPeriod"/>
            </a:pPr>
            <a:r>
              <a:rPr lang="en" sz="2000"/>
              <a:t>Cobertura de testes automatizados ≥ 80%</a:t>
            </a:r>
            <a:endParaRPr sz="2000"/>
          </a:p>
          <a:p>
            <a:pPr indent="-355600" lvl="0" marL="457200" marR="0" rtl="0" algn="l">
              <a:lnSpc>
                <a:spcPct val="115000"/>
              </a:lnSpc>
              <a:spcBef>
                <a:spcPts val="1000"/>
              </a:spcBef>
              <a:spcAft>
                <a:spcPts val="0"/>
              </a:spcAft>
              <a:buSzPts val="2000"/>
              <a:buAutoNum type="arabicPeriod"/>
            </a:pPr>
            <a:r>
              <a:rPr lang="en" sz="2000"/>
              <a:t>Sistema de linter executado com sucesso</a:t>
            </a:r>
            <a:endParaRPr sz="2000"/>
          </a:p>
          <a:p>
            <a:pPr indent="-355600" lvl="0" marL="457200" marR="0" rtl="0" algn="l">
              <a:lnSpc>
                <a:spcPct val="115000"/>
              </a:lnSpc>
              <a:spcBef>
                <a:spcPts val="1000"/>
              </a:spcBef>
              <a:spcAft>
                <a:spcPts val="0"/>
              </a:spcAft>
              <a:buSzPts val="2000"/>
              <a:buAutoNum type="arabicPeriod"/>
            </a:pPr>
            <a:r>
              <a:rPr lang="en" sz="2000"/>
              <a:t>Se houver modificações no frontend, designer deve aprovar</a:t>
            </a:r>
            <a:endParaRPr sz="2000"/>
          </a:p>
          <a:p>
            <a:pPr indent="-355600" lvl="0" marL="457200" rtl="0" algn="l">
              <a:spcBef>
                <a:spcPts val="1000"/>
              </a:spcBef>
              <a:spcAft>
                <a:spcPts val="0"/>
              </a:spcAft>
              <a:buSzPts val="2000"/>
              <a:buAutoNum type="arabicPeriod"/>
            </a:pPr>
            <a:r>
              <a:rPr lang="en" sz="2000"/>
              <a:t>Código deve ter sido revisado por um outro membro do time</a:t>
            </a:r>
            <a:endParaRPr sz="2000"/>
          </a:p>
          <a:p>
            <a:pPr indent="0" lvl="0" marL="0" marR="0" rtl="0" algn="l">
              <a:lnSpc>
                <a:spcPct val="115000"/>
              </a:lnSpc>
              <a:spcBef>
                <a:spcPts val="1000"/>
              </a:spcBef>
              <a:spcAft>
                <a:spcPts val="1000"/>
              </a:spcAft>
              <a:buNone/>
            </a:pPr>
            <a:r>
              <a:t/>
            </a:r>
            <a:endParaRPr sz="2000"/>
          </a:p>
        </p:txBody>
      </p:sp>
      <p:sp>
        <p:nvSpPr>
          <p:cNvPr id="223" name="Google Shape;223;p3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r>
              <a:rPr lang="en"/>
              <a:t>ão confundir</a:t>
            </a:r>
            <a:endParaRPr/>
          </a:p>
        </p:txBody>
      </p:sp>
      <p:sp>
        <p:nvSpPr>
          <p:cNvPr id="229" name="Google Shape;229;p3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6"/>
          <p:cNvSpPr txBox="1"/>
          <p:nvPr>
            <p:ph idx="1" type="body"/>
          </p:nvPr>
        </p:nvSpPr>
        <p:spPr>
          <a:xfrm>
            <a:off x="508025" y="1253682"/>
            <a:ext cx="3543900" cy="1644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00"/>
              <a:t>Critérios de confirmação</a:t>
            </a:r>
            <a:endParaRPr sz="2100"/>
          </a:p>
          <a:p>
            <a:pPr indent="0" lvl="0" marL="0" rtl="0" algn="l">
              <a:lnSpc>
                <a:spcPct val="115000"/>
              </a:lnSpc>
              <a:spcBef>
                <a:spcPts val="1000"/>
              </a:spcBef>
              <a:spcAft>
                <a:spcPts val="0"/>
              </a:spcAft>
              <a:buNone/>
            </a:pPr>
            <a:r>
              <a:rPr lang="en" sz="2100"/>
              <a:t>Critérios de aceitação</a:t>
            </a:r>
            <a:endParaRPr sz="2100"/>
          </a:p>
          <a:p>
            <a:pPr indent="0" lvl="0" marL="0" rtl="0" algn="l">
              <a:lnSpc>
                <a:spcPct val="115000"/>
              </a:lnSpc>
              <a:spcBef>
                <a:spcPts val="1000"/>
              </a:spcBef>
              <a:spcAft>
                <a:spcPts val="0"/>
              </a:spcAft>
              <a:buNone/>
            </a:pPr>
            <a:r>
              <a:rPr lang="en" sz="2100"/>
              <a:t>Testes de aceitação</a:t>
            </a:r>
            <a:endParaRPr sz="2100"/>
          </a:p>
          <a:p>
            <a:pPr indent="0" lvl="0" marL="0" marR="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
        <p:nvSpPr>
          <p:cNvPr id="231" name="Google Shape;231;p36"/>
          <p:cNvSpPr txBox="1"/>
          <p:nvPr>
            <p:ph idx="1" type="body"/>
          </p:nvPr>
        </p:nvSpPr>
        <p:spPr>
          <a:xfrm>
            <a:off x="4264000" y="1253675"/>
            <a:ext cx="4798200" cy="1644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00"/>
              <a:t>Done criteria</a:t>
            </a:r>
            <a:endParaRPr sz="2100"/>
          </a:p>
          <a:p>
            <a:pPr indent="0" lvl="0" marL="0" rtl="0" algn="l">
              <a:lnSpc>
                <a:spcPct val="115000"/>
              </a:lnSpc>
              <a:spcBef>
                <a:spcPts val="1000"/>
              </a:spcBef>
              <a:spcAft>
                <a:spcPts val="0"/>
              </a:spcAft>
              <a:buNone/>
            </a:pPr>
            <a:r>
              <a:rPr lang="en" sz="2100"/>
              <a:t>Definition of Done (DoD)</a:t>
            </a:r>
            <a:endParaRPr sz="2100"/>
          </a:p>
          <a:p>
            <a:pPr indent="0" lvl="0" marL="0" rtl="0" algn="l">
              <a:lnSpc>
                <a:spcPct val="115000"/>
              </a:lnSpc>
              <a:spcBef>
                <a:spcPts val="1000"/>
              </a:spcBef>
              <a:spcAft>
                <a:spcPts val="0"/>
              </a:spcAft>
              <a:buNone/>
            </a:pPr>
            <a:r>
              <a:rPr lang="en" sz="2100"/>
              <a:t>Critérios para Conclusão de Histórias</a:t>
            </a:r>
            <a:endParaRPr sz="2100"/>
          </a:p>
          <a:p>
            <a:pPr indent="0" lvl="0" marL="0" marR="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
        <p:nvSpPr>
          <p:cNvPr id="232" name="Google Shape;232;p36"/>
          <p:cNvSpPr txBox="1"/>
          <p:nvPr/>
        </p:nvSpPr>
        <p:spPr>
          <a:xfrm>
            <a:off x="877370" y="3667185"/>
            <a:ext cx="27738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rPr>
              <a:t>Cada história tem o seu</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Requisitos Funcionais</a:t>
            </a:r>
            <a:endParaRPr sz="1800">
              <a:solidFill>
                <a:schemeClr val="dk2"/>
              </a:solidFill>
            </a:endParaRPr>
          </a:p>
        </p:txBody>
      </p:sp>
      <p:sp>
        <p:nvSpPr>
          <p:cNvPr id="233" name="Google Shape;233;p36"/>
          <p:cNvSpPr txBox="1"/>
          <p:nvPr/>
        </p:nvSpPr>
        <p:spPr>
          <a:xfrm>
            <a:off x="4326825" y="3525850"/>
            <a:ext cx="4735500" cy="109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800">
                <a:solidFill>
                  <a:schemeClr val="dk2"/>
                </a:solidFill>
              </a:rPr>
              <a:t>Critérios internos do time</a:t>
            </a:r>
            <a:endParaRPr sz="1800">
              <a:solidFill>
                <a:schemeClr val="dk2"/>
              </a:solidFill>
            </a:endParaRPr>
          </a:p>
          <a:p>
            <a:pPr indent="0" lvl="0" marL="0" rtl="0" algn="ctr">
              <a:lnSpc>
                <a:spcPct val="115000"/>
              </a:lnSpc>
              <a:spcBef>
                <a:spcPts val="0"/>
              </a:spcBef>
              <a:spcAft>
                <a:spcPts val="0"/>
              </a:spcAft>
              <a:buNone/>
            </a:pPr>
            <a:r>
              <a:rPr lang="en" sz="1800">
                <a:solidFill>
                  <a:schemeClr val="dk2"/>
                </a:solidFill>
              </a:rPr>
              <a:t>Valem para múltiplas histórias</a:t>
            </a:r>
            <a:endParaRPr sz="1800">
              <a:solidFill>
                <a:schemeClr val="dk2"/>
              </a:solidFill>
            </a:endParaRPr>
          </a:p>
          <a:p>
            <a:pPr indent="0" lvl="0" marL="0" rtl="0" algn="ctr">
              <a:lnSpc>
                <a:spcPct val="115000"/>
              </a:lnSpc>
              <a:spcBef>
                <a:spcPts val="0"/>
              </a:spcBef>
              <a:spcAft>
                <a:spcPts val="0"/>
              </a:spcAft>
              <a:buNone/>
            </a:pPr>
            <a:r>
              <a:rPr lang="en" sz="1800">
                <a:solidFill>
                  <a:schemeClr val="dk2"/>
                </a:solidFill>
              </a:rPr>
              <a:t>Incluem Requisitos Não Funcionais</a:t>
            </a:r>
            <a:endParaRPr sz="1800">
              <a:solidFill>
                <a:schemeClr val="dk2"/>
              </a:solidFill>
            </a:endParaRPr>
          </a:p>
        </p:txBody>
      </p:sp>
      <p:sp>
        <p:nvSpPr>
          <p:cNvPr id="234" name="Google Shape;234;p36"/>
          <p:cNvSpPr/>
          <p:nvPr/>
        </p:nvSpPr>
        <p:spPr>
          <a:xfrm>
            <a:off x="6470575" y="3070400"/>
            <a:ext cx="321900" cy="486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36"/>
          <p:cNvSpPr/>
          <p:nvPr/>
        </p:nvSpPr>
        <p:spPr>
          <a:xfrm>
            <a:off x="1887800" y="3038975"/>
            <a:ext cx="321900" cy="486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6"/>
          <p:cNvSpPr txBox="1"/>
          <p:nvPr/>
        </p:nvSpPr>
        <p:spPr>
          <a:xfrm>
            <a:off x="8237475" y="1349775"/>
            <a:ext cx="7494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Clr>
                <a:schemeClr val="dk1"/>
              </a:buClr>
              <a:buSzPts val="1100"/>
              <a:buFont typeface="Arial"/>
              <a:buNone/>
            </a:pPr>
            <a:r>
              <a:rPr lang="en" sz="3200">
                <a:solidFill>
                  <a:schemeClr val="dk2"/>
                </a:solidFill>
              </a:rPr>
              <a:t>✅</a:t>
            </a:r>
            <a:endParaRPr sz="32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Exercícios sobre Histórias de Usuários</a:t>
            </a:r>
            <a:endParaRPr sz="3200">
              <a:solidFill>
                <a:srgbClr val="FF0000"/>
              </a:solidFill>
            </a:endParaRPr>
          </a:p>
        </p:txBody>
      </p:sp>
      <p:sp>
        <p:nvSpPr>
          <p:cNvPr id="242" name="Google Shape;242;p3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Escreva três histórias de usuário para o serviço de PIX de um banco</a:t>
            </a:r>
            <a:endParaRPr sz="2000"/>
          </a:p>
          <a:p>
            <a:pPr indent="-355600" lvl="0" marL="457200" rtl="0" algn="l">
              <a:spcBef>
                <a:spcPts val="1000"/>
              </a:spcBef>
              <a:spcAft>
                <a:spcPts val="0"/>
              </a:spcAft>
              <a:buSzPts val="2000"/>
              <a:buAutoNum type="arabicPeriod"/>
            </a:pPr>
            <a:r>
              <a:rPr lang="en" sz="2000"/>
              <a:t>Suponha que você trabalha em sistema de ensino a distância.</a:t>
            </a:r>
            <a:endParaRPr sz="2000"/>
          </a:p>
          <a:p>
            <a:pPr indent="-355600" lvl="0" marL="914400" rtl="0" algn="l">
              <a:spcBef>
                <a:spcPts val="1000"/>
              </a:spcBef>
              <a:spcAft>
                <a:spcPts val="0"/>
              </a:spcAft>
              <a:buSzPts val="2000"/>
              <a:buAutoNum type="alphaLcParenBoth"/>
            </a:pPr>
            <a:r>
              <a:rPr lang="en" sz="2000"/>
              <a:t>Proponha uma história épica para esse sistema</a:t>
            </a:r>
            <a:endParaRPr sz="2000"/>
          </a:p>
          <a:p>
            <a:pPr indent="-355600" lvl="0" marL="914400" rtl="0" algn="l">
              <a:spcBef>
                <a:spcPts val="800"/>
              </a:spcBef>
              <a:spcAft>
                <a:spcPts val="0"/>
              </a:spcAft>
              <a:buSzPts val="2000"/>
              <a:buAutoNum type="alphaLcParenBoth"/>
            </a:pPr>
            <a:r>
              <a:rPr lang="en" sz="2000"/>
              <a:t>Quebre essa história em histórias menores.</a:t>
            </a:r>
            <a:endParaRPr sz="2000"/>
          </a:p>
          <a:p>
            <a:pPr indent="0" lvl="0" marL="0" rtl="0" algn="l">
              <a:spcBef>
                <a:spcPts val="800"/>
              </a:spcBef>
              <a:spcAft>
                <a:spcPts val="1600"/>
              </a:spcAft>
              <a:buNone/>
            </a:pPr>
            <a:r>
              <a:t/>
            </a:r>
            <a:endParaRPr/>
          </a:p>
        </p:txBody>
      </p:sp>
      <p:sp>
        <p:nvSpPr>
          <p:cNvPr id="248" name="Google Shape;248;p3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Possível resposta:</a:t>
            </a:r>
            <a:endParaRPr b="1" sz="2000"/>
          </a:p>
          <a:p>
            <a:pPr indent="-342900" lvl="0" marL="457200" rtl="0" algn="l">
              <a:spcBef>
                <a:spcPts val="1000"/>
              </a:spcBef>
              <a:spcAft>
                <a:spcPts val="0"/>
              </a:spcAft>
              <a:buSzPts val="1800"/>
              <a:buAutoNum type="alphaLcParenBoth"/>
            </a:pPr>
            <a:r>
              <a:rPr lang="en"/>
              <a:t>História épica: Como professor, eu gostaria de poder aplicar provas online.</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LcParenBoth"/>
            </a:pPr>
            <a:r>
              <a:rPr lang="en"/>
              <a:t>Decomposição em histórias menores: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Como professor, eu gostaria de criar um banco de questões</a:t>
            </a:r>
            <a:endParaRPr/>
          </a:p>
          <a:p>
            <a:pPr indent="0" lvl="0" marL="0" rtl="0" algn="l">
              <a:spcBef>
                <a:spcPts val="500"/>
              </a:spcBef>
              <a:spcAft>
                <a:spcPts val="0"/>
              </a:spcAft>
              <a:buClr>
                <a:schemeClr val="dk1"/>
              </a:buClr>
              <a:buSzPts val="1100"/>
              <a:buFont typeface="Arial"/>
              <a:buNone/>
            </a:pPr>
            <a:r>
              <a:rPr lang="en"/>
              <a:t>- Como professor, eu gostaria de criar e configurar uma prova online</a:t>
            </a:r>
            <a:endParaRPr/>
          </a:p>
          <a:p>
            <a:pPr indent="0" lvl="0" marL="0" rtl="0" algn="l">
              <a:spcBef>
                <a:spcPts val="500"/>
              </a:spcBef>
              <a:spcAft>
                <a:spcPts val="0"/>
              </a:spcAft>
              <a:buClr>
                <a:schemeClr val="dk1"/>
              </a:buClr>
              <a:buSzPts val="1100"/>
              <a:buFont typeface="Arial"/>
              <a:buNone/>
            </a:pPr>
            <a:r>
              <a:rPr lang="en"/>
              <a:t>- Como aluno, eu gostaria de fazer uma prova online</a:t>
            </a:r>
            <a:endParaRPr/>
          </a:p>
          <a:p>
            <a:pPr indent="0" lvl="0" marL="0" rtl="0" algn="l">
              <a:spcBef>
                <a:spcPts val="500"/>
              </a:spcBef>
              <a:spcAft>
                <a:spcPts val="0"/>
              </a:spcAft>
              <a:buClr>
                <a:schemeClr val="dk1"/>
              </a:buClr>
              <a:buSzPts val="1100"/>
              <a:buFont typeface="Arial"/>
              <a:buNone/>
            </a:pPr>
            <a:r>
              <a:rPr lang="en"/>
              <a:t>- Como professor, eu gostaria que uma prova fosse corrigida automaticamente</a:t>
            </a:r>
            <a:endParaRPr/>
          </a:p>
          <a:p>
            <a:pPr indent="0" lvl="0" marL="0" rtl="0" algn="l">
              <a:spcBef>
                <a:spcPts val="500"/>
              </a:spcBef>
              <a:spcAft>
                <a:spcPts val="0"/>
              </a:spcAft>
              <a:buClr>
                <a:schemeClr val="dk1"/>
              </a:buClr>
              <a:buSzPts val="1100"/>
              <a:buFont typeface="Arial"/>
              <a:buNone/>
            </a:pPr>
            <a:r>
              <a:rPr lang="en"/>
              <a:t>- Como aluno, eu gostaria de ver o resultado da correção de uma prova que fiz</a:t>
            </a:r>
            <a:endParaRPr/>
          </a:p>
          <a:p>
            <a:pPr indent="0" lvl="0" marL="0" rtl="0" algn="l">
              <a:spcBef>
                <a:spcPts val="500"/>
              </a:spcBef>
              <a:spcAft>
                <a:spcPts val="0"/>
              </a:spcAft>
              <a:buClr>
                <a:schemeClr val="dk1"/>
              </a:buClr>
              <a:buSzPts val="1100"/>
              <a:buFont typeface="Arial"/>
              <a:buNone/>
            </a:pPr>
            <a:r>
              <a:rPr lang="en"/>
              <a:t>- Como professor, eu gostaria de baixar um arquivo com as notas de uma prova</a:t>
            </a:r>
            <a:endParaRPr b="1" sz="900">
              <a:solidFill>
                <a:schemeClr val="dk1"/>
              </a:solidFill>
              <a:latin typeface="Times New Roman"/>
              <a:ea typeface="Times New Roman"/>
              <a:cs typeface="Times New Roman"/>
              <a:sym typeface="Times New Roman"/>
            </a:endParaRPr>
          </a:p>
          <a:p>
            <a:pPr indent="0" lvl="0" marL="0" marR="0" rtl="0" algn="l">
              <a:lnSpc>
                <a:spcPct val="115000"/>
              </a:lnSpc>
              <a:spcBef>
                <a:spcPts val="500"/>
              </a:spcBef>
              <a:spcAft>
                <a:spcPts val="500"/>
              </a:spcAft>
              <a:buNone/>
            </a:pPr>
            <a:r>
              <a:t/>
            </a:r>
            <a:endParaRPr/>
          </a:p>
        </p:txBody>
      </p:sp>
      <p:sp>
        <p:nvSpPr>
          <p:cNvPr id="254" name="Google Shape;254;p3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3. Seja um sistema para criação e preenchimento de formulários online, semelhante ao Google Forms. </a:t>
            </a:r>
            <a:endParaRPr sz="2000"/>
          </a:p>
          <a:p>
            <a:pPr indent="0" lvl="0" marL="0" rtl="0" algn="l">
              <a:spcBef>
                <a:spcPts val="1000"/>
              </a:spcBef>
              <a:spcAft>
                <a:spcPts val="0"/>
              </a:spcAft>
              <a:buNone/>
            </a:pPr>
            <a:r>
              <a:rPr lang="en" sz="2000"/>
              <a:t>Seja a seguinte história de usuário desse sistema:</a:t>
            </a:r>
            <a:endParaRPr sz="2000"/>
          </a:p>
          <a:p>
            <a:pPr indent="0" lvl="0" marL="457200" rtl="0" algn="l">
              <a:spcBef>
                <a:spcPts val="1000"/>
              </a:spcBef>
              <a:spcAft>
                <a:spcPts val="0"/>
              </a:spcAft>
              <a:buNone/>
            </a:pPr>
            <a:r>
              <a:rPr lang="en" sz="2000"/>
              <a:t>“Como criador de um formulário, eu gostaria de fechá-lo para recebimento de novas respostas”</a:t>
            </a:r>
            <a:endParaRPr sz="2000"/>
          </a:p>
          <a:p>
            <a:pPr indent="0" lvl="0" marL="0" rtl="0" algn="l">
              <a:spcBef>
                <a:spcPts val="1000"/>
              </a:spcBef>
              <a:spcAft>
                <a:spcPts val="1600"/>
              </a:spcAft>
              <a:buNone/>
            </a:pPr>
            <a:r>
              <a:rPr lang="en" sz="2000"/>
              <a:t>Escreva os testes ou critérios de aceitação para essa história.</a:t>
            </a:r>
            <a:endParaRPr/>
          </a:p>
        </p:txBody>
      </p:sp>
      <p:sp>
        <p:nvSpPr>
          <p:cNvPr id="260" name="Google Shape;260;p4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1"/>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Possível resposta:</a:t>
            </a:r>
            <a:endParaRPr b="1" sz="2000"/>
          </a:p>
          <a:p>
            <a:pPr indent="0" lvl="0" marL="0" rtl="0" algn="l">
              <a:spcBef>
                <a:spcPts val="1000"/>
              </a:spcBef>
              <a:spcAft>
                <a:spcPts val="0"/>
              </a:spcAft>
              <a:buNone/>
            </a:pPr>
            <a:r>
              <a:rPr lang="en" sz="2000"/>
              <a:t>História: </a:t>
            </a:r>
            <a:r>
              <a:rPr lang="en" sz="2000"/>
              <a:t>Como criador de um formulário, eu gostaria de fechá-lo para recebimento de novas respostas</a:t>
            </a:r>
            <a:endParaRPr sz="2000"/>
          </a:p>
          <a:p>
            <a:pPr indent="0" lvl="0" marL="0" rtl="0" algn="l">
              <a:spcBef>
                <a:spcPts val="1000"/>
              </a:spcBef>
              <a:spcAft>
                <a:spcPts val="0"/>
              </a:spcAft>
              <a:buNone/>
            </a:pPr>
            <a:r>
              <a:rPr lang="en" sz="2000"/>
              <a:t>Testes de aceitação:</a:t>
            </a:r>
            <a:endParaRPr sz="2000"/>
          </a:p>
          <a:p>
            <a:pPr indent="-355600" lvl="0" marL="457200" marR="0" rtl="0" algn="l">
              <a:lnSpc>
                <a:spcPct val="115000"/>
              </a:lnSpc>
              <a:spcBef>
                <a:spcPts val="1600"/>
              </a:spcBef>
              <a:spcAft>
                <a:spcPts val="0"/>
              </a:spcAft>
              <a:buSzPts val="2000"/>
              <a:buChar char="●"/>
            </a:pPr>
            <a:r>
              <a:rPr lang="en" sz="2000"/>
              <a:t>Criar um formulário</a:t>
            </a:r>
            <a:endParaRPr sz="2000"/>
          </a:p>
          <a:p>
            <a:pPr indent="-355600" lvl="0" marL="457200" marR="0" rtl="0" algn="l">
              <a:lnSpc>
                <a:spcPct val="115000"/>
              </a:lnSpc>
              <a:spcBef>
                <a:spcPts val="800"/>
              </a:spcBef>
              <a:spcAft>
                <a:spcPts val="0"/>
              </a:spcAft>
              <a:buSzPts val="2000"/>
              <a:buChar char="●"/>
            </a:pPr>
            <a:r>
              <a:rPr lang="en" sz="2000"/>
              <a:t>Enviar uma ou duas respostas para ele (como usuário normal)</a:t>
            </a:r>
            <a:endParaRPr sz="2000"/>
          </a:p>
          <a:p>
            <a:pPr indent="-355600" lvl="0" marL="457200" marR="0" rtl="0" algn="l">
              <a:lnSpc>
                <a:spcPct val="115000"/>
              </a:lnSpc>
              <a:spcBef>
                <a:spcPts val="800"/>
              </a:spcBef>
              <a:spcAft>
                <a:spcPts val="0"/>
              </a:spcAft>
              <a:buSzPts val="2000"/>
              <a:buChar char="●"/>
            </a:pPr>
            <a:r>
              <a:rPr lang="en" sz="2000"/>
              <a:t>Fechar o formulário para recebimento de respostas</a:t>
            </a:r>
            <a:endParaRPr sz="2000"/>
          </a:p>
          <a:p>
            <a:pPr indent="-355600" lvl="0" marL="457200" marR="0" rtl="0" algn="l">
              <a:lnSpc>
                <a:spcPct val="115000"/>
              </a:lnSpc>
              <a:spcBef>
                <a:spcPts val="800"/>
              </a:spcBef>
              <a:spcAft>
                <a:spcPts val="800"/>
              </a:spcAft>
              <a:buSzPts val="2000"/>
              <a:buChar char="●"/>
            </a:pPr>
            <a:r>
              <a:rPr lang="en" sz="2000"/>
              <a:t>Tentar enviar uma nova resposta e verificar se não é possível</a:t>
            </a:r>
            <a:endParaRPr sz="2000"/>
          </a:p>
        </p:txBody>
      </p:sp>
      <p:sp>
        <p:nvSpPr>
          <p:cNvPr id="266" name="Google Shape;266;p4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2"/>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4</a:t>
            </a:r>
            <a:r>
              <a:rPr lang="en" sz="2000"/>
              <a:t>. Seja um sistema de comércio eletrônico. </a:t>
            </a:r>
            <a:endParaRPr sz="2000"/>
          </a:p>
          <a:p>
            <a:pPr indent="0" lvl="0" marL="0" rtl="0" algn="l">
              <a:spcBef>
                <a:spcPts val="1000"/>
              </a:spcBef>
              <a:spcAft>
                <a:spcPts val="0"/>
              </a:spcAft>
              <a:buNone/>
            </a:pPr>
            <a:r>
              <a:rPr lang="en" sz="2000"/>
              <a:t>Seja a seguinte história de usuário desse sistema:</a:t>
            </a:r>
            <a:endParaRPr sz="2000"/>
          </a:p>
          <a:p>
            <a:pPr indent="0" lvl="0" marL="457200" rtl="0" algn="l">
              <a:spcBef>
                <a:spcPts val="1000"/>
              </a:spcBef>
              <a:spcAft>
                <a:spcPts val="0"/>
              </a:spcAft>
              <a:buNone/>
            </a:pPr>
            <a:r>
              <a:rPr lang="en" sz="2000"/>
              <a:t>“Como cliente, eu gostaria de listar todas as minhas compras passadas”</a:t>
            </a:r>
            <a:endParaRPr sz="2000"/>
          </a:p>
          <a:p>
            <a:pPr indent="0" lvl="0" marL="0" rtl="0" algn="l">
              <a:spcBef>
                <a:spcPts val="1000"/>
              </a:spcBef>
              <a:spcAft>
                <a:spcPts val="1600"/>
              </a:spcAft>
              <a:buNone/>
            </a:pPr>
            <a:r>
              <a:rPr lang="en" sz="2000"/>
              <a:t>Escreva os testes ou critérios de aceitação para essa história.</a:t>
            </a:r>
            <a:endParaRPr/>
          </a:p>
        </p:txBody>
      </p:sp>
      <p:sp>
        <p:nvSpPr>
          <p:cNvPr id="272" name="Google Shape;272;p4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Possível r</a:t>
            </a:r>
            <a:r>
              <a:rPr b="1" lang="en" sz="2000"/>
              <a:t>esposta:</a:t>
            </a:r>
            <a:endParaRPr b="1" sz="2000"/>
          </a:p>
          <a:p>
            <a:pPr indent="0" lvl="0" marL="0" rtl="0" algn="l">
              <a:spcBef>
                <a:spcPts val="1000"/>
              </a:spcBef>
              <a:spcAft>
                <a:spcPts val="0"/>
              </a:spcAft>
              <a:buNone/>
            </a:pPr>
            <a:r>
              <a:rPr lang="en" sz="2000"/>
              <a:t>História: </a:t>
            </a:r>
            <a:r>
              <a:rPr lang="en" sz="2000"/>
              <a:t>Como cliente, eu gostaria de listar todas as minhas compras</a:t>
            </a:r>
            <a:endParaRPr sz="2000"/>
          </a:p>
          <a:p>
            <a:pPr indent="0" lvl="0" marL="0" rtl="0" algn="l">
              <a:spcBef>
                <a:spcPts val="1000"/>
              </a:spcBef>
              <a:spcAft>
                <a:spcPts val="0"/>
              </a:spcAft>
              <a:buNone/>
            </a:pPr>
            <a:r>
              <a:rPr lang="en" sz="2000"/>
              <a:t>Teste de aceitação:</a:t>
            </a:r>
            <a:endParaRPr sz="2000"/>
          </a:p>
          <a:p>
            <a:pPr indent="-336550" lvl="0" marL="914400" rtl="0" algn="l">
              <a:spcBef>
                <a:spcPts val="1600"/>
              </a:spcBef>
              <a:spcAft>
                <a:spcPts val="0"/>
              </a:spcAft>
              <a:buSzPts val="1700"/>
              <a:buChar char="●"/>
            </a:pPr>
            <a:r>
              <a:rPr lang="en" sz="2000"/>
              <a:t>Realizar três compras (só para fins do teste)</a:t>
            </a:r>
            <a:endParaRPr sz="2000"/>
          </a:p>
          <a:p>
            <a:pPr indent="-336550" lvl="0" marL="914400" rtl="0" algn="l">
              <a:spcBef>
                <a:spcPts val="500"/>
              </a:spcBef>
              <a:spcAft>
                <a:spcPts val="0"/>
              </a:spcAft>
              <a:buSzPts val="1700"/>
              <a:buChar char="●"/>
            </a:pPr>
            <a:r>
              <a:rPr lang="en" sz="2000"/>
              <a:t>Depois, vou pedir para ver minhas compras passadas</a:t>
            </a:r>
            <a:endParaRPr sz="2000"/>
          </a:p>
          <a:p>
            <a:pPr indent="-336550" lvl="0" marL="914400" rtl="0" algn="l">
              <a:spcBef>
                <a:spcPts val="500"/>
              </a:spcBef>
              <a:spcAft>
                <a:spcPts val="0"/>
              </a:spcAft>
              <a:buSzPts val="1700"/>
              <a:buChar char="●"/>
            </a:pPr>
            <a:r>
              <a:rPr lang="en" sz="2000"/>
              <a:t>Ao clicar em uma compra, deve-se exibir todos os seus dados</a:t>
            </a:r>
            <a:endParaRPr sz="2000"/>
          </a:p>
          <a:p>
            <a:pPr indent="-336550" lvl="0" marL="914400" rtl="0" algn="l">
              <a:spcBef>
                <a:spcPts val="500"/>
              </a:spcBef>
              <a:spcAft>
                <a:spcPts val="0"/>
              </a:spcAft>
              <a:buSzPts val="1700"/>
              <a:buChar char="●"/>
            </a:pPr>
            <a:r>
              <a:rPr lang="en" sz="2000"/>
              <a:t>Ordenar a lista por data, valor e status da compra</a:t>
            </a:r>
            <a:endParaRPr sz="2000"/>
          </a:p>
          <a:p>
            <a:pPr indent="-336550" lvl="0" marL="914400" rtl="0" algn="l">
              <a:spcBef>
                <a:spcPts val="500"/>
              </a:spcBef>
              <a:spcAft>
                <a:spcPts val="500"/>
              </a:spcAft>
              <a:buSzPts val="1700"/>
              <a:buChar char="●"/>
            </a:pPr>
            <a:r>
              <a:rPr lang="en" sz="2000"/>
              <a:t>Não é preciso ter campos de filtragem ou pesquisa de compras.</a:t>
            </a:r>
            <a:endParaRPr sz="2000"/>
          </a:p>
        </p:txBody>
      </p:sp>
      <p:sp>
        <p:nvSpPr>
          <p:cNvPr id="278" name="Google Shape;278;p4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84" name="Google Shape;284;p44"/>
          <p:cNvGraphicFramePr/>
          <p:nvPr/>
        </p:nvGraphicFramePr>
        <p:xfrm>
          <a:off x="419300" y="494175"/>
          <a:ext cx="3000000" cy="3000000"/>
        </p:xfrm>
        <a:graphic>
          <a:graphicData uri="http://schemas.openxmlformats.org/drawingml/2006/table">
            <a:tbl>
              <a:tblPr>
                <a:noFill/>
                <a:tableStyleId>{40220412-06AD-490C-AE37-287B2465A2A9}</a:tableStyleId>
              </a:tblPr>
              <a:tblGrid>
                <a:gridCol w="4152700"/>
                <a:gridCol w="4152700"/>
              </a:tblGrid>
              <a:tr h="721125">
                <a:tc>
                  <a:txBody>
                    <a:bodyPr/>
                    <a:lstStyle/>
                    <a:p>
                      <a:pPr indent="0" lvl="0" marL="0" rtl="0" algn="ctr">
                        <a:spcBef>
                          <a:spcPts val="0"/>
                        </a:spcBef>
                        <a:spcAft>
                          <a:spcPts val="0"/>
                        </a:spcAft>
                        <a:buNone/>
                      </a:pPr>
                      <a:r>
                        <a:rPr b="1" lang="en" sz="1700">
                          <a:solidFill>
                            <a:schemeClr val="dk2"/>
                          </a:solidFill>
                        </a:rPr>
                        <a:t>Critérios de Aceitação de Histórias</a:t>
                      </a:r>
                      <a:endParaRPr b="1" sz="1700">
                        <a:solidFill>
                          <a:schemeClr val="dk2"/>
                        </a:solidFill>
                      </a:endParaRPr>
                    </a:p>
                    <a:p>
                      <a:pPr indent="0" lvl="0" marL="0" rtl="0" algn="ctr">
                        <a:spcBef>
                          <a:spcPts val="0"/>
                        </a:spcBef>
                        <a:spcAft>
                          <a:spcPts val="0"/>
                        </a:spcAft>
                        <a:buNone/>
                      </a:pPr>
                      <a:r>
                        <a:rPr b="1" lang="en" sz="1700">
                          <a:solidFill>
                            <a:schemeClr val="dk2"/>
                          </a:solidFill>
                        </a:rPr>
                        <a:t>(ou Testes de Aceitação)</a:t>
                      </a:r>
                      <a:endParaRPr b="1" sz="15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dk2"/>
                          </a:solidFill>
                        </a:rPr>
                        <a:t>Critérios de Conclusão de Histórias (Done Criteria)</a:t>
                      </a:r>
                      <a:endParaRPr b="1" sz="15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663125">
                <a:tc>
                  <a:txBody>
                    <a:bodyPr/>
                    <a:lstStyle/>
                    <a:p>
                      <a:pPr indent="-330200" lvl="0" marL="457200" rtl="0" algn="l">
                        <a:lnSpc>
                          <a:spcPct val="115000"/>
                        </a:lnSpc>
                        <a:spcBef>
                          <a:spcPts val="0"/>
                        </a:spcBef>
                        <a:spcAft>
                          <a:spcPts val="0"/>
                        </a:spcAft>
                        <a:buClr>
                          <a:schemeClr val="dk2"/>
                        </a:buClr>
                        <a:buSzPts val="1600"/>
                        <a:buChar char="●"/>
                      </a:pPr>
                      <a:r>
                        <a:rPr lang="en" sz="1600">
                          <a:solidFill>
                            <a:schemeClr val="dk2"/>
                          </a:solidFill>
                        </a:rPr>
                        <a:t>Criar um formulário</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n" sz="1600">
                          <a:solidFill>
                            <a:schemeClr val="dk2"/>
                          </a:solidFill>
                        </a:rPr>
                        <a:t>Enviar uma ou duas respostas para ele (como usuário normal)</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n" sz="1600">
                          <a:solidFill>
                            <a:schemeClr val="dk2"/>
                          </a:solidFill>
                        </a:rPr>
                        <a:t>Fechar o formulário para recebimento de respostas</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n" sz="1600">
                          <a:solidFill>
                            <a:schemeClr val="dk2"/>
                          </a:solidFill>
                        </a:rPr>
                        <a:t>Enviar uma nova resposta e verificar se não é possível</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330200" lvl="0" marL="457200" marR="0" rtl="0" algn="l">
                        <a:lnSpc>
                          <a:spcPct val="115000"/>
                        </a:lnSpc>
                        <a:spcBef>
                          <a:spcPts val="0"/>
                        </a:spcBef>
                        <a:spcAft>
                          <a:spcPts val="0"/>
                        </a:spcAft>
                        <a:buClr>
                          <a:schemeClr val="dk2"/>
                        </a:buClr>
                        <a:buSzPts val="1600"/>
                        <a:buChar char="●"/>
                      </a:pPr>
                      <a:r>
                        <a:rPr lang="en" sz="1600">
                          <a:solidFill>
                            <a:schemeClr val="dk2"/>
                          </a:solidFill>
                        </a:rPr>
                        <a:t>Cobertura de testes automatizados ≥ 80%</a:t>
                      </a:r>
                      <a:endParaRPr sz="1600">
                        <a:solidFill>
                          <a:schemeClr val="dk2"/>
                        </a:solidFill>
                      </a:endParaRPr>
                    </a:p>
                    <a:p>
                      <a:pPr indent="-330200" lvl="0" marL="457200" marR="0" rtl="0" algn="l">
                        <a:lnSpc>
                          <a:spcPct val="115000"/>
                        </a:lnSpc>
                        <a:spcBef>
                          <a:spcPts val="0"/>
                        </a:spcBef>
                        <a:spcAft>
                          <a:spcPts val="0"/>
                        </a:spcAft>
                        <a:buClr>
                          <a:schemeClr val="dk2"/>
                        </a:buClr>
                        <a:buSzPts val="1600"/>
                        <a:buChar char="●"/>
                      </a:pPr>
                      <a:r>
                        <a:rPr lang="en" sz="1600">
                          <a:solidFill>
                            <a:schemeClr val="dk2"/>
                          </a:solidFill>
                        </a:rPr>
                        <a:t>Sistema de linter executado com sucesso</a:t>
                      </a:r>
                      <a:endParaRPr sz="1600">
                        <a:solidFill>
                          <a:schemeClr val="dk2"/>
                        </a:solidFill>
                      </a:endParaRPr>
                    </a:p>
                    <a:p>
                      <a:pPr indent="-330200" lvl="0" marL="457200" marR="0" rtl="0" algn="l">
                        <a:lnSpc>
                          <a:spcPct val="115000"/>
                        </a:lnSpc>
                        <a:spcBef>
                          <a:spcPts val="0"/>
                        </a:spcBef>
                        <a:spcAft>
                          <a:spcPts val="0"/>
                        </a:spcAft>
                        <a:buClr>
                          <a:schemeClr val="dk2"/>
                        </a:buClr>
                        <a:buSzPts val="1600"/>
                        <a:buChar char="●"/>
                      </a:pPr>
                      <a:r>
                        <a:rPr lang="en" sz="1600">
                          <a:solidFill>
                            <a:schemeClr val="dk2"/>
                          </a:solidFill>
                        </a:rPr>
                        <a:t>UX Designer aprovou as modificações no frontend</a:t>
                      </a:r>
                      <a:endParaRPr sz="1600">
                        <a:solidFill>
                          <a:schemeClr val="dk2"/>
                        </a:solidFill>
                      </a:endParaRPr>
                    </a:p>
                    <a:p>
                      <a:pPr indent="-330200" lvl="0" marL="457200" marR="0" rtl="0" algn="l">
                        <a:lnSpc>
                          <a:spcPct val="115000"/>
                        </a:lnSpc>
                        <a:spcBef>
                          <a:spcPts val="0"/>
                        </a:spcBef>
                        <a:spcAft>
                          <a:spcPts val="0"/>
                        </a:spcAft>
                        <a:buClr>
                          <a:schemeClr val="dk2"/>
                        </a:buClr>
                        <a:buSzPts val="1600"/>
                        <a:buChar char="●"/>
                      </a:pPr>
                      <a:r>
                        <a:rPr lang="en" sz="1600">
                          <a:solidFill>
                            <a:schemeClr val="dk2"/>
                          </a:solidFill>
                        </a:rPr>
                        <a:t>Código revisado por pelo menos um outro membro do time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Para concluir</a:t>
            </a:r>
            <a:endParaRPr/>
          </a:p>
        </p:txBody>
      </p:sp>
      <p:sp>
        <p:nvSpPr>
          <p:cNvPr id="290" name="Google Shape;290;p4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5"/>
          <p:cNvSpPr txBox="1"/>
          <p:nvPr>
            <p:ph idx="1" type="body"/>
          </p:nvPr>
        </p:nvSpPr>
        <p:spPr>
          <a:xfrm>
            <a:off x="311700" y="972009"/>
            <a:ext cx="8520600" cy="820500"/>
          </a:xfrm>
          <a:prstGeom prst="rect">
            <a:avLst/>
          </a:prstGeom>
        </p:spPr>
        <p:txBody>
          <a:bodyPr anchorCtr="0" anchor="t" bIns="91425" lIns="91425" spcFirstLastPara="1" rIns="91425" wrap="square" tIns="91425">
            <a:noAutofit/>
          </a:bodyPr>
          <a:lstStyle/>
          <a:p>
            <a:pPr indent="-368300" lvl="0" marL="457200" rtl="0" algn="l">
              <a:lnSpc>
                <a:spcPct val="114000"/>
              </a:lnSpc>
              <a:spcBef>
                <a:spcPts val="0"/>
              </a:spcBef>
              <a:spcAft>
                <a:spcPts val="0"/>
              </a:spcAft>
              <a:buSzPts val="2200"/>
              <a:buChar char="●"/>
            </a:pPr>
            <a:r>
              <a:rPr lang="en" sz="2200"/>
              <a:t>Dogfooding</a:t>
            </a:r>
            <a:endParaRPr sz="2200"/>
          </a:p>
          <a:p>
            <a:pPr indent="-368300" lvl="0" marL="457200" rtl="0" algn="l">
              <a:lnSpc>
                <a:spcPct val="114000"/>
              </a:lnSpc>
              <a:spcBef>
                <a:spcPts val="1000"/>
              </a:spcBef>
              <a:spcAft>
                <a:spcPts val="0"/>
              </a:spcAft>
              <a:buSzPts val="2200"/>
              <a:buChar char="●"/>
            </a:pPr>
            <a:r>
              <a:rPr lang="en" sz="2200"/>
              <a:t>Ouvir</a:t>
            </a:r>
            <a:r>
              <a:rPr lang="en" sz="2200"/>
              <a:t> usuários (mas não seguir "cegamente")</a:t>
            </a:r>
            <a:endParaRPr sz="2200"/>
          </a:p>
          <a:p>
            <a:pPr indent="-368300" lvl="0" marL="457200" rtl="0" algn="l">
              <a:lnSpc>
                <a:spcPct val="114000"/>
              </a:lnSpc>
              <a:spcBef>
                <a:spcPts val="1000"/>
              </a:spcBef>
              <a:spcAft>
                <a:spcPts val="0"/>
              </a:spcAft>
              <a:buSzPts val="2200"/>
              <a:buChar char="●"/>
            </a:pPr>
            <a:r>
              <a:rPr lang="en" sz="2200"/>
              <a:t>Feature Bloat</a:t>
            </a:r>
            <a:endParaRPr sz="2200"/>
          </a:p>
          <a:p>
            <a:pPr indent="0" lvl="0" marL="45720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AutoNum type="arabicParenBoth"/>
            </a:pPr>
            <a:r>
              <a:rPr lang="en"/>
              <a:t>Dogfooding (</a:t>
            </a:r>
            <a:r>
              <a:rPr lang="en"/>
              <a:t>"eat your own dog food")</a:t>
            </a:r>
            <a:endParaRPr/>
          </a:p>
        </p:txBody>
      </p:sp>
      <p:sp>
        <p:nvSpPr>
          <p:cNvPr id="297" name="Google Shape;297;p4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98" name="Google Shape;298;p46"/>
          <p:cNvPicPr preferRelativeResize="0"/>
          <p:nvPr/>
        </p:nvPicPr>
        <p:blipFill>
          <a:blip r:embed="rId3">
            <a:alphaModFix/>
          </a:blip>
          <a:stretch>
            <a:fillRect/>
          </a:stretch>
        </p:blipFill>
        <p:spPr>
          <a:xfrm>
            <a:off x="2165837" y="1146137"/>
            <a:ext cx="4812325" cy="30930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Outro exemplo: Dogfooding no </a:t>
            </a:r>
            <a:r>
              <a:rPr lang="en"/>
              <a:t>Uber</a:t>
            </a:r>
            <a:endParaRPr/>
          </a:p>
        </p:txBody>
      </p:sp>
      <p:sp>
        <p:nvSpPr>
          <p:cNvPr id="304" name="Google Shape;304;p4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7"/>
          <p:cNvSpPr txBox="1"/>
          <p:nvPr>
            <p:ph idx="1" type="body"/>
          </p:nvPr>
        </p:nvSpPr>
        <p:spPr>
          <a:xfrm>
            <a:off x="3298675" y="1000075"/>
            <a:ext cx="5790900" cy="8205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1-2 vezes no mês atua como motorista</a:t>
            </a:r>
            <a:endParaRPr sz="2000"/>
          </a:p>
          <a:p>
            <a:pPr indent="-355600" lvl="0" marL="457200" rtl="0" algn="l">
              <a:lnSpc>
                <a:spcPct val="115000"/>
              </a:lnSpc>
              <a:spcBef>
                <a:spcPts val="1000"/>
              </a:spcBef>
              <a:spcAft>
                <a:spcPts val="0"/>
              </a:spcAft>
              <a:buSzPts val="2000"/>
              <a:buChar char="●"/>
            </a:pPr>
            <a:r>
              <a:rPr lang="en" sz="2000"/>
              <a:t>Objetivo: usar o aplicativo em um carro é diferente de usá-lo no escritório: velocidade do carro, distância entre app e motorista, etc</a:t>
            </a:r>
            <a:endParaRPr sz="2000"/>
          </a:p>
          <a:p>
            <a:pPr indent="-355600" lvl="0" marL="457200" rtl="0" algn="l">
              <a:lnSpc>
                <a:spcPct val="115000"/>
              </a:lnSpc>
              <a:spcBef>
                <a:spcPts val="1000"/>
              </a:spcBef>
              <a:spcAft>
                <a:spcPts val="1000"/>
              </a:spcAft>
              <a:buSzPts val="2000"/>
              <a:buChar char="●"/>
            </a:pPr>
            <a:r>
              <a:rPr lang="en" sz="2000">
                <a:highlight>
                  <a:srgbClr val="FFF2CC"/>
                </a:highlight>
              </a:rPr>
              <a:t>"This thing that was looking so great in an office setting, now maybe makes no sense</a:t>
            </a:r>
            <a:r>
              <a:rPr lang="en" sz="2000"/>
              <a:t>."</a:t>
            </a:r>
            <a:endParaRPr sz="2000"/>
          </a:p>
        </p:txBody>
      </p:sp>
      <p:pic>
        <p:nvPicPr>
          <p:cNvPr id="306" name="Google Shape;306;p47"/>
          <p:cNvPicPr preferRelativeResize="0"/>
          <p:nvPr/>
        </p:nvPicPr>
        <p:blipFill>
          <a:blip r:embed="rId3">
            <a:alphaModFix/>
          </a:blip>
          <a:stretch>
            <a:fillRect/>
          </a:stretch>
        </p:blipFill>
        <p:spPr>
          <a:xfrm>
            <a:off x="334358" y="982375"/>
            <a:ext cx="2844638" cy="3094324"/>
          </a:xfrm>
          <a:prstGeom prst="rect">
            <a:avLst/>
          </a:prstGeom>
          <a:noFill/>
          <a:ln cap="flat" cmpd="sng" w="9525">
            <a:solidFill>
              <a:schemeClr val="dk2"/>
            </a:solidFill>
            <a:prstDash val="solid"/>
            <a:round/>
            <a:headEnd len="sm" w="sm" type="none"/>
            <a:tailEnd len="sm" w="sm" type="none"/>
          </a:ln>
        </p:spPr>
      </p:pic>
      <p:sp>
        <p:nvSpPr>
          <p:cNvPr id="307" name="Google Shape;307;p47"/>
          <p:cNvSpPr txBox="1"/>
          <p:nvPr/>
        </p:nvSpPr>
        <p:spPr>
          <a:xfrm>
            <a:off x="1300650" y="4123973"/>
            <a:ext cx="745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u="sng">
                <a:solidFill>
                  <a:schemeClr val="hlink"/>
                </a:solidFill>
                <a:hlinkClick r:id="rId4"/>
              </a:rPr>
              <a:t>link</a:t>
            </a:r>
            <a:endParaRPr sz="16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Dogfooding</a:t>
            </a:r>
            <a:r>
              <a:rPr lang="en"/>
              <a:t> do Uber Eats</a:t>
            </a:r>
            <a:endParaRPr/>
          </a:p>
        </p:txBody>
      </p:sp>
      <p:sp>
        <p:nvSpPr>
          <p:cNvPr id="313" name="Google Shape;313;p4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8"/>
          <p:cNvSpPr txBox="1"/>
          <p:nvPr>
            <p:ph idx="1" type="body"/>
          </p:nvPr>
        </p:nvSpPr>
        <p:spPr>
          <a:xfrm>
            <a:off x="464100" y="1090665"/>
            <a:ext cx="8430000" cy="820500"/>
          </a:xfrm>
          <a:prstGeom prst="rect">
            <a:avLst/>
          </a:prstGeom>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SzPts val="2000"/>
              <a:buChar char="●"/>
            </a:pPr>
            <a:r>
              <a:rPr lang="en" sz="2000"/>
              <a:t>O escritório do Uber também possui uma cafeteria</a:t>
            </a:r>
            <a:endParaRPr sz="2000"/>
          </a:p>
          <a:p>
            <a:pPr indent="-355600" lvl="0" marL="457200" marR="0" rtl="0" algn="l">
              <a:lnSpc>
                <a:spcPct val="115000"/>
              </a:lnSpc>
              <a:spcBef>
                <a:spcPts val="1000"/>
              </a:spcBef>
              <a:spcAft>
                <a:spcPts val="0"/>
              </a:spcAft>
              <a:buSzPts val="2000"/>
              <a:buChar char="●"/>
            </a:pPr>
            <a:r>
              <a:rPr lang="en" sz="2000"/>
              <a:t>Logo, devs podem:</a:t>
            </a:r>
            <a:endParaRPr sz="2000"/>
          </a:p>
          <a:p>
            <a:pPr indent="-355600" lvl="1" marL="914400" marR="0" rtl="0" algn="l">
              <a:lnSpc>
                <a:spcPct val="115000"/>
              </a:lnSpc>
              <a:spcBef>
                <a:spcPts val="1000"/>
              </a:spcBef>
              <a:spcAft>
                <a:spcPts val="0"/>
              </a:spcAft>
              <a:buSzPts val="2000"/>
              <a:buChar char="○"/>
            </a:pPr>
            <a:r>
              <a:rPr lang="en" sz="2000"/>
              <a:t>Fazer pedidos (visão do cliente)</a:t>
            </a:r>
            <a:endParaRPr sz="2000"/>
          </a:p>
          <a:p>
            <a:pPr indent="-355600" lvl="1" marL="914400" marR="0" rtl="0" algn="l">
              <a:lnSpc>
                <a:spcPct val="115000"/>
              </a:lnSpc>
              <a:spcBef>
                <a:spcPts val="1000"/>
              </a:spcBef>
              <a:spcAft>
                <a:spcPts val="0"/>
              </a:spcAft>
              <a:buSzPts val="2000"/>
              <a:buChar char="○"/>
            </a:pPr>
            <a:r>
              <a:rPr lang="en" sz="2000"/>
              <a:t>Receber pedidos (visão do restaurante)</a:t>
            </a:r>
            <a:endParaRPr sz="2000"/>
          </a:p>
          <a:p>
            <a:pPr indent="-355600" lvl="1" marL="914400" marR="0" rtl="0" algn="l">
              <a:lnSpc>
                <a:spcPct val="115000"/>
              </a:lnSpc>
              <a:spcBef>
                <a:spcPts val="1000"/>
              </a:spcBef>
              <a:spcAft>
                <a:spcPts val="1000"/>
              </a:spcAft>
              <a:buSzPts val="2000"/>
              <a:buChar char="○"/>
            </a:pPr>
            <a:r>
              <a:rPr lang="en" sz="2000"/>
              <a:t>Fazer entregas (visão do entregador)</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9"/>
          <p:cNvSpPr txBox="1"/>
          <p:nvPr>
            <p:ph type="title"/>
          </p:nvPr>
        </p:nvSpPr>
        <p:spPr>
          <a:xfrm>
            <a:off x="311700" y="355633"/>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Import</a:t>
            </a:r>
            <a:r>
              <a:rPr lang="en"/>
              <a:t>ância de ouvir usuários, mas não necessariamente fazer o que pedem (pelo menos de forma direta)</a:t>
            </a:r>
            <a:endParaRPr/>
          </a:p>
        </p:txBody>
      </p:sp>
      <p:sp>
        <p:nvSpPr>
          <p:cNvPr id="320" name="Google Shape;320;p4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1" name="Google Shape;321;p49" title="Screenshot 2026-08-24 at 07.51.18.png"/>
          <p:cNvPicPr preferRelativeResize="0"/>
          <p:nvPr/>
        </p:nvPicPr>
        <p:blipFill>
          <a:blip r:embed="rId3">
            <a:alphaModFix/>
          </a:blip>
          <a:stretch>
            <a:fillRect/>
          </a:stretch>
        </p:blipFill>
        <p:spPr>
          <a:xfrm>
            <a:off x="450963" y="1940094"/>
            <a:ext cx="7169375" cy="2154400"/>
          </a:xfrm>
          <a:prstGeom prst="rect">
            <a:avLst/>
          </a:prstGeom>
          <a:noFill/>
          <a:ln cap="flat" cmpd="sng" w="9525">
            <a:solidFill>
              <a:schemeClr val="dk2"/>
            </a:solidFill>
            <a:prstDash val="solid"/>
            <a:round/>
            <a:headEnd len="sm" w="sm" type="none"/>
            <a:tailEnd len="sm" w="sm" type="none"/>
          </a:ln>
        </p:spPr>
      </p:pic>
      <p:sp>
        <p:nvSpPr>
          <p:cNvPr id="322" name="Google Shape;322;p49"/>
          <p:cNvSpPr txBox="1"/>
          <p:nvPr/>
        </p:nvSpPr>
        <p:spPr>
          <a:xfrm>
            <a:off x="3830138" y="4142700"/>
            <a:ext cx="83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hlink"/>
                </a:solidFill>
                <a:hlinkClick r:id="rId4"/>
              </a:rPr>
              <a:t>link</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 2013, usu</a:t>
            </a:r>
            <a:r>
              <a:rPr lang="en"/>
              <a:t>ários do Snapchat estavam pedindo</a:t>
            </a:r>
            <a:endParaRPr/>
          </a:p>
        </p:txBody>
      </p:sp>
      <p:sp>
        <p:nvSpPr>
          <p:cNvPr id="328" name="Google Shape;328;p5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329" name="Google Shape;329;p50"/>
          <p:cNvGraphicFramePr/>
          <p:nvPr/>
        </p:nvGraphicFramePr>
        <p:xfrm>
          <a:off x="636188" y="1131597"/>
          <a:ext cx="3000000" cy="3000000"/>
        </p:xfrm>
        <a:graphic>
          <a:graphicData uri="http://schemas.openxmlformats.org/drawingml/2006/table">
            <a:tbl>
              <a:tblPr>
                <a:noFill/>
                <a:tableStyleId>{40220412-06AD-490C-AE37-287B2465A2A9}</a:tableStyleId>
              </a:tblPr>
              <a:tblGrid>
                <a:gridCol w="3619500"/>
              </a:tblGrid>
              <a:tr h="381000">
                <a:tc>
                  <a:txBody>
                    <a:bodyPr/>
                    <a:lstStyle/>
                    <a:p>
                      <a:pPr indent="0" lvl="0" marL="0" rtl="0" algn="l">
                        <a:lnSpc>
                          <a:spcPct val="115000"/>
                        </a:lnSpc>
                        <a:spcBef>
                          <a:spcPts val="0"/>
                        </a:spcBef>
                        <a:spcAft>
                          <a:spcPts val="1000"/>
                        </a:spcAft>
                        <a:buNone/>
                      </a:pPr>
                      <a:r>
                        <a:rPr lang="en" sz="2000">
                          <a:solidFill>
                            <a:schemeClr val="dk2"/>
                          </a:solidFill>
                        </a:rPr>
                        <a:t>Compartilhar mensagens com muitos amigos</a:t>
                      </a:r>
                      <a:endParaRPr/>
                    </a:p>
                  </a:txBody>
                  <a:tcPr marT="91425" marB="91425" marR="91425" marL="91425"/>
                </a:tc>
              </a:tr>
              <a:tr h="381000">
                <a:tc>
                  <a:txBody>
                    <a:bodyPr/>
                    <a:lstStyle/>
                    <a:p>
                      <a:pPr indent="0" lvl="0" marL="0" rtl="0" algn="l">
                        <a:lnSpc>
                          <a:spcPct val="115000"/>
                        </a:lnSpc>
                        <a:spcBef>
                          <a:spcPts val="0"/>
                        </a:spcBef>
                        <a:spcAft>
                          <a:spcPts val="1000"/>
                        </a:spcAft>
                        <a:buNone/>
                      </a:pPr>
                      <a:r>
                        <a:rPr lang="en" sz="2000">
                          <a:solidFill>
                            <a:schemeClr val="dk2"/>
                          </a:solidFill>
                        </a:rPr>
                        <a:t>Não gostavam da pressão social criada por likes, comentários e posts permanentes</a:t>
                      </a:r>
                      <a:endParaRPr/>
                    </a:p>
                  </a:txBody>
                  <a:tcPr marT="91425" marB="91425" marR="91425" marL="91425"/>
                </a:tc>
              </a:tr>
              <a:tr h="381000">
                <a:tc>
                  <a:txBody>
                    <a:bodyPr/>
                    <a:lstStyle/>
                    <a:p>
                      <a:pPr indent="0" lvl="0" marL="0" rtl="0" algn="l">
                        <a:lnSpc>
                          <a:spcPct val="115000"/>
                        </a:lnSpc>
                        <a:spcBef>
                          <a:spcPts val="0"/>
                        </a:spcBef>
                        <a:spcAft>
                          <a:spcPts val="1000"/>
                        </a:spcAft>
                        <a:buNone/>
                      </a:pPr>
                      <a:r>
                        <a:rPr lang="en" sz="2000">
                          <a:solidFill>
                            <a:schemeClr val="dk2"/>
                          </a:solidFill>
                        </a:rPr>
                        <a:t>Achavam estranho que o feed mostrasse eventos em ordem cronológica inversa</a:t>
                      </a:r>
                      <a:endParaRPr/>
                    </a:p>
                  </a:txBody>
                  <a:tcPr marT="91425" marB="91425" marR="91425" marL="91425"/>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Soluções </a:t>
            </a:r>
            <a:r>
              <a:rPr lang="en"/>
              <a:t>óbvias </a:t>
            </a:r>
            <a:r>
              <a:rPr lang="en"/>
              <a:t>(mas que não foram adotadas)</a:t>
            </a:r>
            <a:endParaRPr/>
          </a:p>
        </p:txBody>
      </p:sp>
      <p:sp>
        <p:nvSpPr>
          <p:cNvPr id="335" name="Google Shape;335;p5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336" name="Google Shape;336;p51"/>
          <p:cNvGraphicFramePr/>
          <p:nvPr/>
        </p:nvGraphicFramePr>
        <p:xfrm>
          <a:off x="505485" y="1069687"/>
          <a:ext cx="3000000" cy="3000000"/>
        </p:xfrm>
        <a:graphic>
          <a:graphicData uri="http://schemas.openxmlformats.org/drawingml/2006/table">
            <a:tbl>
              <a:tblPr>
                <a:noFill/>
                <a:tableStyleId>{40220412-06AD-490C-AE37-287B2465A2A9}</a:tableStyleId>
              </a:tblPr>
              <a:tblGrid>
                <a:gridCol w="3894575"/>
                <a:gridCol w="3894575"/>
              </a:tblGrid>
              <a:tr h="381000">
                <a:tc>
                  <a:txBody>
                    <a:bodyPr/>
                    <a:lstStyle/>
                    <a:p>
                      <a:pPr indent="0" lvl="0" marL="0" rtl="0" algn="l">
                        <a:lnSpc>
                          <a:spcPct val="115000"/>
                        </a:lnSpc>
                        <a:spcBef>
                          <a:spcPts val="0"/>
                        </a:spcBef>
                        <a:spcAft>
                          <a:spcPts val="1000"/>
                        </a:spcAft>
                        <a:buNone/>
                      </a:pPr>
                      <a:r>
                        <a:rPr lang="en" sz="2000">
                          <a:solidFill>
                            <a:schemeClr val="dk2"/>
                          </a:solidFill>
                        </a:rPr>
                        <a:t>Compartilhar mensagens com muitos amigos</a:t>
                      </a:r>
                      <a:endParaRPr/>
                    </a:p>
                  </a:txBody>
                  <a:tcPr marT="91425" marB="91425" marR="91425" marL="91425"/>
                </a:tc>
                <a:tc>
                  <a:txBody>
                    <a:bodyPr/>
                    <a:lstStyle/>
                    <a:p>
                      <a:pPr indent="0" lvl="0" marL="0" rtl="0" algn="l">
                        <a:lnSpc>
                          <a:spcPct val="115000"/>
                        </a:lnSpc>
                        <a:spcBef>
                          <a:spcPts val="0"/>
                        </a:spcBef>
                        <a:spcAft>
                          <a:spcPts val="1000"/>
                        </a:spcAft>
                        <a:buNone/>
                      </a:pPr>
                      <a:r>
                        <a:rPr lang="en" sz="2000">
                          <a:solidFill>
                            <a:schemeClr val="dk2"/>
                          </a:solidFill>
                          <a:highlight>
                            <a:srgbClr val="FFF2CC"/>
                          </a:highlight>
                        </a:rPr>
                        <a:t>Criar um botão "Send All"</a:t>
                      </a:r>
                      <a:endParaRPr/>
                    </a:p>
                  </a:txBody>
                  <a:tcPr marT="91425" marB="91425" marR="91425" marL="91425"/>
                </a:tc>
              </a:tr>
              <a:tr h="381000">
                <a:tc>
                  <a:txBody>
                    <a:bodyPr/>
                    <a:lstStyle/>
                    <a:p>
                      <a:pPr indent="0" lvl="0" marL="0" rtl="0" algn="l">
                        <a:lnSpc>
                          <a:spcPct val="115000"/>
                        </a:lnSpc>
                        <a:spcBef>
                          <a:spcPts val="0"/>
                        </a:spcBef>
                        <a:spcAft>
                          <a:spcPts val="1000"/>
                        </a:spcAft>
                        <a:buNone/>
                      </a:pPr>
                      <a:r>
                        <a:rPr lang="en" sz="2000">
                          <a:solidFill>
                            <a:schemeClr val="dk2"/>
                          </a:solidFill>
                        </a:rPr>
                        <a:t>Não gostavam da pressão social criada por likes, comentários e posts permanentes</a:t>
                      </a:r>
                      <a:endParaRPr/>
                    </a:p>
                  </a:txBody>
                  <a:tcPr marT="91425" marB="91425" marR="91425" marL="91425"/>
                </a:tc>
                <a:tc>
                  <a:txBody>
                    <a:bodyPr/>
                    <a:lstStyle/>
                    <a:p>
                      <a:pPr indent="0" lvl="0" marL="0" rtl="0" algn="l">
                        <a:lnSpc>
                          <a:spcPct val="115000"/>
                        </a:lnSpc>
                        <a:spcBef>
                          <a:spcPts val="0"/>
                        </a:spcBef>
                        <a:spcAft>
                          <a:spcPts val="1000"/>
                        </a:spcAft>
                        <a:buNone/>
                      </a:pPr>
                      <a:r>
                        <a:rPr lang="en" sz="2000">
                          <a:solidFill>
                            <a:schemeClr val="dk2"/>
                          </a:solidFill>
                          <a:highlight>
                            <a:srgbClr val="FFF2CC"/>
                          </a:highlight>
                        </a:rPr>
                        <a:t>Opção para</a:t>
                      </a:r>
                      <a:r>
                        <a:rPr lang="en" sz="2000">
                          <a:solidFill>
                            <a:schemeClr val="dk2"/>
                          </a:solidFill>
                          <a:highlight>
                            <a:srgbClr val="FFF2CC"/>
                          </a:highlight>
                        </a:rPr>
                        <a:t> desabilitar likes, comentários; opção para definir o tempo de vida de um post</a:t>
                      </a:r>
                      <a:endParaRPr/>
                    </a:p>
                  </a:txBody>
                  <a:tcPr marT="91425" marB="91425" marR="91425" marL="91425"/>
                </a:tc>
              </a:tr>
              <a:tr h="381000">
                <a:tc>
                  <a:txBody>
                    <a:bodyPr/>
                    <a:lstStyle/>
                    <a:p>
                      <a:pPr indent="0" lvl="0" marL="0" rtl="0" algn="l">
                        <a:lnSpc>
                          <a:spcPct val="115000"/>
                        </a:lnSpc>
                        <a:spcBef>
                          <a:spcPts val="0"/>
                        </a:spcBef>
                        <a:spcAft>
                          <a:spcPts val="1000"/>
                        </a:spcAft>
                        <a:buNone/>
                      </a:pPr>
                      <a:r>
                        <a:rPr lang="en" sz="2000">
                          <a:solidFill>
                            <a:schemeClr val="dk2"/>
                          </a:solidFill>
                        </a:rPr>
                        <a:t>Achavam estranho que o feed mostrasse eventos em ordem cronológica inversa</a:t>
                      </a:r>
                      <a:endParaRPr/>
                    </a:p>
                  </a:txBody>
                  <a:tcPr marT="91425" marB="91425" marR="91425" marL="91425"/>
                </a:tc>
                <a:tc>
                  <a:txBody>
                    <a:bodyPr/>
                    <a:lstStyle/>
                    <a:p>
                      <a:pPr indent="0" lvl="0" marL="0" rtl="0" algn="l">
                        <a:lnSpc>
                          <a:spcPct val="115000"/>
                        </a:lnSpc>
                        <a:spcBef>
                          <a:spcPts val="0"/>
                        </a:spcBef>
                        <a:spcAft>
                          <a:spcPts val="1000"/>
                        </a:spcAft>
                        <a:buNone/>
                      </a:pPr>
                      <a:r>
                        <a:rPr lang="en" sz="2000">
                          <a:solidFill>
                            <a:schemeClr val="dk2"/>
                          </a:solidFill>
                          <a:highlight>
                            <a:srgbClr val="FFF2CC"/>
                          </a:highlight>
                        </a:rPr>
                        <a:t>O</a:t>
                      </a:r>
                      <a:r>
                        <a:rPr lang="en" sz="2000">
                          <a:solidFill>
                            <a:schemeClr val="dk2"/>
                          </a:solidFill>
                          <a:highlight>
                            <a:srgbClr val="FFF2CC"/>
                          </a:highlight>
                        </a:rPr>
                        <a:t>pção para mostrar posts na ordem cronológica</a:t>
                      </a:r>
                      <a:endParaRPr/>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 vez disso: stories</a:t>
            </a:r>
            <a:endParaRPr/>
          </a:p>
        </p:txBody>
      </p:sp>
      <p:sp>
        <p:nvSpPr>
          <p:cNvPr id="342" name="Google Shape;342;p5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43" name="Google Shape;343;p52" title="Screenshot 2026-08-24 at 08.12.49.png"/>
          <p:cNvPicPr preferRelativeResize="0"/>
          <p:nvPr/>
        </p:nvPicPr>
        <p:blipFill>
          <a:blip r:embed="rId3">
            <a:alphaModFix/>
          </a:blip>
          <a:stretch>
            <a:fillRect/>
          </a:stretch>
        </p:blipFill>
        <p:spPr>
          <a:xfrm>
            <a:off x="461350" y="1399725"/>
            <a:ext cx="6783675" cy="2344049"/>
          </a:xfrm>
          <a:prstGeom prst="rect">
            <a:avLst/>
          </a:prstGeom>
          <a:noFill/>
          <a:ln cap="flat" cmpd="sng" w="9525">
            <a:solidFill>
              <a:schemeClr val="dk2"/>
            </a:solidFill>
            <a:prstDash val="solid"/>
            <a:round/>
            <a:headEnd len="sm" w="sm" type="none"/>
            <a:tailEnd len="sm" w="sm" type="none"/>
          </a:ln>
        </p:spPr>
      </p:pic>
      <p:sp>
        <p:nvSpPr>
          <p:cNvPr id="344" name="Google Shape;344;p52"/>
          <p:cNvSpPr txBox="1"/>
          <p:nvPr/>
        </p:nvSpPr>
        <p:spPr>
          <a:xfrm>
            <a:off x="563875" y="4197725"/>
            <a:ext cx="638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Depois, o Instagram também </a:t>
            </a:r>
            <a:r>
              <a:rPr lang="en" sz="1800">
                <a:solidFill>
                  <a:schemeClr val="dk2"/>
                </a:solidFill>
              </a:rPr>
              <a:t>disponibilizou</a:t>
            </a:r>
            <a:r>
              <a:rPr lang="en" sz="1800">
                <a:solidFill>
                  <a:schemeClr val="dk2"/>
                </a:solidFill>
              </a:rPr>
              <a:t> essa feature…</a:t>
            </a:r>
            <a:endParaRPr sz="1800">
              <a:solidFill>
                <a:schemeClr val="dk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3"/>
          <p:cNvSpPr txBox="1"/>
          <p:nvPr>
            <p:ph idx="1" type="body"/>
          </p:nvPr>
        </p:nvSpPr>
        <p:spPr>
          <a:xfrm>
            <a:off x="352950" y="188828"/>
            <a:ext cx="8520600" cy="432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highlight>
                  <a:srgbClr val="FFF2CC"/>
                </a:highlight>
              </a:rPr>
              <a:t>S</a:t>
            </a:r>
            <a:r>
              <a:rPr lang="en">
                <a:highlight>
                  <a:srgbClr val="FFF2CC"/>
                </a:highlight>
              </a:rPr>
              <a:t>o we listened to all of that and heard all of that, but then we came up with something totally new and different, which were stories that were responsive to the feedback.</a:t>
            </a:r>
            <a:r>
              <a:rPr lang="en"/>
              <a:t> They didn't create a send to all button, but they did create a way to easily share with all of your friends without spamming them all day long.</a:t>
            </a:r>
            <a:endParaRPr/>
          </a:p>
          <a:p>
            <a:pPr indent="0" lvl="0" marL="0" rtl="0" algn="l">
              <a:spcBef>
                <a:spcPts val="1600"/>
              </a:spcBef>
              <a:spcAft>
                <a:spcPts val="0"/>
              </a:spcAft>
              <a:buClr>
                <a:schemeClr val="dk1"/>
              </a:buClr>
              <a:buSzPts val="1100"/>
              <a:buFont typeface="Arial"/>
              <a:buNone/>
            </a:pPr>
            <a:r>
              <a:rPr lang="en"/>
              <a:t>They removed public metrics. They didn't have likes and comments and things like that to reduce pressure. They disappeared after 24 hours so that everyone could start the day fresh again the next day. And they, maybe most importantly, were in chronological order, which is the way that people have told stories since the beginning of time.</a:t>
            </a:r>
            <a:endParaRPr/>
          </a:p>
          <a:p>
            <a:pPr indent="0" lvl="0" marL="0" rtl="0" algn="l">
              <a:spcBef>
                <a:spcPts val="1600"/>
              </a:spcBef>
              <a:spcAft>
                <a:spcPts val="0"/>
              </a:spcAft>
              <a:buClr>
                <a:schemeClr val="dk1"/>
              </a:buClr>
              <a:buSzPts val="1100"/>
              <a:buFont typeface="Arial"/>
              <a:buNone/>
            </a:pPr>
            <a:r>
              <a:rPr lang="en">
                <a:highlight>
                  <a:srgbClr val="FFF2CC"/>
                </a:highlight>
              </a:rPr>
              <a:t>So I think that's an example where listening is incredibly valuable. </a:t>
            </a:r>
            <a:r>
              <a:rPr lang="en"/>
              <a:t>All of those insights that we received just from listening to folks made a huge difference in the product design process, </a:t>
            </a:r>
            <a:r>
              <a:rPr lang="en">
                <a:highlight>
                  <a:srgbClr val="FFF2CC"/>
                </a:highlight>
              </a:rPr>
              <a:t>but we didn't build exactly what they asked for.</a:t>
            </a:r>
            <a:r>
              <a:rPr lang="en"/>
              <a:t> We empathized and then came up with something new.</a:t>
            </a:r>
            <a:endParaRPr/>
          </a:p>
          <a:p>
            <a:pPr indent="0" lvl="0" marL="0" rtl="0" algn="l">
              <a:spcBef>
                <a:spcPts val="1600"/>
              </a:spcBef>
              <a:spcAft>
                <a:spcPts val="1600"/>
              </a:spcAft>
              <a:buNone/>
            </a:pPr>
            <a:r>
              <a:t/>
            </a:r>
            <a:endParaRPr/>
          </a:p>
        </p:txBody>
      </p:sp>
      <p:sp>
        <p:nvSpPr>
          <p:cNvPr id="350" name="Google Shape;350;p5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a:t>
            </a:r>
            <a:r>
              <a:rPr lang="en"/>
              <a:t>Feature Bloat: muito importante evitar…</a:t>
            </a:r>
            <a:endParaRPr/>
          </a:p>
        </p:txBody>
      </p:sp>
      <p:sp>
        <p:nvSpPr>
          <p:cNvPr id="356" name="Google Shape;356;p5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57" name="Google Shape;357;p54"/>
          <p:cNvPicPr preferRelativeResize="0"/>
          <p:nvPr/>
        </p:nvPicPr>
        <p:blipFill>
          <a:blip r:embed="rId3">
            <a:alphaModFix/>
          </a:blip>
          <a:stretch>
            <a:fillRect/>
          </a:stretch>
        </p:blipFill>
        <p:spPr>
          <a:xfrm>
            <a:off x="1996827" y="1178564"/>
            <a:ext cx="4146424" cy="3028826"/>
          </a:xfrm>
          <a:prstGeom prst="rect">
            <a:avLst/>
          </a:prstGeom>
          <a:noFill/>
          <a:ln>
            <a:noFill/>
          </a:ln>
        </p:spPr>
      </p:pic>
      <p:sp>
        <p:nvSpPr>
          <p:cNvPr id="358" name="Google Shape;358;p54"/>
          <p:cNvSpPr txBox="1"/>
          <p:nvPr/>
        </p:nvSpPr>
        <p:spPr>
          <a:xfrm>
            <a:off x="1996827" y="4341314"/>
            <a:ext cx="414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666666"/>
                </a:solidFill>
              </a:rPr>
              <a:t>Figura meramente  ilustrativa</a:t>
            </a:r>
            <a:endParaRPr>
              <a:solidFill>
                <a:srgbClr val="666666"/>
              </a:solidFill>
            </a:endParaRPr>
          </a:p>
        </p:txBody>
      </p:sp>
      <p:sp>
        <p:nvSpPr>
          <p:cNvPr id="359" name="Google Shape;359;p54"/>
          <p:cNvSpPr txBox="1"/>
          <p:nvPr/>
        </p:nvSpPr>
        <p:spPr>
          <a:xfrm>
            <a:off x="6353750" y="1206525"/>
            <a:ext cx="27162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highlight>
                  <a:srgbClr val="FFF2CC"/>
                </a:highlight>
              </a:rPr>
              <a:t>The risk of feature bloat is probably increasing due to the ease of generating code with LLMs.</a:t>
            </a:r>
            <a:endParaRPr sz="1700">
              <a:solidFill>
                <a:schemeClr val="dk2"/>
              </a:solidFill>
              <a:highlight>
                <a:srgbClr val="FFF2CC"/>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5"/>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Casos de Uso</a:t>
            </a:r>
            <a:endParaRPr b="1">
              <a:solidFill>
                <a:srgbClr val="FF0000"/>
              </a:solidFill>
            </a:endParaRPr>
          </a:p>
        </p:txBody>
      </p:sp>
      <p:sp>
        <p:nvSpPr>
          <p:cNvPr id="365" name="Google Shape;365;p5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idx="1" type="body"/>
          </p:nvPr>
        </p:nvSpPr>
        <p:spPr>
          <a:xfrm>
            <a:off x="1378500" y="466675"/>
            <a:ext cx="5661600" cy="76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Como requisitos eram especificados antes de métodos ágeis? </a:t>
            </a:r>
            <a:endParaRPr sz="2300"/>
          </a:p>
          <a:p>
            <a:pPr indent="0" lvl="0" marL="0" rtl="0" algn="ctr">
              <a:spcBef>
                <a:spcPts val="1600"/>
              </a:spcBef>
              <a:spcAft>
                <a:spcPts val="1600"/>
              </a:spcAft>
              <a:buNone/>
            </a:pPr>
            <a:r>
              <a:t/>
            </a:r>
            <a:endParaRPr sz="2300"/>
          </a:p>
        </p:txBody>
      </p:sp>
      <p:sp>
        <p:nvSpPr>
          <p:cNvPr id="371" name="Google Shape;371;p5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72" name="Google Shape;372;p56"/>
          <p:cNvPicPr preferRelativeResize="0"/>
          <p:nvPr/>
        </p:nvPicPr>
        <p:blipFill>
          <a:blip r:embed="rId3">
            <a:alphaModFix/>
          </a:blip>
          <a:stretch>
            <a:fillRect/>
          </a:stretch>
        </p:blipFill>
        <p:spPr>
          <a:xfrm>
            <a:off x="2050125" y="1778374"/>
            <a:ext cx="4467350" cy="25983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Casos de Uso</a:t>
            </a:r>
            <a:endParaRPr/>
          </a:p>
        </p:txBody>
      </p:sp>
      <p:sp>
        <p:nvSpPr>
          <p:cNvPr id="378" name="Google Shape;378;p5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57"/>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Documento mais detalhado de especificação de requisitos</a:t>
            </a:r>
            <a:endParaRPr sz="2200"/>
          </a:p>
          <a:p>
            <a:pPr indent="-368300" lvl="0" marL="457200" marR="0" rtl="0" algn="l">
              <a:lnSpc>
                <a:spcPct val="114000"/>
              </a:lnSpc>
              <a:spcBef>
                <a:spcPts val="1000"/>
              </a:spcBef>
              <a:spcAft>
                <a:spcPts val="0"/>
              </a:spcAft>
              <a:buSzPts val="2200"/>
              <a:buChar char="●"/>
            </a:pPr>
            <a:r>
              <a:rPr lang="en" sz="2200"/>
              <a:t>Um ator realizando alguma operação com o sistema</a:t>
            </a:r>
            <a:endParaRPr sz="2200"/>
          </a:p>
          <a:p>
            <a:pPr indent="-368300" lvl="0" marL="457200" marR="0" rtl="0" algn="l">
              <a:lnSpc>
                <a:spcPct val="114000"/>
              </a:lnSpc>
              <a:spcBef>
                <a:spcPts val="1000"/>
              </a:spcBef>
              <a:spcAft>
                <a:spcPts val="0"/>
              </a:spcAft>
              <a:buSzPts val="2200"/>
              <a:buChar char="●"/>
            </a:pPr>
            <a:r>
              <a:rPr lang="en" sz="2200"/>
              <a:t>Incluem fluxo normal e extensões</a:t>
            </a:r>
            <a:endParaRPr sz="2200"/>
          </a:p>
          <a:p>
            <a:pPr indent="-368300" lvl="0" marL="457200" marR="0" rtl="0" algn="l">
              <a:lnSpc>
                <a:spcPct val="114000"/>
              </a:lnSpc>
              <a:spcBef>
                <a:spcPts val="1000"/>
              </a:spcBef>
              <a:spcAft>
                <a:spcPts val="0"/>
              </a:spcAft>
              <a:buSzPts val="2200"/>
              <a:buChar char="●"/>
            </a:pPr>
            <a:r>
              <a:rPr lang="en" sz="2200"/>
              <a:t>Extensões:</a:t>
            </a:r>
            <a:endParaRPr sz="2200"/>
          </a:p>
          <a:p>
            <a:pPr indent="-368300" lvl="1" marL="914400" marR="0" rtl="0" algn="l">
              <a:lnSpc>
                <a:spcPct val="114000"/>
              </a:lnSpc>
              <a:spcBef>
                <a:spcPts val="1000"/>
              </a:spcBef>
              <a:spcAft>
                <a:spcPts val="0"/>
              </a:spcAft>
              <a:buSzPts val="2200"/>
              <a:buChar char="○"/>
            </a:pPr>
            <a:r>
              <a:rPr lang="en" sz="2200"/>
              <a:t>Tratamento de erros</a:t>
            </a:r>
            <a:endParaRPr sz="2200"/>
          </a:p>
          <a:p>
            <a:pPr indent="-368300" lvl="1" marL="914400" marR="0" rtl="0" algn="l">
              <a:lnSpc>
                <a:spcPct val="114000"/>
              </a:lnSpc>
              <a:spcBef>
                <a:spcPts val="1000"/>
              </a:spcBef>
              <a:spcAft>
                <a:spcPts val="0"/>
              </a:spcAft>
              <a:buSzPts val="2200"/>
              <a:buChar char="○"/>
            </a:pPr>
            <a:r>
              <a:rPr lang="en" sz="2200"/>
              <a:t>Detalhamento de certos passos</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85" name="Google Shape;385;p58"/>
          <p:cNvPicPr preferRelativeResize="0"/>
          <p:nvPr/>
        </p:nvPicPr>
        <p:blipFill>
          <a:blip r:embed="rId3">
            <a:alphaModFix/>
          </a:blip>
          <a:stretch>
            <a:fillRect/>
          </a:stretch>
        </p:blipFill>
        <p:spPr>
          <a:xfrm>
            <a:off x="105750" y="103325"/>
            <a:ext cx="6869774" cy="3911125"/>
          </a:xfrm>
          <a:prstGeom prst="rect">
            <a:avLst/>
          </a:prstGeom>
          <a:noFill/>
          <a:ln>
            <a:noFill/>
          </a:ln>
        </p:spPr>
      </p:pic>
      <p:sp>
        <p:nvSpPr>
          <p:cNvPr id="386" name="Google Shape;386;p58"/>
          <p:cNvSpPr txBox="1"/>
          <p:nvPr/>
        </p:nvSpPr>
        <p:spPr>
          <a:xfrm>
            <a:off x="7254550" y="1392175"/>
            <a:ext cx="95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Cliente</a:t>
            </a:r>
            <a:endParaRPr sz="1800">
              <a:solidFill>
                <a:schemeClr val="dk2"/>
              </a:solidFill>
            </a:endParaRPr>
          </a:p>
        </p:txBody>
      </p:sp>
      <p:sp>
        <p:nvSpPr>
          <p:cNvPr id="387" name="Google Shape;387;p58"/>
          <p:cNvSpPr/>
          <p:nvPr/>
        </p:nvSpPr>
        <p:spPr>
          <a:xfrm>
            <a:off x="7062000" y="1275275"/>
            <a:ext cx="144300" cy="6465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58"/>
          <p:cNvSpPr txBox="1"/>
          <p:nvPr/>
        </p:nvSpPr>
        <p:spPr>
          <a:xfrm>
            <a:off x="7282048" y="1971900"/>
            <a:ext cx="121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Sistema</a:t>
            </a:r>
            <a:endParaRPr sz="1800">
              <a:solidFill>
                <a:schemeClr val="dk2"/>
              </a:solidFill>
            </a:endParaRPr>
          </a:p>
        </p:txBody>
      </p:sp>
      <p:sp>
        <p:nvSpPr>
          <p:cNvPr id="389" name="Google Shape;389;p58"/>
          <p:cNvSpPr/>
          <p:nvPr/>
        </p:nvSpPr>
        <p:spPr>
          <a:xfrm>
            <a:off x="7062000" y="1977798"/>
            <a:ext cx="144300" cy="461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Importante</a:t>
            </a:r>
            <a:endParaRPr/>
          </a:p>
        </p:txBody>
      </p:sp>
      <p:sp>
        <p:nvSpPr>
          <p:cNvPr id="395" name="Google Shape;395;p5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59"/>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Casos de uso não são algoritmos</a:t>
            </a:r>
            <a:endParaRPr sz="2200"/>
          </a:p>
          <a:p>
            <a:pPr indent="-368300" lvl="0" marL="457200" marR="0" rtl="0" algn="l">
              <a:lnSpc>
                <a:spcPct val="114000"/>
              </a:lnSpc>
              <a:spcBef>
                <a:spcPts val="1000"/>
              </a:spcBef>
              <a:spcAft>
                <a:spcPts val="0"/>
              </a:spcAft>
              <a:buSzPts val="2200"/>
              <a:buChar char="●"/>
            </a:pPr>
            <a:r>
              <a:rPr lang="en" sz="2200"/>
              <a:t>Não tratam de interface com usuário (botões, listas, cores, etc)</a:t>
            </a:r>
            <a:endParaRPr sz="2200"/>
          </a:p>
          <a:p>
            <a:pPr indent="-368300" lvl="0" marL="457200" marR="0" rtl="0" algn="l">
              <a:lnSpc>
                <a:spcPct val="114000"/>
              </a:lnSpc>
              <a:spcBef>
                <a:spcPts val="1000"/>
              </a:spcBef>
              <a:spcAft>
                <a:spcPts val="0"/>
              </a:spcAft>
              <a:buSzPts val="2200"/>
              <a:buChar char="●"/>
            </a:pPr>
            <a:r>
              <a:rPr lang="en" sz="2200"/>
              <a:t>Foco: entender "o que" o sistema deve fazer (ainda estamos levantando requisitos)</a:t>
            </a:r>
            <a:endParaRPr sz="2400"/>
          </a:p>
          <a:p>
            <a:pPr indent="-381000" lvl="0" marL="457200" marR="0" rtl="0" algn="l">
              <a:lnSpc>
                <a:spcPct val="114000"/>
              </a:lnSpc>
              <a:spcBef>
                <a:spcPts val="1000"/>
              </a:spcBef>
              <a:spcAft>
                <a:spcPts val="1000"/>
              </a:spcAft>
              <a:buSzPts val="2400"/>
              <a:buChar char="●"/>
            </a:pPr>
            <a:r>
              <a:rPr lang="en" sz="2200"/>
              <a:t>Como ele vai fazer isso ainda não é uma preocupação…</a:t>
            </a:r>
            <a:endParaRPr sz="2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0"/>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Exemplo: Venda em Caixa de Supermercado (PDV)</a:t>
            </a:r>
            <a:endParaRPr/>
          </a:p>
          <a:p>
            <a:pPr indent="0" lvl="0" marL="0" rtl="0" algn="ctr">
              <a:spcBef>
                <a:spcPts val="0"/>
              </a:spcBef>
              <a:spcAft>
                <a:spcPts val="0"/>
              </a:spcAft>
              <a:buNone/>
            </a:pPr>
            <a:r>
              <a:t/>
            </a:r>
            <a:endParaRPr b="1"/>
          </a:p>
          <a:p>
            <a:pPr indent="0" lvl="0" marL="0" rtl="0" algn="ctr">
              <a:lnSpc>
                <a:spcPct val="115000"/>
              </a:lnSpc>
              <a:spcBef>
                <a:spcPts val="0"/>
              </a:spcBef>
              <a:spcAft>
                <a:spcPts val="0"/>
              </a:spcAft>
              <a:buNone/>
            </a:pPr>
            <a:r>
              <a:rPr lang="en" sz="1400"/>
              <a:t>Fonte: Craig Larman. Applying UML and Patterns. Pearson, 2004</a:t>
            </a:r>
            <a:endParaRPr sz="1400"/>
          </a:p>
          <a:p>
            <a:pPr indent="0" lvl="0" marL="0" rtl="0" algn="ctr">
              <a:spcBef>
                <a:spcPts val="0"/>
              </a:spcBef>
              <a:spcAft>
                <a:spcPts val="0"/>
              </a:spcAft>
              <a:buNone/>
            </a:pPr>
            <a:r>
              <a:rPr b="1" lang="en"/>
              <a:t> </a:t>
            </a:r>
            <a:endParaRPr b="1">
              <a:solidFill>
                <a:srgbClr val="FF0000"/>
              </a:solidFill>
            </a:endParaRPr>
          </a:p>
        </p:txBody>
      </p:sp>
      <p:sp>
        <p:nvSpPr>
          <p:cNvPr id="402" name="Google Shape;402;p6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61"/>
          <p:cNvSpPr txBox="1"/>
          <p:nvPr/>
        </p:nvSpPr>
        <p:spPr>
          <a:xfrm>
            <a:off x="569775" y="110825"/>
            <a:ext cx="8340300" cy="4824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Fluxo Normal</a:t>
            </a:r>
            <a:endParaRPr b="1" sz="1700"/>
          </a:p>
          <a:p>
            <a:pPr indent="0" lvl="0" marL="457200" rtl="0" algn="l">
              <a:spcBef>
                <a:spcPts val="0"/>
              </a:spcBef>
              <a:spcAft>
                <a:spcPts val="0"/>
              </a:spcAft>
              <a:buNone/>
            </a:pPr>
            <a:r>
              <a:t/>
            </a:r>
            <a:endParaRPr sz="1700"/>
          </a:p>
          <a:p>
            <a:pPr indent="-336550" lvl="0" marL="457200" rtl="0" algn="l">
              <a:lnSpc>
                <a:spcPct val="115000"/>
              </a:lnSpc>
              <a:spcBef>
                <a:spcPts val="0"/>
              </a:spcBef>
              <a:spcAft>
                <a:spcPts val="0"/>
              </a:spcAft>
              <a:buSzPts val="1700"/>
              <a:buAutoNum type="arabicPeriod"/>
            </a:pPr>
            <a:r>
              <a:rPr lang="en" sz="1700"/>
              <a:t>Cliente chega no caixa com os produtos que deseja comprar</a:t>
            </a:r>
            <a:endParaRPr sz="1700"/>
          </a:p>
          <a:p>
            <a:pPr indent="-336550" lvl="0" marL="457200" rtl="0" algn="l">
              <a:lnSpc>
                <a:spcPct val="115000"/>
              </a:lnSpc>
              <a:spcBef>
                <a:spcPts val="0"/>
              </a:spcBef>
              <a:spcAft>
                <a:spcPts val="0"/>
              </a:spcAft>
              <a:buSzPts val="1700"/>
              <a:buAutoNum type="arabicPeriod"/>
            </a:pPr>
            <a:r>
              <a:rPr lang="en" sz="1700"/>
              <a:t>Caixa inicia uma nova venda</a:t>
            </a:r>
            <a:endParaRPr sz="1700"/>
          </a:p>
          <a:p>
            <a:pPr indent="-336550" lvl="0" marL="457200" rtl="0" algn="l">
              <a:lnSpc>
                <a:spcPct val="115000"/>
              </a:lnSpc>
              <a:spcBef>
                <a:spcPts val="0"/>
              </a:spcBef>
              <a:spcAft>
                <a:spcPts val="0"/>
              </a:spcAft>
              <a:buSzPts val="1700"/>
              <a:buAutoNum type="arabicPeriod"/>
            </a:pPr>
            <a:r>
              <a:rPr lang="en" sz="1700"/>
              <a:t>Caixa identifica um produto; por exemplo, usando leitor de código de barras</a:t>
            </a:r>
            <a:endParaRPr sz="1700"/>
          </a:p>
          <a:p>
            <a:pPr indent="-336550" lvl="0" marL="457200" rtl="0" algn="l">
              <a:lnSpc>
                <a:spcPct val="115000"/>
              </a:lnSpc>
              <a:spcBef>
                <a:spcPts val="0"/>
              </a:spcBef>
              <a:spcAft>
                <a:spcPts val="0"/>
              </a:spcAft>
              <a:buSzPts val="1700"/>
              <a:buAutoNum type="arabicPeriod"/>
            </a:pPr>
            <a:r>
              <a:rPr lang="en" sz="1700"/>
              <a:t>Sistema identifica produto, registra venda, apresenta a descrição do produto e seu preço, bem como o total da compra até o momento </a:t>
            </a:r>
            <a:endParaRPr sz="1700"/>
          </a:p>
          <a:p>
            <a:pPr indent="-336550" lvl="0" marL="457200" rtl="0" algn="l">
              <a:lnSpc>
                <a:spcPct val="115000"/>
              </a:lnSpc>
              <a:spcBef>
                <a:spcPts val="0"/>
              </a:spcBef>
              <a:spcAft>
                <a:spcPts val="0"/>
              </a:spcAft>
              <a:buSzPts val="1700"/>
              <a:buAutoNum type="arabicPeriod"/>
            </a:pPr>
            <a:r>
              <a:rPr lang="en" sz="1700"/>
              <a:t>Caixa repete passos 3-4 até não haver mais produtos para registrar venda </a:t>
            </a:r>
            <a:endParaRPr sz="1700"/>
          </a:p>
          <a:p>
            <a:pPr indent="-336550" lvl="0" marL="457200" rtl="0" algn="l">
              <a:lnSpc>
                <a:spcPct val="115000"/>
              </a:lnSpc>
              <a:spcBef>
                <a:spcPts val="0"/>
              </a:spcBef>
              <a:spcAft>
                <a:spcPts val="0"/>
              </a:spcAft>
              <a:buSzPts val="1700"/>
              <a:buAutoNum type="arabicPeriod"/>
            </a:pPr>
            <a:r>
              <a:rPr lang="en" sz="1700"/>
              <a:t>Sistema apresenta total da venda</a:t>
            </a:r>
            <a:endParaRPr sz="1700"/>
          </a:p>
          <a:p>
            <a:pPr indent="-336550" lvl="0" marL="457200" rtl="0" algn="l">
              <a:lnSpc>
                <a:spcPct val="115000"/>
              </a:lnSpc>
              <a:spcBef>
                <a:spcPts val="0"/>
              </a:spcBef>
              <a:spcAft>
                <a:spcPts val="0"/>
              </a:spcAft>
              <a:buSzPts val="1700"/>
              <a:buAutoNum type="arabicPeriod"/>
            </a:pPr>
            <a:r>
              <a:rPr lang="en" sz="1700"/>
              <a:t>Caixa informa total da venda para o cliente e pede o pagamento</a:t>
            </a:r>
            <a:endParaRPr sz="1700"/>
          </a:p>
          <a:p>
            <a:pPr indent="-336550" lvl="0" marL="457200" rtl="0" algn="l">
              <a:lnSpc>
                <a:spcPct val="115000"/>
              </a:lnSpc>
              <a:spcBef>
                <a:spcPts val="0"/>
              </a:spcBef>
              <a:spcAft>
                <a:spcPts val="0"/>
              </a:spcAft>
              <a:buSzPts val="1700"/>
              <a:buAutoNum type="arabicPeriod"/>
            </a:pPr>
            <a:r>
              <a:rPr lang="en" sz="1700"/>
              <a:t>Cliente faz o pagamento e o sistema processa o pagamento</a:t>
            </a:r>
            <a:endParaRPr sz="1700"/>
          </a:p>
          <a:p>
            <a:pPr indent="-336550" lvl="0" marL="457200" rtl="0" algn="l">
              <a:lnSpc>
                <a:spcPct val="115000"/>
              </a:lnSpc>
              <a:spcBef>
                <a:spcPts val="0"/>
              </a:spcBef>
              <a:spcAft>
                <a:spcPts val="0"/>
              </a:spcAft>
              <a:buSzPts val="1700"/>
              <a:buAutoNum type="arabicPeriod"/>
            </a:pPr>
            <a:r>
              <a:rPr lang="en" sz="1700"/>
              <a:t>Sistema registra a venda como concluída e envia informações para o sistema de contabilidade e para o sistema de controle de estoques</a:t>
            </a:r>
            <a:endParaRPr sz="1700"/>
          </a:p>
          <a:p>
            <a:pPr indent="-336550" lvl="0" marL="457200" rtl="0" algn="l">
              <a:lnSpc>
                <a:spcPct val="115000"/>
              </a:lnSpc>
              <a:spcBef>
                <a:spcPts val="0"/>
              </a:spcBef>
              <a:spcAft>
                <a:spcPts val="0"/>
              </a:spcAft>
              <a:buSzPts val="1700"/>
              <a:buAutoNum type="arabicPeriod"/>
            </a:pPr>
            <a:r>
              <a:rPr lang="en" sz="1700"/>
              <a:t>Sistema gera recibo da venda</a:t>
            </a:r>
            <a:endParaRPr sz="1700"/>
          </a:p>
          <a:p>
            <a:pPr indent="-336550" lvl="0" marL="457200" rtl="0" algn="l">
              <a:lnSpc>
                <a:spcPct val="115000"/>
              </a:lnSpc>
              <a:spcBef>
                <a:spcPts val="0"/>
              </a:spcBef>
              <a:spcAft>
                <a:spcPts val="0"/>
              </a:spcAft>
              <a:buSzPts val="1700"/>
              <a:buAutoNum type="arabicPeriod"/>
            </a:pPr>
            <a:r>
              <a:rPr lang="en" sz="1700"/>
              <a:t>Caixa entrega recibo para o cliente</a:t>
            </a:r>
            <a:endParaRPr sz="1700"/>
          </a:p>
          <a:p>
            <a:pPr indent="-336550" lvl="0" marL="457200" rtl="0" algn="l">
              <a:lnSpc>
                <a:spcPct val="115000"/>
              </a:lnSpc>
              <a:spcBef>
                <a:spcPts val="0"/>
              </a:spcBef>
              <a:spcAft>
                <a:spcPts val="0"/>
              </a:spcAft>
              <a:buSzPts val="1700"/>
              <a:buAutoNum type="arabicPeriod"/>
            </a:pPr>
            <a:r>
              <a:rPr lang="en" sz="1700"/>
              <a:t>Cliente encerra a compra, levando os produtos e o seu recibo</a:t>
            </a:r>
            <a:endParaRPr sz="1700"/>
          </a:p>
          <a:p>
            <a:pPr indent="0" lvl="0" marL="0" rtl="0" algn="l">
              <a:spcBef>
                <a:spcPts val="0"/>
              </a:spcBef>
              <a:spcAft>
                <a:spcPts val="0"/>
              </a:spcAft>
              <a:buNone/>
            </a:pPr>
            <a:r>
              <a:t/>
            </a:r>
            <a:endParaRPr sz="1700"/>
          </a:p>
        </p:txBody>
      </p:sp>
      <p:sp>
        <p:nvSpPr>
          <p:cNvPr id="409" name="Google Shape;409;p61"/>
          <p:cNvSpPr txBox="1"/>
          <p:nvPr/>
        </p:nvSpPr>
        <p:spPr>
          <a:xfrm>
            <a:off x="6161606" y="138919"/>
            <a:ext cx="2682900" cy="6156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Veja que nem todos os passos são feitos pelo sistema</a:t>
            </a:r>
            <a:endParaRPr>
              <a:solidFill>
                <a:schemeClr val="dk2"/>
              </a:solidFill>
            </a:endParaRPr>
          </a:p>
        </p:txBody>
      </p:sp>
      <p:sp>
        <p:nvSpPr>
          <p:cNvPr id="410" name="Google Shape;410;p61"/>
          <p:cNvSpPr/>
          <p:nvPr/>
        </p:nvSpPr>
        <p:spPr>
          <a:xfrm>
            <a:off x="1038350" y="622025"/>
            <a:ext cx="804600" cy="393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61"/>
          <p:cNvSpPr/>
          <p:nvPr/>
        </p:nvSpPr>
        <p:spPr>
          <a:xfrm>
            <a:off x="1101351" y="1565200"/>
            <a:ext cx="804600" cy="393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61"/>
          <p:cNvSpPr/>
          <p:nvPr/>
        </p:nvSpPr>
        <p:spPr>
          <a:xfrm>
            <a:off x="1019957" y="2143925"/>
            <a:ext cx="804600" cy="393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62"/>
          <p:cNvSpPr txBox="1"/>
          <p:nvPr/>
        </p:nvSpPr>
        <p:spPr>
          <a:xfrm>
            <a:off x="569775" y="110825"/>
            <a:ext cx="8340300" cy="4946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Extensões (ou fluxos alternativos): </a:t>
            </a:r>
            <a:r>
              <a:rPr lang="en" sz="1200">
                <a:solidFill>
                  <a:srgbClr val="FF0000"/>
                </a:solidFill>
              </a:rPr>
              <a:t>[</a:t>
            </a:r>
            <a:r>
              <a:rPr lang="en" sz="1500">
                <a:solidFill>
                  <a:schemeClr val="dk1"/>
                </a:solidFill>
              </a:rPr>
              <a:t> </a:t>
            </a:r>
            <a:r>
              <a:rPr lang="en" sz="1200">
                <a:solidFill>
                  <a:srgbClr val="FF0000"/>
                </a:solidFill>
              </a:rPr>
              <a:t>vamos mostrar para apenas um dos passos do fluxo normal ]</a:t>
            </a:r>
            <a:endParaRPr sz="1200">
              <a:solidFill>
                <a:srgbClr val="FF0000"/>
              </a:solidFill>
            </a:endParaRPr>
          </a:p>
          <a:p>
            <a:pPr indent="0" lvl="0" marL="457200" rtl="0" algn="l">
              <a:spcBef>
                <a:spcPts val="0"/>
              </a:spcBef>
              <a:spcAft>
                <a:spcPts val="0"/>
              </a:spcAft>
              <a:buNone/>
            </a:pPr>
            <a:r>
              <a:t/>
            </a:r>
            <a:endParaRPr>
              <a:solidFill>
                <a:srgbClr val="FF0000"/>
              </a:solidFill>
            </a:endParaRPr>
          </a:p>
          <a:p>
            <a:pPr indent="0" lvl="0" marL="0" marR="0" rtl="0" algn="l">
              <a:lnSpc>
                <a:spcPct val="115000"/>
              </a:lnSpc>
              <a:spcBef>
                <a:spcPts val="0"/>
              </a:spcBef>
              <a:spcAft>
                <a:spcPts val="0"/>
              </a:spcAft>
              <a:buNone/>
            </a:pPr>
            <a:r>
              <a:rPr lang="en" sz="1700"/>
              <a:t>7a. Pagamento em dinheiro:</a:t>
            </a:r>
            <a:endParaRPr sz="1700"/>
          </a:p>
          <a:p>
            <a:pPr indent="-336550" lvl="0" marL="914400" marR="0" rtl="0" algn="l">
              <a:lnSpc>
                <a:spcPct val="115000"/>
              </a:lnSpc>
              <a:spcBef>
                <a:spcPts val="0"/>
              </a:spcBef>
              <a:spcAft>
                <a:spcPts val="0"/>
              </a:spcAft>
              <a:buSzPts val="1700"/>
              <a:buAutoNum type="arabicPeriod"/>
            </a:pPr>
            <a:r>
              <a:rPr lang="en" sz="1700"/>
              <a:t>Caixa digita o montante de dinheiro que o cliente lhe forneceu</a:t>
            </a:r>
            <a:endParaRPr sz="1700"/>
          </a:p>
          <a:p>
            <a:pPr indent="-336550" lvl="0" marL="914400" marR="0" rtl="0" algn="l">
              <a:lnSpc>
                <a:spcPct val="115000"/>
              </a:lnSpc>
              <a:spcBef>
                <a:spcPts val="0"/>
              </a:spcBef>
              <a:spcAft>
                <a:spcPts val="0"/>
              </a:spcAft>
              <a:buSzPts val="1700"/>
              <a:buAutoNum type="arabicPeriod"/>
            </a:pPr>
            <a:r>
              <a:rPr lang="en" sz="1700"/>
              <a:t>Sistema informa o valor do troco e libera a gaveta de notas</a:t>
            </a:r>
            <a:endParaRPr sz="1700"/>
          </a:p>
          <a:p>
            <a:pPr indent="-336550" lvl="0" marL="914400" marR="0" rtl="0" algn="l">
              <a:lnSpc>
                <a:spcPct val="115000"/>
              </a:lnSpc>
              <a:spcBef>
                <a:spcPts val="0"/>
              </a:spcBef>
              <a:spcAft>
                <a:spcPts val="0"/>
              </a:spcAft>
              <a:buSzPts val="1700"/>
              <a:buAutoNum type="arabicPeriod"/>
            </a:pPr>
            <a:r>
              <a:rPr lang="en" sz="1700">
                <a:solidFill>
                  <a:schemeClr val="dk1"/>
                </a:solidFill>
              </a:rPr>
              <a:t>Caixa deposita o dinheiro na gaveta e retorna troco para o cliente</a:t>
            </a:r>
            <a:endParaRPr sz="1700"/>
          </a:p>
          <a:p>
            <a:pPr indent="-336550" lvl="0" marL="914400" marR="0" rtl="0" algn="l">
              <a:lnSpc>
                <a:spcPct val="115000"/>
              </a:lnSpc>
              <a:spcBef>
                <a:spcPts val="0"/>
              </a:spcBef>
              <a:spcAft>
                <a:spcPts val="0"/>
              </a:spcAft>
              <a:buSzPts val="1700"/>
              <a:buAutoNum type="arabicPeriod"/>
            </a:pPr>
            <a:r>
              <a:rPr lang="en" sz="1700"/>
              <a:t>Sistema registra e conclui pagamento com dinheiro </a:t>
            </a:r>
            <a:endParaRPr sz="1700"/>
          </a:p>
          <a:p>
            <a:pPr indent="0" lvl="0" marL="914400" marR="0" rtl="0" algn="l">
              <a:lnSpc>
                <a:spcPct val="115000"/>
              </a:lnSpc>
              <a:spcBef>
                <a:spcPts val="0"/>
              </a:spcBef>
              <a:spcAft>
                <a:spcPts val="0"/>
              </a:spcAft>
              <a:buNone/>
            </a:pPr>
            <a:r>
              <a:t/>
            </a:r>
            <a:endParaRPr sz="1700"/>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7b. Pagamento com cartão de crédito:</a:t>
            </a:r>
            <a:endParaRPr sz="1700">
              <a:solidFill>
                <a:schemeClr val="dk1"/>
              </a:solidFill>
            </a:endParaRPr>
          </a:p>
          <a:p>
            <a:pPr indent="-336550" lvl="0" marL="914400" rtl="0" algn="l">
              <a:lnSpc>
                <a:spcPct val="115000"/>
              </a:lnSpc>
              <a:spcBef>
                <a:spcPts val="0"/>
              </a:spcBef>
              <a:spcAft>
                <a:spcPts val="0"/>
              </a:spcAft>
              <a:buClr>
                <a:schemeClr val="dk1"/>
              </a:buClr>
              <a:buSzPts val="1700"/>
              <a:buAutoNum type="arabicPeriod"/>
            </a:pPr>
            <a:r>
              <a:rPr lang="en" sz="1700">
                <a:solidFill>
                  <a:schemeClr val="dk1"/>
                </a:solidFill>
              </a:rPr>
              <a:t>Cliente insere cartão na máquina de cartão de crédito</a:t>
            </a:r>
            <a:endParaRPr sz="1700">
              <a:solidFill>
                <a:schemeClr val="dk1"/>
              </a:solidFill>
            </a:endParaRPr>
          </a:p>
          <a:p>
            <a:pPr indent="-336550" lvl="0" marL="914400" rtl="0" algn="l">
              <a:lnSpc>
                <a:spcPct val="115000"/>
              </a:lnSpc>
              <a:spcBef>
                <a:spcPts val="0"/>
              </a:spcBef>
              <a:spcAft>
                <a:spcPts val="0"/>
              </a:spcAft>
              <a:buClr>
                <a:schemeClr val="dk1"/>
              </a:buClr>
              <a:buSzPts val="1700"/>
              <a:buAutoNum type="arabicPeriod"/>
            </a:pPr>
            <a:r>
              <a:rPr lang="en" sz="1700">
                <a:solidFill>
                  <a:schemeClr val="dk1"/>
                </a:solidFill>
              </a:rPr>
              <a:t>Sistema informa para máquina de cartão o valor da compra</a:t>
            </a:r>
            <a:endParaRPr sz="1700">
              <a:solidFill>
                <a:schemeClr val="dk1"/>
              </a:solidFill>
            </a:endParaRPr>
          </a:p>
          <a:p>
            <a:pPr indent="-336550" lvl="0" marL="914400" rtl="0" algn="l">
              <a:lnSpc>
                <a:spcPct val="115000"/>
              </a:lnSpc>
              <a:spcBef>
                <a:spcPts val="0"/>
              </a:spcBef>
              <a:spcAft>
                <a:spcPts val="0"/>
              </a:spcAft>
              <a:buClr>
                <a:schemeClr val="dk1"/>
              </a:buClr>
              <a:buSzPts val="1700"/>
              <a:buAutoNum type="arabicPeriod"/>
            </a:pPr>
            <a:r>
              <a:rPr lang="en" sz="1700">
                <a:solidFill>
                  <a:schemeClr val="dk1"/>
                </a:solidFill>
              </a:rPr>
              <a:t>Cliente informa senha e confirma compra</a:t>
            </a:r>
            <a:endParaRPr sz="1700">
              <a:solidFill>
                <a:schemeClr val="dk1"/>
              </a:solidFill>
            </a:endParaRPr>
          </a:p>
          <a:p>
            <a:pPr indent="-336550" lvl="0" marL="914400" rtl="0" algn="l">
              <a:lnSpc>
                <a:spcPct val="115000"/>
              </a:lnSpc>
              <a:spcBef>
                <a:spcPts val="0"/>
              </a:spcBef>
              <a:spcAft>
                <a:spcPts val="0"/>
              </a:spcAft>
              <a:buClr>
                <a:schemeClr val="dk1"/>
              </a:buClr>
              <a:buSzPts val="1700"/>
              <a:buAutoNum type="arabicPeriod"/>
            </a:pPr>
            <a:r>
              <a:rPr lang="en" sz="1700">
                <a:solidFill>
                  <a:schemeClr val="dk1"/>
                </a:solidFill>
              </a:rPr>
              <a:t>Sistema envia solicitação de pagamento para operadora do cartão</a:t>
            </a:r>
            <a:endParaRPr sz="17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 sz="1700">
                <a:solidFill>
                  <a:schemeClr val="dk1"/>
                </a:solidFill>
              </a:rPr>
              <a:t>4a. Se erro de comunicação com o sistema da operadora do cartão</a:t>
            </a:r>
            <a:endParaRPr sz="17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 sz="1700">
                <a:solidFill>
                  <a:schemeClr val="dk1"/>
                </a:solidFill>
              </a:rPr>
              <a:t>      1. Sistema sinaliza erro para o Caixa</a:t>
            </a:r>
            <a:endParaRPr sz="1700">
              <a:solidFill>
                <a:schemeClr val="dk1"/>
              </a:solidFill>
            </a:endParaRPr>
          </a:p>
          <a:p>
            <a:pPr indent="0" lvl="0" marL="914400" rtl="0" algn="l">
              <a:lnSpc>
                <a:spcPct val="115000"/>
              </a:lnSpc>
              <a:spcBef>
                <a:spcPts val="0"/>
              </a:spcBef>
              <a:spcAft>
                <a:spcPts val="0"/>
              </a:spcAft>
              <a:buNone/>
            </a:pPr>
            <a:r>
              <a:rPr lang="en" sz="1700">
                <a:solidFill>
                  <a:schemeClr val="dk1"/>
                </a:solidFill>
              </a:rPr>
              <a:t>      2. Caixa solicita ao Cliente um modo alternativo de pagamento</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        </a:t>
            </a:r>
            <a:r>
              <a:rPr lang="en">
                <a:solidFill>
                  <a:schemeClr val="dk1"/>
                </a:solidFill>
              </a:rPr>
              <a:t>(continua no próximo slide)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         </a:t>
            </a:r>
            <a:endParaRPr sz="1700">
              <a:solidFill>
                <a:schemeClr val="dk1"/>
              </a:solidFill>
            </a:endParaRPr>
          </a:p>
          <a:p>
            <a:pPr indent="0" lvl="0" marL="0" marR="0" rtl="0" algn="l">
              <a:lnSpc>
                <a:spcPct val="115000"/>
              </a:lnSpc>
              <a:spcBef>
                <a:spcPts val="0"/>
              </a:spcBef>
              <a:spcAft>
                <a:spcPts val="0"/>
              </a:spcAft>
              <a:buNone/>
            </a:pPr>
            <a:r>
              <a:t/>
            </a:r>
            <a:endParaRPr sz="17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63"/>
          <p:cNvSpPr txBox="1"/>
          <p:nvPr/>
        </p:nvSpPr>
        <p:spPr>
          <a:xfrm>
            <a:off x="569775" y="110825"/>
            <a:ext cx="8340300" cy="4824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700"/>
          </a:p>
          <a:p>
            <a:pPr indent="-336550" lvl="0" marL="914400" marR="0" rtl="0" algn="l">
              <a:lnSpc>
                <a:spcPct val="115000"/>
              </a:lnSpc>
              <a:spcBef>
                <a:spcPts val="0"/>
              </a:spcBef>
              <a:spcAft>
                <a:spcPts val="0"/>
              </a:spcAft>
              <a:buSzPts val="1700"/>
              <a:buAutoNum type="arabicPeriod" startAt="5"/>
            </a:pPr>
            <a:r>
              <a:rPr lang="en" sz="1700"/>
              <a:t>Sistema recebe resultado da requisição de pagamento </a:t>
            </a:r>
            <a:endParaRPr sz="1700"/>
          </a:p>
          <a:p>
            <a:pPr indent="457200" lvl="0" marL="457200" marR="0" rtl="0" algn="l">
              <a:lnSpc>
                <a:spcPct val="115000"/>
              </a:lnSpc>
              <a:spcBef>
                <a:spcPts val="0"/>
              </a:spcBef>
              <a:spcAft>
                <a:spcPts val="0"/>
              </a:spcAft>
              <a:buNone/>
            </a:pPr>
            <a:r>
              <a:rPr lang="en" sz="1700"/>
              <a:t>5a. Pagamento negado</a:t>
            </a:r>
            <a:endParaRPr sz="1700"/>
          </a:p>
          <a:p>
            <a:pPr indent="0" lvl="0" marL="0" marR="0" rtl="0" algn="l">
              <a:lnSpc>
                <a:spcPct val="115000"/>
              </a:lnSpc>
              <a:spcBef>
                <a:spcPts val="0"/>
              </a:spcBef>
              <a:spcAft>
                <a:spcPts val="0"/>
              </a:spcAft>
              <a:buNone/>
            </a:pPr>
            <a:r>
              <a:rPr lang="en" sz="1700"/>
              <a:t>                     1. Sistema avisa o Caixa</a:t>
            </a:r>
            <a:endParaRPr sz="1700"/>
          </a:p>
          <a:p>
            <a:pPr indent="0" lvl="0" marL="914400" marR="0" rtl="0" algn="l">
              <a:lnSpc>
                <a:spcPct val="115000"/>
              </a:lnSpc>
              <a:spcBef>
                <a:spcPts val="0"/>
              </a:spcBef>
              <a:spcAft>
                <a:spcPts val="0"/>
              </a:spcAft>
              <a:buNone/>
            </a:pPr>
            <a:r>
              <a:rPr lang="en" sz="1700"/>
              <a:t>      2. C</a:t>
            </a:r>
            <a:r>
              <a:rPr lang="en" sz="1700">
                <a:solidFill>
                  <a:schemeClr val="dk1"/>
                </a:solidFill>
              </a:rPr>
              <a:t>aixa solicita ao Cliente um modo alternativo de pagamento</a:t>
            </a:r>
            <a:endParaRPr sz="1700"/>
          </a:p>
          <a:p>
            <a:pPr indent="0" lvl="0" marL="914400" marR="0" rtl="0" algn="l">
              <a:lnSpc>
                <a:spcPct val="115000"/>
              </a:lnSpc>
              <a:spcBef>
                <a:spcPts val="0"/>
              </a:spcBef>
              <a:spcAft>
                <a:spcPts val="0"/>
              </a:spcAft>
              <a:buNone/>
            </a:pPr>
            <a:r>
              <a:rPr lang="en" sz="1700"/>
              <a:t>5b. Timeout na espera pelo resultado da requisição de pagamento</a:t>
            </a:r>
            <a:endParaRPr sz="1700"/>
          </a:p>
          <a:p>
            <a:pPr indent="0" lvl="0" marL="914400" marR="0" rtl="0" algn="l">
              <a:lnSpc>
                <a:spcPct val="115000"/>
              </a:lnSpc>
              <a:spcBef>
                <a:spcPts val="0"/>
              </a:spcBef>
              <a:spcAft>
                <a:spcPts val="0"/>
              </a:spcAft>
              <a:buNone/>
            </a:pPr>
            <a:r>
              <a:rPr lang="en" sz="1700"/>
              <a:t>      1. Sistema avisa o Caixa</a:t>
            </a:r>
            <a:endParaRPr sz="1700"/>
          </a:p>
          <a:p>
            <a:pPr indent="0" lvl="0" marL="0" marR="0" rtl="0" algn="l">
              <a:lnSpc>
                <a:spcPct val="115000"/>
              </a:lnSpc>
              <a:spcBef>
                <a:spcPts val="0"/>
              </a:spcBef>
              <a:spcAft>
                <a:spcPts val="0"/>
              </a:spcAft>
              <a:buNone/>
            </a:pPr>
            <a:r>
              <a:rPr lang="en" sz="1700"/>
              <a:t>                     2. Caixa tenta de novo ou </a:t>
            </a:r>
            <a:r>
              <a:rPr lang="en" sz="1700">
                <a:solidFill>
                  <a:schemeClr val="dk1"/>
                </a:solidFill>
              </a:rPr>
              <a:t>solicita modo alternativo de pagamento</a:t>
            </a:r>
            <a:endParaRPr sz="1700"/>
          </a:p>
          <a:p>
            <a:pPr indent="-336550" lvl="0" marL="914400" marR="0" rtl="0" algn="l">
              <a:lnSpc>
                <a:spcPct val="115000"/>
              </a:lnSpc>
              <a:spcBef>
                <a:spcPts val="0"/>
              </a:spcBef>
              <a:spcAft>
                <a:spcPts val="0"/>
              </a:spcAft>
              <a:buClr>
                <a:schemeClr val="dk1"/>
              </a:buClr>
              <a:buSzPts val="1700"/>
              <a:buAutoNum type="arabicPeriod" startAt="5"/>
            </a:pPr>
            <a:r>
              <a:rPr lang="en" sz="1700">
                <a:solidFill>
                  <a:schemeClr val="dk1"/>
                </a:solidFill>
              </a:rPr>
              <a:t>Sistema registra e conclui pagamento com cartão de crédito</a:t>
            </a:r>
            <a:endParaRPr sz="1700">
              <a:solidFill>
                <a:schemeClr val="dk1"/>
              </a:solidFill>
            </a:endParaRPr>
          </a:p>
          <a:p>
            <a:pPr indent="0" lvl="0" marL="0" marR="0" rtl="0" algn="l">
              <a:lnSpc>
                <a:spcPct val="115000"/>
              </a:lnSpc>
              <a:spcBef>
                <a:spcPts val="0"/>
              </a:spcBef>
              <a:spcAft>
                <a:spcPts val="0"/>
              </a:spcAft>
              <a:buNone/>
            </a:pPr>
            <a:r>
              <a:t/>
            </a:r>
            <a:endParaRPr sz="1700"/>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7c. Pagamento com cheque</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      ….</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     </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7d. Pagamento com cartão de débito</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rPr>
              <a:t>      ….</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 </a:t>
            </a:r>
            <a:endParaRPr sz="17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4"/>
          <p:cNvSpPr txBox="1"/>
          <p:nvPr>
            <p:ph idx="1" type="body"/>
          </p:nvPr>
        </p:nvSpPr>
        <p:spPr>
          <a:xfrm>
            <a:off x="387900" y="9475"/>
            <a:ext cx="8520600" cy="8205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0"/>
              </a:spcAft>
              <a:buClr>
                <a:schemeClr val="dk1"/>
              </a:buClr>
              <a:buSzPts val="1100"/>
              <a:buFont typeface="Arial"/>
              <a:buNone/>
            </a:pPr>
            <a:r>
              <a:rPr b="1" lang="en" sz="1900"/>
              <a:t>Transferir valor usando PIX</a:t>
            </a:r>
            <a:endParaRPr b="1" sz="1900"/>
          </a:p>
          <a:p>
            <a:pPr indent="0" lvl="0" marL="0" marR="0" rtl="0" algn="l">
              <a:lnSpc>
                <a:spcPct val="114000"/>
              </a:lnSpc>
              <a:spcBef>
                <a:spcPts val="800"/>
              </a:spcBef>
              <a:spcAft>
                <a:spcPts val="0"/>
              </a:spcAft>
              <a:buClr>
                <a:schemeClr val="dk1"/>
              </a:buClr>
              <a:buSzPts val="1100"/>
              <a:buFont typeface="Arial"/>
              <a:buNone/>
            </a:pPr>
            <a:r>
              <a:rPr b="1" lang="en" sz="1900"/>
              <a:t>Ator:</a:t>
            </a:r>
            <a:r>
              <a:rPr lang="en" sz="1900"/>
              <a:t> cliente do banco</a:t>
            </a:r>
            <a:endParaRPr sz="1900"/>
          </a:p>
          <a:p>
            <a:pPr indent="0" lvl="0" marL="0" marR="0" rtl="0" algn="l">
              <a:lnSpc>
                <a:spcPct val="114000"/>
              </a:lnSpc>
              <a:spcBef>
                <a:spcPts val="800"/>
              </a:spcBef>
              <a:spcAft>
                <a:spcPts val="0"/>
              </a:spcAft>
              <a:buClr>
                <a:schemeClr val="dk1"/>
              </a:buClr>
              <a:buSzPts val="1100"/>
              <a:buFont typeface="Arial"/>
              <a:buNone/>
            </a:pPr>
            <a:r>
              <a:rPr b="1" lang="en" sz="1900"/>
              <a:t>Fluxo normal:</a:t>
            </a:r>
            <a:endParaRPr b="1" sz="1900"/>
          </a:p>
          <a:p>
            <a:pPr indent="0" lvl="0" marL="0" marR="0" rtl="0" algn="l">
              <a:lnSpc>
                <a:spcPct val="114000"/>
              </a:lnSpc>
              <a:spcBef>
                <a:spcPts val="800"/>
              </a:spcBef>
              <a:spcAft>
                <a:spcPts val="0"/>
              </a:spcAft>
              <a:buClr>
                <a:schemeClr val="dk1"/>
              </a:buClr>
              <a:buSzPts val="1100"/>
              <a:buFont typeface="Arial"/>
              <a:buNone/>
            </a:pPr>
            <a:r>
              <a:rPr lang="en" sz="1900"/>
              <a:t>1. </a:t>
            </a:r>
            <a:r>
              <a:rPr lang="en" sz="1900"/>
              <a:t>Cliente informa a chave PIX do destinatário</a:t>
            </a:r>
            <a:endParaRPr sz="1900"/>
          </a:p>
          <a:p>
            <a:pPr indent="0" lvl="0" marL="0" marR="0" rtl="0" algn="l">
              <a:lnSpc>
                <a:spcPct val="114000"/>
              </a:lnSpc>
              <a:spcBef>
                <a:spcPts val="800"/>
              </a:spcBef>
              <a:spcAft>
                <a:spcPts val="0"/>
              </a:spcAft>
              <a:buClr>
                <a:schemeClr val="dk1"/>
              </a:buClr>
              <a:buSzPts val="1100"/>
              <a:buFont typeface="Arial"/>
              <a:buNone/>
            </a:pPr>
            <a:r>
              <a:rPr lang="en" sz="1900"/>
              <a:t>2. Sistema mostra nome e banco do destinatário</a:t>
            </a:r>
            <a:endParaRPr sz="1900"/>
          </a:p>
          <a:p>
            <a:pPr indent="0" lvl="0" marL="0" marR="0" rtl="0" algn="l">
              <a:lnSpc>
                <a:spcPct val="114000"/>
              </a:lnSpc>
              <a:spcBef>
                <a:spcPts val="800"/>
              </a:spcBef>
              <a:spcAft>
                <a:spcPts val="0"/>
              </a:spcAft>
              <a:buClr>
                <a:schemeClr val="dk1"/>
              </a:buClr>
              <a:buSzPts val="1100"/>
              <a:buFont typeface="Arial"/>
              <a:buNone/>
            </a:pPr>
            <a:r>
              <a:rPr lang="en" sz="1900"/>
              <a:t>3. </a:t>
            </a:r>
            <a:r>
              <a:rPr lang="en" sz="1900"/>
              <a:t>Cliente informa valor que deseja transferir</a:t>
            </a:r>
            <a:endParaRPr sz="1900"/>
          </a:p>
          <a:p>
            <a:pPr indent="0" lvl="0" marL="0" marR="0" rtl="0" algn="l">
              <a:lnSpc>
                <a:spcPct val="114000"/>
              </a:lnSpc>
              <a:spcBef>
                <a:spcPts val="800"/>
              </a:spcBef>
              <a:spcAft>
                <a:spcPts val="0"/>
              </a:spcAft>
              <a:buClr>
                <a:schemeClr val="dk1"/>
              </a:buClr>
              <a:buSzPts val="1100"/>
              <a:buFont typeface="Arial"/>
              <a:buNone/>
            </a:pPr>
            <a:r>
              <a:rPr lang="en" sz="1900"/>
              <a:t>4. Sistema solicita senha</a:t>
            </a:r>
            <a:endParaRPr sz="1900"/>
          </a:p>
          <a:p>
            <a:pPr indent="0" lvl="0" marL="0" marR="0" rtl="0" algn="l">
              <a:lnSpc>
                <a:spcPct val="114000"/>
              </a:lnSpc>
              <a:spcBef>
                <a:spcPts val="800"/>
              </a:spcBef>
              <a:spcAft>
                <a:spcPts val="0"/>
              </a:spcAft>
              <a:buClr>
                <a:schemeClr val="dk1"/>
              </a:buClr>
              <a:buSzPts val="1100"/>
              <a:buFont typeface="Arial"/>
              <a:buNone/>
            </a:pPr>
            <a:r>
              <a:rPr lang="en" sz="1900"/>
              <a:t>5. Sistema efetua a transferência</a:t>
            </a:r>
            <a:endParaRPr sz="1900"/>
          </a:p>
          <a:p>
            <a:pPr indent="0" lvl="0" marL="0" marR="0" rtl="0" algn="l">
              <a:lnSpc>
                <a:spcPct val="114000"/>
              </a:lnSpc>
              <a:spcBef>
                <a:spcPts val="800"/>
              </a:spcBef>
              <a:spcAft>
                <a:spcPts val="0"/>
              </a:spcAft>
              <a:buClr>
                <a:schemeClr val="dk1"/>
              </a:buClr>
              <a:buSzPts val="1100"/>
              <a:buFont typeface="Arial"/>
              <a:buNone/>
            </a:pPr>
            <a:r>
              <a:rPr b="1" lang="en" sz="1900"/>
              <a:t>Extensões:</a:t>
            </a:r>
            <a:endParaRPr b="1" sz="1900"/>
          </a:p>
          <a:p>
            <a:pPr indent="0" lvl="0" marL="0" rtl="0" algn="l">
              <a:lnSpc>
                <a:spcPct val="114000"/>
              </a:lnSpc>
              <a:spcBef>
                <a:spcPts val="800"/>
              </a:spcBef>
              <a:spcAft>
                <a:spcPts val="0"/>
              </a:spcAft>
              <a:buClr>
                <a:schemeClr val="dk1"/>
              </a:buClr>
              <a:buSzPts val="1100"/>
              <a:buFont typeface="Arial"/>
              <a:buNone/>
            </a:pPr>
            <a:r>
              <a:rPr lang="en" sz="1900"/>
              <a:t>1. Sistema solicita primeiro o tipo da chave: CPF, celular, mail ou outro </a:t>
            </a:r>
            <a:endParaRPr b="1" sz="1900"/>
          </a:p>
          <a:p>
            <a:pPr indent="0" lvl="0" marL="0" marR="0" rtl="0" algn="l">
              <a:lnSpc>
                <a:spcPct val="114000"/>
              </a:lnSpc>
              <a:spcBef>
                <a:spcPts val="800"/>
              </a:spcBef>
              <a:spcAft>
                <a:spcPts val="0"/>
              </a:spcAft>
              <a:buClr>
                <a:schemeClr val="dk1"/>
              </a:buClr>
              <a:buSzPts val="1100"/>
              <a:buFont typeface="Arial"/>
              <a:buNone/>
            </a:pPr>
            <a:r>
              <a:rPr lang="en" sz="1900"/>
              <a:t>3. Se horário noturno e valor maior que R$ 1000, sistema informa que PIX não é possível e sugere agendamento para 08:00 do dia seguinte</a:t>
            </a:r>
            <a:endParaRPr sz="1900" u="sng"/>
          </a:p>
          <a:p>
            <a:pPr indent="0" lvl="0" marL="0" marR="0" rtl="0" algn="l">
              <a:lnSpc>
                <a:spcPct val="114000"/>
              </a:lnSpc>
              <a:spcBef>
                <a:spcPts val="8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5"/>
          <p:cNvSpPr txBox="1"/>
          <p:nvPr>
            <p:ph type="title"/>
          </p:nvPr>
        </p:nvSpPr>
        <p:spPr>
          <a:xfrm>
            <a:off x="245675" y="453149"/>
            <a:ext cx="8520600" cy="572700"/>
          </a:xfrm>
          <a:prstGeom prst="rect">
            <a:avLst/>
          </a:prstGeom>
        </p:spPr>
        <p:txBody>
          <a:bodyPr anchorCtr="0" anchor="t" bIns="91425" lIns="91425" spcFirstLastPara="1" rIns="91425" wrap="square" tIns="91425">
            <a:noAutofit/>
          </a:bodyPr>
          <a:lstStyle/>
          <a:p>
            <a:pPr indent="0" lvl="0" marL="457200" rtl="0" algn="ctr">
              <a:lnSpc>
                <a:spcPct val="115000"/>
              </a:lnSpc>
              <a:spcBef>
                <a:spcPts val="0"/>
              </a:spcBef>
              <a:spcAft>
                <a:spcPts val="0"/>
              </a:spcAft>
              <a:buNone/>
            </a:pPr>
            <a:r>
              <a:rPr lang="en" sz="3200">
                <a:solidFill>
                  <a:srgbClr val="666666"/>
                </a:solidFill>
              </a:rPr>
              <a:t>Qual o papel de casos de usos com métodos ágeis? Eles ainda têm utilidade?</a:t>
            </a:r>
            <a:endParaRPr sz="3200">
              <a:solidFill>
                <a:srgbClr val="666666"/>
              </a:solidFill>
            </a:endParaRPr>
          </a:p>
        </p:txBody>
      </p:sp>
      <p:sp>
        <p:nvSpPr>
          <p:cNvPr id="435" name="Google Shape;435;p6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36" name="Google Shape;436;p65"/>
          <p:cNvPicPr preferRelativeResize="0"/>
          <p:nvPr/>
        </p:nvPicPr>
        <p:blipFill>
          <a:blip r:embed="rId3">
            <a:alphaModFix/>
          </a:blip>
          <a:stretch>
            <a:fillRect/>
          </a:stretch>
        </p:blipFill>
        <p:spPr>
          <a:xfrm>
            <a:off x="1240752" y="2976560"/>
            <a:ext cx="2515825" cy="1463300"/>
          </a:xfrm>
          <a:prstGeom prst="rect">
            <a:avLst/>
          </a:prstGeom>
          <a:noFill/>
          <a:ln>
            <a:noFill/>
          </a:ln>
        </p:spPr>
      </p:pic>
      <p:sp>
        <p:nvSpPr>
          <p:cNvPr id="437" name="Google Shape;437;p65"/>
          <p:cNvSpPr txBox="1"/>
          <p:nvPr/>
        </p:nvSpPr>
        <p:spPr>
          <a:xfrm>
            <a:off x="1562677" y="2497161"/>
            <a:ext cx="168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Antigamente</a:t>
            </a:r>
            <a:endParaRPr sz="1800">
              <a:solidFill>
                <a:schemeClr val="dk2"/>
              </a:solidFill>
            </a:endParaRPr>
          </a:p>
        </p:txBody>
      </p:sp>
      <p:cxnSp>
        <p:nvCxnSpPr>
          <p:cNvPr id="438" name="Google Shape;438;p65"/>
          <p:cNvCxnSpPr/>
          <p:nvPr/>
        </p:nvCxnSpPr>
        <p:spPr>
          <a:xfrm>
            <a:off x="4507427" y="2120217"/>
            <a:ext cx="15600" cy="2709300"/>
          </a:xfrm>
          <a:prstGeom prst="straightConnector1">
            <a:avLst/>
          </a:prstGeom>
          <a:noFill/>
          <a:ln cap="flat" cmpd="sng" w="28575">
            <a:solidFill>
              <a:schemeClr val="dk2"/>
            </a:solidFill>
            <a:prstDash val="solid"/>
            <a:round/>
            <a:headEnd len="med" w="med" type="none"/>
            <a:tailEnd len="med" w="med" type="none"/>
          </a:ln>
        </p:spPr>
      </p:cxnSp>
      <p:sp>
        <p:nvSpPr>
          <p:cNvPr id="439" name="Google Shape;439;p65"/>
          <p:cNvSpPr txBox="1"/>
          <p:nvPr/>
        </p:nvSpPr>
        <p:spPr>
          <a:xfrm>
            <a:off x="5641427" y="3057886"/>
            <a:ext cx="168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2"/>
                </a:solidFill>
              </a:rPr>
              <a:t>Hoje?</a:t>
            </a:r>
            <a:endParaRPr sz="22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6"/>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Produto Mínimo Viável</a:t>
            </a:r>
            <a:endParaRPr b="1" sz="3000">
              <a:solidFill>
                <a:srgbClr val="FF0000"/>
              </a:solidFill>
            </a:endParaRPr>
          </a:p>
        </p:txBody>
      </p:sp>
      <p:sp>
        <p:nvSpPr>
          <p:cNvPr id="445" name="Google Shape;445;p6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7"/>
          <p:cNvSpPr txBox="1"/>
          <p:nvPr>
            <p:ph type="title"/>
          </p:nvPr>
        </p:nvSpPr>
        <p:spPr>
          <a:xfrm>
            <a:off x="311700" y="10546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rgbClr val="666666"/>
                </a:solidFill>
              </a:rPr>
              <a:t>(1) Qual o maior desperdício que pode existir em Engenharia de Software?</a:t>
            </a:r>
            <a:endParaRPr b="1">
              <a:solidFill>
                <a:srgbClr val="666666"/>
              </a:solidFill>
            </a:endParaRPr>
          </a:p>
        </p:txBody>
      </p:sp>
      <p:sp>
        <p:nvSpPr>
          <p:cNvPr id="451" name="Google Shape;451;p6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8"/>
          <p:cNvSpPr txBox="1"/>
          <p:nvPr>
            <p:ph type="title"/>
          </p:nvPr>
        </p:nvSpPr>
        <p:spPr>
          <a:xfrm>
            <a:off x="311700" y="10546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rgbClr val="666666"/>
                </a:solidFill>
              </a:rPr>
              <a:t>(2) Como evitar esse desperdício?</a:t>
            </a:r>
            <a:endParaRPr b="1">
              <a:solidFill>
                <a:srgbClr val="666666"/>
              </a:solidFill>
            </a:endParaRPr>
          </a:p>
        </p:txBody>
      </p:sp>
      <p:sp>
        <p:nvSpPr>
          <p:cNvPr id="457" name="Google Shape;457;p6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MVP: M</a:t>
            </a:r>
            <a:r>
              <a:rPr lang="en"/>
              <a:t>ínimo Produto Viável</a:t>
            </a:r>
            <a:endParaRPr/>
          </a:p>
        </p:txBody>
      </p:sp>
      <p:sp>
        <p:nvSpPr>
          <p:cNvPr id="463" name="Google Shape;463;p6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64" name="Google Shape;464;p69"/>
          <p:cNvPicPr preferRelativeResize="0"/>
          <p:nvPr/>
        </p:nvPicPr>
        <p:blipFill>
          <a:blip r:embed="rId3">
            <a:alphaModFix/>
          </a:blip>
          <a:stretch>
            <a:fillRect/>
          </a:stretch>
        </p:blipFill>
        <p:spPr>
          <a:xfrm>
            <a:off x="402274" y="893913"/>
            <a:ext cx="2298862" cy="3508075"/>
          </a:xfrm>
          <a:prstGeom prst="rect">
            <a:avLst/>
          </a:prstGeom>
          <a:noFill/>
          <a:ln>
            <a:noFill/>
          </a:ln>
        </p:spPr>
      </p:pic>
      <p:sp>
        <p:nvSpPr>
          <p:cNvPr id="465" name="Google Shape;465;p69"/>
          <p:cNvSpPr txBox="1"/>
          <p:nvPr/>
        </p:nvSpPr>
        <p:spPr>
          <a:xfrm>
            <a:off x="1168325" y="4502400"/>
            <a:ext cx="877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2011</a:t>
            </a:r>
            <a:endParaRPr sz="17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a:t>Dois tipos de sistemas</a:t>
            </a:r>
            <a:endParaRPr/>
          </a:p>
        </p:txBody>
      </p:sp>
      <p:sp>
        <p:nvSpPr>
          <p:cNvPr id="471" name="Google Shape;471;p7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70"/>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AutoNum type="arabicPeriod"/>
            </a:pPr>
            <a:r>
              <a:rPr lang="en" sz="2200"/>
              <a:t>Baixo risco e usuários conhecidos</a:t>
            </a:r>
            <a:endParaRPr sz="2200"/>
          </a:p>
          <a:p>
            <a:pPr indent="-368300" lvl="0" marL="457200" marR="0" rtl="0" algn="l">
              <a:lnSpc>
                <a:spcPct val="114000"/>
              </a:lnSpc>
              <a:spcBef>
                <a:spcPts val="1000"/>
              </a:spcBef>
              <a:spcAft>
                <a:spcPts val="0"/>
              </a:spcAft>
              <a:buSzPts val="2200"/>
              <a:buAutoNum type="arabicPeriod"/>
            </a:pPr>
            <a:r>
              <a:rPr lang="en" sz="2200"/>
              <a:t>Alto risco e sucesso incerto</a:t>
            </a:r>
            <a:endParaRPr sz="22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Sistema de Controle de Bibliotecas</a:t>
            </a:r>
            <a:endParaRPr/>
          </a:p>
        </p:txBody>
      </p:sp>
      <p:sp>
        <p:nvSpPr>
          <p:cNvPr id="478" name="Google Shape;478;p7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9" name="Google Shape;479;p71"/>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Sistema conhecido, fundamental em toda biblioteca, etc</a:t>
            </a:r>
            <a:endParaRPr sz="2200"/>
          </a:p>
          <a:p>
            <a:pPr indent="-368300" lvl="0" marL="457200" marR="0" rtl="0" algn="l">
              <a:lnSpc>
                <a:spcPct val="114000"/>
              </a:lnSpc>
              <a:spcBef>
                <a:spcPts val="1000"/>
              </a:spcBef>
              <a:spcAft>
                <a:spcPts val="0"/>
              </a:spcAft>
              <a:buSzPts val="2200"/>
              <a:buChar char="●"/>
            </a:pPr>
            <a:r>
              <a:rPr lang="en" sz="2200"/>
              <a:t>Necessidade e viabilidade são óbvias</a:t>
            </a:r>
            <a:endParaRPr sz="2200"/>
          </a:p>
          <a:p>
            <a:pPr indent="-368300" lvl="0" marL="457200" marR="0" rtl="0" algn="l">
              <a:lnSpc>
                <a:spcPct val="114000"/>
              </a:lnSpc>
              <a:spcBef>
                <a:spcPts val="1000"/>
              </a:spcBef>
              <a:spcAft>
                <a:spcPts val="0"/>
              </a:spcAft>
              <a:buSzPts val="2200"/>
              <a:buChar char="●"/>
            </a:pPr>
            <a:r>
              <a:rPr lang="en" sz="2200"/>
              <a:t>Histórias de usuários funcionam bem!</a:t>
            </a:r>
            <a:endParaRPr sz="22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Exemplo: Gerador automático de planejamento estratégico para empresas do setor de mineração usando LLMs</a:t>
            </a:r>
            <a:endParaRPr/>
          </a:p>
        </p:txBody>
      </p:sp>
      <p:sp>
        <p:nvSpPr>
          <p:cNvPr id="485" name="Google Shape;485;p7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72"/>
          <p:cNvSpPr txBox="1"/>
          <p:nvPr>
            <p:ph idx="1" type="body"/>
          </p:nvPr>
        </p:nvSpPr>
        <p:spPr>
          <a:xfrm>
            <a:off x="311700" y="1885088"/>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Sistemas típicos de startups, mas não exclusivos</a:t>
            </a:r>
            <a:endParaRPr sz="2200"/>
          </a:p>
          <a:p>
            <a:pPr indent="-368300" lvl="0" marL="457200" marR="0" rtl="0" algn="l">
              <a:lnSpc>
                <a:spcPct val="114000"/>
              </a:lnSpc>
              <a:spcBef>
                <a:spcPts val="1000"/>
              </a:spcBef>
              <a:spcAft>
                <a:spcPts val="0"/>
              </a:spcAft>
              <a:buSzPts val="2200"/>
              <a:buChar char="●"/>
            </a:pPr>
            <a:r>
              <a:rPr lang="en" sz="2200"/>
              <a:t>Risco alto</a:t>
            </a:r>
            <a:endParaRPr sz="2200"/>
          </a:p>
          <a:p>
            <a:pPr indent="-368300" lvl="0" marL="457200" marR="0" rtl="0" algn="l">
              <a:lnSpc>
                <a:spcPct val="114000"/>
              </a:lnSpc>
              <a:spcBef>
                <a:spcPts val="1000"/>
              </a:spcBef>
              <a:spcAft>
                <a:spcPts val="0"/>
              </a:spcAft>
              <a:buSzPts val="2200"/>
              <a:buChar char="●"/>
            </a:pPr>
            <a:r>
              <a:rPr lang="en" sz="2200"/>
              <a:t>Ideia tem que ser primeiro validada com usuários reais</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3"/>
          <p:cNvSpPr txBox="1"/>
          <p:nvPr>
            <p:ph type="title"/>
          </p:nvPr>
        </p:nvSpPr>
        <p:spPr>
          <a:xfrm>
            <a:off x="464100" y="902225"/>
            <a:ext cx="78909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rgbClr val="666666"/>
                </a:solidFill>
              </a:rPr>
              <a:t>Outro problema comum: muitas vezes clientes não sabem o que querem</a:t>
            </a:r>
            <a:endParaRPr sz="3000">
              <a:solidFill>
                <a:srgbClr val="666666"/>
              </a:solidFill>
            </a:endParaRPr>
          </a:p>
          <a:p>
            <a:pPr indent="0" lvl="0" marL="0" rtl="0" algn="ctr">
              <a:lnSpc>
                <a:spcPct val="115000"/>
              </a:lnSpc>
              <a:spcBef>
                <a:spcPts val="0"/>
              </a:spcBef>
              <a:spcAft>
                <a:spcPts val="0"/>
              </a:spcAft>
              <a:buNone/>
            </a:pPr>
            <a:r>
              <a:t/>
            </a:r>
            <a:endParaRPr sz="3000">
              <a:solidFill>
                <a:srgbClr val="666666"/>
              </a:solidFill>
            </a:endParaRPr>
          </a:p>
          <a:p>
            <a:pPr indent="0" lvl="0" marL="0" rtl="0" algn="ctr">
              <a:lnSpc>
                <a:spcPct val="115000"/>
              </a:lnSpc>
              <a:spcBef>
                <a:spcPts val="0"/>
              </a:spcBef>
              <a:spcAft>
                <a:spcPts val="0"/>
              </a:spcAft>
              <a:buNone/>
            </a:pPr>
            <a:r>
              <a:rPr lang="en" sz="3000">
                <a:solidFill>
                  <a:srgbClr val="666666"/>
                </a:solidFill>
              </a:rPr>
              <a:t>Logo, não adianta entrevistar os clientes</a:t>
            </a:r>
            <a:endParaRPr sz="3000">
              <a:solidFill>
                <a:srgbClr val="666666"/>
              </a:solidFill>
            </a:endParaRPr>
          </a:p>
        </p:txBody>
      </p:sp>
      <p:sp>
        <p:nvSpPr>
          <p:cNvPr id="492" name="Google Shape;492;p7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74"/>
          <p:cNvSpPr txBox="1"/>
          <p:nvPr>
            <p:ph idx="1" type="body"/>
          </p:nvPr>
        </p:nvSpPr>
        <p:spPr>
          <a:xfrm>
            <a:off x="311700" y="466675"/>
            <a:ext cx="8520600" cy="82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Se eu tivesse perguntado para meus clientes o que eles queriam, a resposta teria sido um cavalo mais rápido </a:t>
            </a:r>
            <a:endParaRPr sz="2400"/>
          </a:p>
          <a:p>
            <a:pPr indent="0" lvl="0" marL="0" rtl="0" algn="l">
              <a:spcBef>
                <a:spcPts val="0"/>
              </a:spcBef>
              <a:spcAft>
                <a:spcPts val="0"/>
              </a:spcAft>
              <a:buNone/>
            </a:pPr>
            <a:r>
              <a:rPr lang="en" sz="2400"/>
              <a:t>(Henry Ford)</a:t>
            </a:r>
            <a:endParaRPr/>
          </a:p>
          <a:p>
            <a:pPr indent="0" lvl="0" marL="914400" marR="0" rtl="0" algn="l">
              <a:lnSpc>
                <a:spcPct val="114000"/>
              </a:lnSpc>
              <a:spcBef>
                <a:spcPts val="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pic>
        <p:nvPicPr>
          <p:cNvPr id="499" name="Google Shape;499;p74"/>
          <p:cNvPicPr preferRelativeResize="0"/>
          <p:nvPr/>
        </p:nvPicPr>
        <p:blipFill>
          <a:blip r:embed="rId3">
            <a:alphaModFix/>
          </a:blip>
          <a:stretch>
            <a:fillRect/>
          </a:stretch>
        </p:blipFill>
        <p:spPr>
          <a:xfrm>
            <a:off x="2835050" y="2065850"/>
            <a:ext cx="3214250" cy="24942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Produto Mínimo Viável (MVP)</a:t>
            </a:r>
            <a:endParaRPr/>
          </a:p>
        </p:txBody>
      </p:sp>
      <p:sp>
        <p:nvSpPr>
          <p:cNvPr id="505" name="Google Shape;505;p7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75"/>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Produto = pode ser usado</a:t>
            </a:r>
            <a:endParaRPr sz="2200"/>
          </a:p>
          <a:p>
            <a:pPr indent="-368300" lvl="0" marL="457200" marR="0" rtl="0" algn="l">
              <a:lnSpc>
                <a:spcPct val="114000"/>
              </a:lnSpc>
              <a:spcBef>
                <a:spcPts val="1000"/>
              </a:spcBef>
              <a:spcAft>
                <a:spcPts val="0"/>
              </a:spcAft>
              <a:buSzPts val="2200"/>
              <a:buChar char="●"/>
            </a:pPr>
            <a:r>
              <a:rPr lang="en" sz="2200"/>
              <a:t>Mínimo = menor conjunto de funcionalidades (menor custo)</a:t>
            </a:r>
            <a:endParaRPr sz="2200"/>
          </a:p>
          <a:p>
            <a:pPr indent="-368300" lvl="0" marL="457200" marR="0" rtl="0" algn="l">
              <a:lnSpc>
                <a:spcPct val="114000"/>
              </a:lnSpc>
              <a:spcBef>
                <a:spcPts val="1000"/>
              </a:spcBef>
              <a:spcAft>
                <a:spcPts val="0"/>
              </a:spcAft>
              <a:buSzPts val="2200"/>
              <a:buChar char="●"/>
            </a:pPr>
            <a:r>
              <a:rPr lang="en" sz="2200"/>
              <a:t>Viável? = terá mercado?</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12" name="Google Shape;512;p76"/>
          <p:cNvPicPr preferRelativeResize="0"/>
          <p:nvPr/>
        </p:nvPicPr>
        <p:blipFill>
          <a:blip r:embed="rId3">
            <a:alphaModFix/>
          </a:blip>
          <a:stretch>
            <a:fillRect/>
          </a:stretch>
        </p:blipFill>
        <p:spPr>
          <a:xfrm>
            <a:off x="334358" y="255725"/>
            <a:ext cx="6433084" cy="39733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Ao final de um ciclo, pode-se:</a:t>
            </a:r>
            <a:endParaRPr/>
          </a:p>
        </p:txBody>
      </p:sp>
      <p:sp>
        <p:nvSpPr>
          <p:cNvPr id="518" name="Google Shape;518;p7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9" name="Google Shape;519;p77"/>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AutoNum type="arabicPeriod"/>
            </a:pPr>
            <a:r>
              <a:rPr lang="en" sz="2200"/>
              <a:t>Rodar um novo ciclo:</a:t>
            </a:r>
            <a:endParaRPr sz="2200"/>
          </a:p>
          <a:p>
            <a:pPr indent="-368300" lvl="1" marL="914400" marR="0" rtl="0" algn="l">
              <a:lnSpc>
                <a:spcPct val="114000"/>
              </a:lnSpc>
              <a:spcBef>
                <a:spcPts val="1000"/>
              </a:spcBef>
              <a:spcAft>
                <a:spcPts val="0"/>
              </a:spcAft>
              <a:buSzPts val="2200"/>
              <a:buChar char="○"/>
            </a:pPr>
            <a:r>
              <a:rPr lang="en" sz="2200"/>
              <a:t>Pequenos ajustes</a:t>
            </a:r>
            <a:endParaRPr sz="2200"/>
          </a:p>
          <a:p>
            <a:pPr indent="-368300" lvl="1" marL="914400" marR="0" rtl="0" algn="l">
              <a:lnSpc>
                <a:spcPct val="114000"/>
              </a:lnSpc>
              <a:spcBef>
                <a:spcPts val="1000"/>
              </a:spcBef>
              <a:spcAft>
                <a:spcPts val="0"/>
              </a:spcAft>
              <a:buSzPts val="2200"/>
              <a:buChar char="○"/>
            </a:pPr>
            <a:r>
              <a:rPr lang="en" sz="2200"/>
              <a:t>Grandes ajustes ⇒ </a:t>
            </a:r>
            <a:r>
              <a:rPr b="1" lang="en" sz="2200"/>
              <a:t>pivô</a:t>
            </a:r>
            <a:endParaRPr b="1" sz="2200"/>
          </a:p>
          <a:p>
            <a:pPr indent="-368300" lvl="0" marL="457200" marR="0" rtl="0" algn="l">
              <a:lnSpc>
                <a:spcPct val="114000"/>
              </a:lnSpc>
              <a:spcBef>
                <a:spcPts val="1000"/>
              </a:spcBef>
              <a:spcAft>
                <a:spcPts val="0"/>
              </a:spcAft>
              <a:buSzPts val="2200"/>
              <a:buAutoNum type="arabicPeriod"/>
            </a:pPr>
            <a:r>
              <a:rPr lang="en" sz="2200"/>
              <a:t>Desistir (dinheiro acabou!)</a:t>
            </a:r>
            <a:endParaRPr sz="2200"/>
          </a:p>
          <a:p>
            <a:pPr indent="-368300" lvl="0" marL="457200" marR="0" rtl="0" algn="l">
              <a:lnSpc>
                <a:spcPct val="114000"/>
              </a:lnSpc>
              <a:spcBef>
                <a:spcPts val="1000"/>
              </a:spcBef>
              <a:spcAft>
                <a:spcPts val="0"/>
              </a:spcAft>
              <a:buSzPts val="2200"/>
              <a:buAutoNum type="arabicPeriod"/>
            </a:pPr>
            <a:r>
              <a:rPr lang="en" sz="2200"/>
              <a:t>Deu certo: atingimos o Product Market Fit (PMF) e vamos agora construir um produto robusto</a:t>
            </a:r>
            <a:endParaRPr sz="2200"/>
          </a:p>
          <a:p>
            <a:pPr indent="0" lvl="0" marL="914400" marR="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8"/>
          <p:cNvSpPr txBox="1"/>
          <p:nvPr/>
        </p:nvSpPr>
        <p:spPr>
          <a:xfrm>
            <a:off x="2208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MVP1</a:t>
            </a:r>
            <a:endParaRPr/>
          </a:p>
        </p:txBody>
      </p:sp>
      <p:sp>
        <p:nvSpPr>
          <p:cNvPr id="525" name="Google Shape;525;p78"/>
          <p:cNvSpPr txBox="1"/>
          <p:nvPr/>
        </p:nvSpPr>
        <p:spPr>
          <a:xfrm>
            <a:off x="17448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MVP2		</a:t>
            </a:r>
            <a:endParaRPr/>
          </a:p>
        </p:txBody>
      </p:sp>
      <p:sp>
        <p:nvSpPr>
          <p:cNvPr id="526" name="Google Shape;526;p78"/>
          <p:cNvSpPr txBox="1"/>
          <p:nvPr/>
        </p:nvSpPr>
        <p:spPr>
          <a:xfrm>
            <a:off x="33450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MVP3</a:t>
            </a:r>
            <a:endParaRPr/>
          </a:p>
        </p:txBody>
      </p:sp>
      <p:sp>
        <p:nvSpPr>
          <p:cNvPr id="527" name="Google Shape;527;p78"/>
          <p:cNvSpPr txBox="1"/>
          <p:nvPr/>
        </p:nvSpPr>
        <p:spPr>
          <a:xfrm>
            <a:off x="48690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MVP4</a:t>
            </a:r>
            <a:endParaRPr/>
          </a:p>
        </p:txBody>
      </p:sp>
      <p:cxnSp>
        <p:nvCxnSpPr>
          <p:cNvPr id="528" name="Google Shape;528;p78"/>
          <p:cNvCxnSpPr>
            <a:stCxn id="524" idx="3"/>
            <a:endCxn id="525" idx="1"/>
          </p:cNvCxnSpPr>
          <p:nvPr/>
        </p:nvCxnSpPr>
        <p:spPr>
          <a:xfrm>
            <a:off x="1197025" y="2390250"/>
            <a:ext cx="547800" cy="0"/>
          </a:xfrm>
          <a:prstGeom prst="straightConnector1">
            <a:avLst/>
          </a:prstGeom>
          <a:noFill/>
          <a:ln cap="flat" cmpd="sng" w="9525">
            <a:solidFill>
              <a:schemeClr val="dk2"/>
            </a:solidFill>
            <a:prstDash val="solid"/>
            <a:round/>
            <a:headEnd len="med" w="med" type="none"/>
            <a:tailEnd len="med" w="med" type="triangle"/>
          </a:ln>
        </p:spPr>
      </p:cxnSp>
      <p:cxnSp>
        <p:nvCxnSpPr>
          <p:cNvPr id="529" name="Google Shape;529;p78"/>
          <p:cNvCxnSpPr>
            <a:stCxn id="525" idx="3"/>
            <a:endCxn id="526" idx="1"/>
          </p:cNvCxnSpPr>
          <p:nvPr/>
        </p:nvCxnSpPr>
        <p:spPr>
          <a:xfrm>
            <a:off x="2721025" y="2390250"/>
            <a:ext cx="624000" cy="0"/>
          </a:xfrm>
          <a:prstGeom prst="straightConnector1">
            <a:avLst/>
          </a:prstGeom>
          <a:noFill/>
          <a:ln cap="flat" cmpd="sng" w="9525">
            <a:solidFill>
              <a:schemeClr val="dk2"/>
            </a:solidFill>
            <a:prstDash val="solid"/>
            <a:round/>
            <a:headEnd len="med" w="med" type="none"/>
            <a:tailEnd len="med" w="med" type="triangle"/>
          </a:ln>
        </p:spPr>
      </p:cxnSp>
      <p:cxnSp>
        <p:nvCxnSpPr>
          <p:cNvPr id="530" name="Google Shape;530;p78"/>
          <p:cNvCxnSpPr>
            <a:stCxn id="526" idx="3"/>
            <a:endCxn id="527" idx="1"/>
          </p:cNvCxnSpPr>
          <p:nvPr/>
        </p:nvCxnSpPr>
        <p:spPr>
          <a:xfrm>
            <a:off x="4321225" y="2390250"/>
            <a:ext cx="547800" cy="0"/>
          </a:xfrm>
          <a:prstGeom prst="straightConnector1">
            <a:avLst/>
          </a:prstGeom>
          <a:noFill/>
          <a:ln cap="flat" cmpd="sng" w="9525">
            <a:solidFill>
              <a:schemeClr val="dk2"/>
            </a:solidFill>
            <a:prstDash val="solid"/>
            <a:round/>
            <a:headEnd len="med" w="med" type="none"/>
            <a:tailEnd len="med" w="med" type="triangle"/>
          </a:ln>
        </p:spPr>
      </p:cxnSp>
      <p:sp>
        <p:nvSpPr>
          <p:cNvPr id="531" name="Google Shape;531;p78"/>
          <p:cNvSpPr txBox="1"/>
          <p:nvPr/>
        </p:nvSpPr>
        <p:spPr>
          <a:xfrm>
            <a:off x="2797225" y="2335775"/>
            <a:ext cx="62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pivô</a:t>
            </a:r>
            <a:endParaRPr/>
          </a:p>
        </p:txBody>
      </p:sp>
      <p:cxnSp>
        <p:nvCxnSpPr>
          <p:cNvPr id="532" name="Google Shape;532;p78"/>
          <p:cNvCxnSpPr/>
          <p:nvPr/>
        </p:nvCxnSpPr>
        <p:spPr>
          <a:xfrm>
            <a:off x="6206150" y="638250"/>
            <a:ext cx="4500" cy="3228900"/>
          </a:xfrm>
          <a:prstGeom prst="straightConnector1">
            <a:avLst/>
          </a:prstGeom>
          <a:noFill/>
          <a:ln cap="flat" cmpd="sng" w="28575">
            <a:solidFill>
              <a:srgbClr val="FF0000"/>
            </a:solidFill>
            <a:prstDash val="solid"/>
            <a:round/>
            <a:headEnd len="med" w="med" type="none"/>
            <a:tailEnd len="med" w="med" type="none"/>
          </a:ln>
        </p:spPr>
      </p:cxnSp>
      <p:sp>
        <p:nvSpPr>
          <p:cNvPr id="533" name="Google Shape;533;p78"/>
          <p:cNvSpPr txBox="1"/>
          <p:nvPr/>
        </p:nvSpPr>
        <p:spPr>
          <a:xfrm>
            <a:off x="2193400" y="963625"/>
            <a:ext cx="1685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t>Validação</a:t>
            </a:r>
            <a:endParaRPr b="1" sz="2000"/>
          </a:p>
        </p:txBody>
      </p:sp>
      <p:sp>
        <p:nvSpPr>
          <p:cNvPr id="534" name="Google Shape;534;p78"/>
          <p:cNvSpPr txBox="1"/>
          <p:nvPr/>
        </p:nvSpPr>
        <p:spPr>
          <a:xfrm>
            <a:off x="6536800" y="963625"/>
            <a:ext cx="1685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t>Market Fit</a:t>
            </a:r>
            <a:endParaRPr b="1" sz="2000"/>
          </a:p>
        </p:txBody>
      </p:sp>
      <p:sp>
        <p:nvSpPr>
          <p:cNvPr id="535" name="Google Shape;535;p78"/>
          <p:cNvSpPr txBox="1"/>
          <p:nvPr/>
        </p:nvSpPr>
        <p:spPr>
          <a:xfrm>
            <a:off x="68502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Produto</a:t>
            </a:r>
            <a:endParaRPr/>
          </a:p>
        </p:txBody>
      </p:sp>
      <p:cxnSp>
        <p:nvCxnSpPr>
          <p:cNvPr id="536" name="Google Shape;536;p78"/>
          <p:cNvCxnSpPr>
            <a:stCxn id="527" idx="3"/>
            <a:endCxn id="535" idx="1"/>
          </p:cNvCxnSpPr>
          <p:nvPr/>
        </p:nvCxnSpPr>
        <p:spPr>
          <a:xfrm>
            <a:off x="5845225" y="2390250"/>
            <a:ext cx="1005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9"/>
          <p:cNvSpPr txBox="1"/>
          <p:nvPr/>
        </p:nvSpPr>
        <p:spPr>
          <a:xfrm>
            <a:off x="2208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MVP1</a:t>
            </a:r>
            <a:endParaRPr/>
          </a:p>
        </p:txBody>
      </p:sp>
      <p:sp>
        <p:nvSpPr>
          <p:cNvPr id="542" name="Google Shape;542;p79"/>
          <p:cNvSpPr txBox="1"/>
          <p:nvPr/>
        </p:nvSpPr>
        <p:spPr>
          <a:xfrm>
            <a:off x="17448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MVP2		</a:t>
            </a:r>
            <a:endParaRPr/>
          </a:p>
        </p:txBody>
      </p:sp>
      <p:sp>
        <p:nvSpPr>
          <p:cNvPr id="543" name="Google Shape;543;p79"/>
          <p:cNvSpPr txBox="1"/>
          <p:nvPr/>
        </p:nvSpPr>
        <p:spPr>
          <a:xfrm>
            <a:off x="3345025" y="2152500"/>
            <a:ext cx="976200" cy="47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   MVP3</a:t>
            </a:r>
            <a:endParaRPr/>
          </a:p>
        </p:txBody>
      </p:sp>
      <p:cxnSp>
        <p:nvCxnSpPr>
          <p:cNvPr id="544" name="Google Shape;544;p79"/>
          <p:cNvCxnSpPr>
            <a:stCxn id="541" idx="3"/>
            <a:endCxn id="542" idx="1"/>
          </p:cNvCxnSpPr>
          <p:nvPr/>
        </p:nvCxnSpPr>
        <p:spPr>
          <a:xfrm>
            <a:off x="1197025" y="2390250"/>
            <a:ext cx="547800" cy="0"/>
          </a:xfrm>
          <a:prstGeom prst="straightConnector1">
            <a:avLst/>
          </a:prstGeom>
          <a:noFill/>
          <a:ln cap="flat" cmpd="sng" w="9525">
            <a:solidFill>
              <a:schemeClr val="dk2"/>
            </a:solidFill>
            <a:prstDash val="solid"/>
            <a:round/>
            <a:headEnd len="med" w="med" type="none"/>
            <a:tailEnd len="med" w="med" type="triangle"/>
          </a:ln>
        </p:spPr>
      </p:cxnSp>
      <p:cxnSp>
        <p:nvCxnSpPr>
          <p:cNvPr id="545" name="Google Shape;545;p79"/>
          <p:cNvCxnSpPr>
            <a:stCxn id="542" idx="3"/>
            <a:endCxn id="543" idx="1"/>
          </p:cNvCxnSpPr>
          <p:nvPr/>
        </p:nvCxnSpPr>
        <p:spPr>
          <a:xfrm>
            <a:off x="2721025" y="2390250"/>
            <a:ext cx="624000" cy="0"/>
          </a:xfrm>
          <a:prstGeom prst="straightConnector1">
            <a:avLst/>
          </a:prstGeom>
          <a:noFill/>
          <a:ln cap="flat" cmpd="sng" w="9525">
            <a:solidFill>
              <a:schemeClr val="dk2"/>
            </a:solidFill>
            <a:prstDash val="solid"/>
            <a:round/>
            <a:headEnd len="med" w="med" type="none"/>
            <a:tailEnd len="med" w="med" type="triangle"/>
          </a:ln>
        </p:spPr>
      </p:cxnSp>
      <p:cxnSp>
        <p:nvCxnSpPr>
          <p:cNvPr id="546" name="Google Shape;546;p79"/>
          <p:cNvCxnSpPr>
            <a:stCxn id="543" idx="3"/>
            <a:endCxn id="547" idx="1"/>
          </p:cNvCxnSpPr>
          <p:nvPr/>
        </p:nvCxnSpPr>
        <p:spPr>
          <a:xfrm>
            <a:off x="4321225" y="2390250"/>
            <a:ext cx="547800" cy="0"/>
          </a:xfrm>
          <a:prstGeom prst="straightConnector1">
            <a:avLst/>
          </a:prstGeom>
          <a:noFill/>
          <a:ln cap="flat" cmpd="sng" w="9525">
            <a:solidFill>
              <a:schemeClr val="dk2"/>
            </a:solidFill>
            <a:prstDash val="solid"/>
            <a:round/>
            <a:headEnd len="med" w="med" type="none"/>
            <a:tailEnd len="med" w="med" type="triangle"/>
          </a:ln>
        </p:spPr>
      </p:cxnSp>
      <p:sp>
        <p:nvSpPr>
          <p:cNvPr id="548" name="Google Shape;548;p79"/>
          <p:cNvSpPr txBox="1"/>
          <p:nvPr/>
        </p:nvSpPr>
        <p:spPr>
          <a:xfrm>
            <a:off x="2797225" y="2335775"/>
            <a:ext cx="62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pivô</a:t>
            </a:r>
            <a:endParaRPr/>
          </a:p>
        </p:txBody>
      </p:sp>
      <p:cxnSp>
        <p:nvCxnSpPr>
          <p:cNvPr id="549" name="Google Shape;549;p79"/>
          <p:cNvCxnSpPr/>
          <p:nvPr/>
        </p:nvCxnSpPr>
        <p:spPr>
          <a:xfrm>
            <a:off x="6434750" y="638250"/>
            <a:ext cx="4500" cy="3228900"/>
          </a:xfrm>
          <a:prstGeom prst="straightConnector1">
            <a:avLst/>
          </a:prstGeom>
          <a:noFill/>
          <a:ln cap="flat" cmpd="sng" w="28575">
            <a:solidFill>
              <a:srgbClr val="FF0000"/>
            </a:solidFill>
            <a:prstDash val="solid"/>
            <a:round/>
            <a:headEnd len="med" w="med" type="none"/>
            <a:tailEnd len="med" w="med" type="none"/>
          </a:ln>
        </p:spPr>
      </p:cxnSp>
      <p:sp>
        <p:nvSpPr>
          <p:cNvPr id="550" name="Google Shape;550;p79"/>
          <p:cNvSpPr txBox="1"/>
          <p:nvPr/>
        </p:nvSpPr>
        <p:spPr>
          <a:xfrm>
            <a:off x="2193400" y="963625"/>
            <a:ext cx="1685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t>Validação</a:t>
            </a:r>
            <a:endParaRPr b="1" sz="2000"/>
          </a:p>
        </p:txBody>
      </p:sp>
      <p:sp>
        <p:nvSpPr>
          <p:cNvPr id="551" name="Google Shape;551;p79"/>
          <p:cNvSpPr txBox="1"/>
          <p:nvPr/>
        </p:nvSpPr>
        <p:spPr>
          <a:xfrm>
            <a:off x="6536800" y="963625"/>
            <a:ext cx="1685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t>Market Fit</a:t>
            </a:r>
            <a:endParaRPr b="1" sz="2000"/>
          </a:p>
        </p:txBody>
      </p:sp>
      <p:sp>
        <p:nvSpPr>
          <p:cNvPr id="552" name="Google Shape;552;p79"/>
          <p:cNvSpPr txBox="1"/>
          <p:nvPr/>
        </p:nvSpPr>
        <p:spPr>
          <a:xfrm>
            <a:off x="4954675" y="2187825"/>
            <a:ext cx="125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Desistimos</a:t>
            </a:r>
            <a:r>
              <a:rPr lang="en"/>
              <a: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0"/>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Exemplos de MVP</a:t>
            </a:r>
            <a:endParaRPr>
              <a:solidFill>
                <a:srgbClr val="FF0000"/>
              </a:solidFill>
            </a:endParaRPr>
          </a:p>
        </p:txBody>
      </p:sp>
      <p:sp>
        <p:nvSpPr>
          <p:cNvPr id="558" name="Google Shape;558;p8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1"/>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1000"/>
              </a:spcAft>
              <a:buNone/>
            </a:pPr>
            <a:r>
              <a:rPr lang="en">
                <a:solidFill>
                  <a:schemeClr val="dk2"/>
                </a:solidFill>
              </a:rPr>
              <a:t>Zappos (1999)</a:t>
            </a:r>
            <a:endParaRPr/>
          </a:p>
        </p:txBody>
      </p:sp>
      <p:sp>
        <p:nvSpPr>
          <p:cNvPr id="564" name="Google Shape;564;p8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81"/>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Loja virtual de sapatos, depois adquirida pela Amazon</a:t>
            </a:r>
            <a:endParaRPr sz="2200"/>
          </a:p>
          <a:p>
            <a:pPr indent="-368300" lvl="0" marL="457200" marR="0" rtl="0" algn="l">
              <a:lnSpc>
                <a:spcPct val="114000"/>
              </a:lnSpc>
              <a:spcBef>
                <a:spcPts val="1000"/>
              </a:spcBef>
              <a:spcAft>
                <a:spcPts val="0"/>
              </a:spcAft>
              <a:buSzPts val="2200"/>
              <a:buChar char="●"/>
            </a:pPr>
            <a:r>
              <a:rPr lang="en" sz="2200"/>
              <a:t>As pessoas vão comprar sapatos pela Internet?</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0"/>
              </a:spcAft>
              <a:buNone/>
            </a:pPr>
            <a:r>
              <a:rPr lang="en">
                <a:solidFill>
                  <a:schemeClr val="dk2"/>
                </a:solidFill>
              </a:rPr>
              <a:t>MVP</a:t>
            </a:r>
            <a:endParaRPr>
              <a:solidFill>
                <a:schemeClr val="dk2"/>
              </a:solidFill>
            </a:endParaRPr>
          </a:p>
          <a:p>
            <a:pPr indent="0" lvl="0" marL="0" marR="0" rtl="0" algn="l">
              <a:lnSpc>
                <a:spcPct val="114000"/>
              </a:lnSpc>
              <a:spcBef>
                <a:spcPts val="1000"/>
              </a:spcBef>
              <a:spcAft>
                <a:spcPts val="1000"/>
              </a:spcAft>
              <a:buNone/>
            </a:pPr>
            <a:r>
              <a:t/>
            </a:r>
            <a:endParaRPr>
              <a:solidFill>
                <a:schemeClr val="dk2"/>
              </a:solidFill>
            </a:endParaRPr>
          </a:p>
        </p:txBody>
      </p:sp>
      <p:sp>
        <p:nvSpPr>
          <p:cNvPr id="571" name="Google Shape;571;p8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2" name="Google Shape;572;p82"/>
          <p:cNvSpPr txBox="1"/>
          <p:nvPr>
            <p:ph idx="1" type="body"/>
          </p:nvPr>
        </p:nvSpPr>
        <p:spPr>
          <a:xfrm>
            <a:off x="159300" y="923875"/>
            <a:ext cx="4479300" cy="36708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Sistema Web simples</a:t>
            </a:r>
            <a:endParaRPr sz="2200"/>
          </a:p>
          <a:p>
            <a:pPr indent="-368300" lvl="0" marL="457200" marR="0" rtl="0" algn="l">
              <a:lnSpc>
                <a:spcPct val="114000"/>
              </a:lnSpc>
              <a:spcBef>
                <a:spcPts val="1000"/>
              </a:spcBef>
              <a:spcAft>
                <a:spcPts val="0"/>
              </a:spcAft>
              <a:buSzPts val="2200"/>
              <a:buChar char="●"/>
            </a:pPr>
            <a:r>
              <a:rPr lang="en" sz="2200"/>
              <a:t>Fotos de sapatos de lojas físicas da cidade</a:t>
            </a:r>
            <a:endParaRPr sz="2200"/>
          </a:p>
          <a:p>
            <a:pPr indent="-368300" lvl="0" marL="457200" marR="0" rtl="0" algn="l">
              <a:lnSpc>
                <a:spcPct val="114000"/>
              </a:lnSpc>
              <a:spcBef>
                <a:spcPts val="1000"/>
              </a:spcBef>
              <a:spcAft>
                <a:spcPts val="0"/>
              </a:spcAft>
              <a:buSzPts val="2200"/>
              <a:buChar char="●"/>
            </a:pPr>
            <a:r>
              <a:rPr lang="en" sz="2200"/>
              <a:t>Backend:100% manual</a:t>
            </a:r>
            <a:endParaRPr sz="2200"/>
          </a:p>
          <a:p>
            <a:pPr indent="-368300" lvl="0" marL="457200" marR="0" rtl="0" algn="l">
              <a:lnSpc>
                <a:spcPct val="114000"/>
              </a:lnSpc>
              <a:spcBef>
                <a:spcPts val="1000"/>
              </a:spcBef>
              <a:spcAft>
                <a:spcPts val="0"/>
              </a:spcAft>
              <a:buSzPts val="2200"/>
              <a:buChar char="●"/>
            </a:pPr>
            <a:r>
              <a:rPr lang="en" sz="2200"/>
              <a:t>Objetivo: apenas validar hipótese de negócio</a:t>
            </a:r>
            <a:endParaRPr sz="2200"/>
          </a:p>
          <a:p>
            <a:pPr indent="0" lvl="0" marL="914400" marR="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pic>
        <p:nvPicPr>
          <p:cNvPr id="573" name="Google Shape;573;p82"/>
          <p:cNvPicPr preferRelativeResize="0"/>
          <p:nvPr/>
        </p:nvPicPr>
        <p:blipFill>
          <a:blip r:embed="rId3">
            <a:alphaModFix/>
          </a:blip>
          <a:stretch>
            <a:fillRect/>
          </a:stretch>
        </p:blipFill>
        <p:spPr>
          <a:xfrm>
            <a:off x="4572000" y="711700"/>
            <a:ext cx="4479300" cy="3638502"/>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1000"/>
              </a:spcAft>
              <a:buNone/>
            </a:pPr>
            <a:r>
              <a:rPr lang="en">
                <a:solidFill>
                  <a:schemeClr val="dk2"/>
                </a:solidFill>
              </a:rPr>
              <a:t>Outros Exemplos de MVP</a:t>
            </a:r>
            <a:endParaRPr/>
          </a:p>
        </p:txBody>
      </p:sp>
      <p:sp>
        <p:nvSpPr>
          <p:cNvPr id="579" name="Google Shape;579;p8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83"/>
          <p:cNvSpPr txBox="1"/>
          <p:nvPr>
            <p:ph idx="1" type="body"/>
          </p:nvPr>
        </p:nvSpPr>
        <p:spPr>
          <a:xfrm>
            <a:off x="311700" y="973812"/>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Landing page: </a:t>
            </a:r>
            <a:endParaRPr sz="2200"/>
          </a:p>
          <a:p>
            <a:pPr indent="-368300" lvl="1" marL="914400" marR="0" rtl="0" algn="l">
              <a:lnSpc>
                <a:spcPct val="114000"/>
              </a:lnSpc>
              <a:spcBef>
                <a:spcPts val="1000"/>
              </a:spcBef>
              <a:spcAft>
                <a:spcPts val="0"/>
              </a:spcAft>
              <a:buSzPts val="2200"/>
              <a:buChar char="○"/>
            </a:pPr>
            <a:r>
              <a:rPr lang="en" sz="2200"/>
              <a:t>Usada para explicar uma ideia de sistema</a:t>
            </a:r>
            <a:endParaRPr sz="2200"/>
          </a:p>
          <a:p>
            <a:pPr indent="-368300" lvl="1" marL="914400" marR="0" rtl="0" algn="l">
              <a:lnSpc>
                <a:spcPct val="114000"/>
              </a:lnSpc>
              <a:spcBef>
                <a:spcPts val="1000"/>
              </a:spcBef>
              <a:spcAft>
                <a:spcPts val="0"/>
              </a:spcAft>
              <a:buSzPts val="2200"/>
              <a:buChar char="○"/>
            </a:pPr>
            <a:r>
              <a:rPr lang="en" sz="2200"/>
              <a:t>Interessados podem deixar e-mail para serem notificados quando ela for implementada (se vier a acontecer)</a:t>
            </a:r>
            <a:endParaRPr sz="2200"/>
          </a:p>
          <a:p>
            <a:pPr indent="-368300" lvl="0" marL="457200" marR="0" rtl="0" algn="l">
              <a:lnSpc>
                <a:spcPct val="114000"/>
              </a:lnSpc>
              <a:spcBef>
                <a:spcPts val="1000"/>
              </a:spcBef>
              <a:spcAft>
                <a:spcPts val="0"/>
              </a:spcAft>
              <a:buSzPts val="2200"/>
              <a:buChar char="●"/>
            </a:pPr>
            <a:r>
              <a:rPr lang="en" sz="2200"/>
              <a:t>Whatsapp:</a:t>
            </a:r>
            <a:endParaRPr sz="2200"/>
          </a:p>
          <a:p>
            <a:pPr indent="-368300" lvl="1" marL="914400" marR="0" rtl="0" algn="l">
              <a:lnSpc>
                <a:spcPct val="114000"/>
              </a:lnSpc>
              <a:spcBef>
                <a:spcPts val="1000"/>
              </a:spcBef>
              <a:spcAft>
                <a:spcPts val="0"/>
              </a:spcAft>
              <a:buSzPts val="2200"/>
              <a:buChar char="○"/>
            </a:pPr>
            <a:r>
              <a:rPr lang="en" sz="2200"/>
              <a:t>Usado como interface com os usuários (frontend)</a:t>
            </a:r>
            <a:endParaRPr sz="2200"/>
          </a:p>
          <a:p>
            <a:pPr indent="-368300" lvl="1" marL="914400" marR="0" rtl="0" algn="l">
              <a:lnSpc>
                <a:spcPct val="114000"/>
              </a:lnSpc>
              <a:spcBef>
                <a:spcPts val="1000"/>
              </a:spcBef>
              <a:spcAft>
                <a:spcPts val="0"/>
              </a:spcAft>
              <a:buSzPts val="2200"/>
              <a:buChar char="○"/>
            </a:pPr>
            <a:r>
              <a:rPr lang="en" sz="2200"/>
              <a:t>Backend é todo manual</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MVP ≠ 1a versão de um produto</a:t>
            </a:r>
            <a:endParaRPr sz="2500"/>
          </a:p>
        </p:txBody>
      </p:sp>
      <p:sp>
        <p:nvSpPr>
          <p:cNvPr id="586" name="Google Shape;586;p8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87" name="Google Shape;587;p84"/>
          <p:cNvPicPr preferRelativeResize="0"/>
          <p:nvPr/>
        </p:nvPicPr>
        <p:blipFill>
          <a:blip r:embed="rId3">
            <a:alphaModFix/>
          </a:blip>
          <a:stretch>
            <a:fillRect/>
          </a:stretch>
        </p:blipFill>
        <p:spPr>
          <a:xfrm>
            <a:off x="1658825" y="1414425"/>
            <a:ext cx="5419725" cy="27432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MVP é um experimento (logo, pode falhar)</a:t>
            </a:r>
            <a:endParaRPr sz="2500"/>
          </a:p>
        </p:txBody>
      </p:sp>
      <p:sp>
        <p:nvSpPr>
          <p:cNvPr id="593" name="Google Shape;593;p8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SzPts val="2400"/>
              <a:buChar char="●"/>
            </a:pPr>
            <a:r>
              <a:rPr lang="en" sz="2400"/>
              <a:t>Ou seja:</a:t>
            </a:r>
            <a:endParaRPr sz="2400"/>
          </a:p>
          <a:p>
            <a:pPr indent="-381000" lvl="1" marL="914400" marR="0" rtl="0" algn="l">
              <a:lnSpc>
                <a:spcPct val="115000"/>
              </a:lnSpc>
              <a:spcBef>
                <a:spcPts val="1000"/>
              </a:spcBef>
              <a:spcAft>
                <a:spcPts val="0"/>
              </a:spcAft>
              <a:buSzPts val="2400"/>
              <a:buChar char="○"/>
            </a:pPr>
            <a:r>
              <a:rPr lang="en" sz="2400"/>
              <a:t>Se existe um mercado certo</a:t>
            </a:r>
            <a:endParaRPr sz="2400"/>
          </a:p>
          <a:p>
            <a:pPr indent="-381000" lvl="1" marL="914400" marR="0" rtl="0" algn="l">
              <a:lnSpc>
                <a:spcPct val="115000"/>
              </a:lnSpc>
              <a:spcBef>
                <a:spcPts val="1000"/>
              </a:spcBef>
              <a:spcAft>
                <a:spcPts val="0"/>
              </a:spcAft>
              <a:buSzPts val="2400"/>
              <a:buChar char="○"/>
            </a:pPr>
            <a:r>
              <a:rPr lang="en" sz="2400"/>
              <a:t>Se o cliente já te contratou e vai te pagar</a:t>
            </a:r>
            <a:endParaRPr sz="2400"/>
          </a:p>
          <a:p>
            <a:pPr indent="-381000" lvl="1" marL="914400" marR="0" rtl="0" algn="l">
              <a:lnSpc>
                <a:spcPct val="115000"/>
              </a:lnSpc>
              <a:spcBef>
                <a:spcPts val="1000"/>
              </a:spcBef>
              <a:spcAft>
                <a:spcPts val="0"/>
              </a:spcAft>
              <a:buSzPts val="2400"/>
              <a:buChar char="○"/>
            </a:pPr>
            <a:r>
              <a:rPr lang="en" sz="2400"/>
              <a:t>Se você tem competência para desenvolver</a:t>
            </a:r>
            <a:endParaRPr sz="2400"/>
          </a:p>
          <a:p>
            <a:pPr indent="-381000" lvl="1" marL="914400" marR="0" rtl="0" algn="l">
              <a:lnSpc>
                <a:spcPct val="115000"/>
              </a:lnSpc>
              <a:spcBef>
                <a:spcPts val="1000"/>
              </a:spcBef>
              <a:spcAft>
                <a:spcPts val="0"/>
              </a:spcAft>
              <a:buSzPts val="2400"/>
              <a:buChar char="○"/>
            </a:pPr>
            <a:r>
              <a:rPr lang="en" sz="2400"/>
              <a:t>Se o cliente sabe muito bem o que quer</a:t>
            </a:r>
            <a:endParaRPr sz="2400"/>
          </a:p>
          <a:p>
            <a:pPr indent="-381000" lvl="1" marL="914400" marR="0" rtl="0" algn="l">
              <a:lnSpc>
                <a:spcPct val="115000"/>
              </a:lnSpc>
              <a:spcBef>
                <a:spcPts val="1000"/>
              </a:spcBef>
              <a:spcAft>
                <a:spcPts val="0"/>
              </a:spcAft>
              <a:buSzPts val="2400"/>
              <a:buChar char="○"/>
            </a:pPr>
            <a:r>
              <a:rPr lang="en" sz="2400"/>
              <a:t>Logo, </a:t>
            </a:r>
            <a:r>
              <a:rPr lang="en" sz="2400">
                <a:highlight>
                  <a:srgbClr val="FFF2CC"/>
                </a:highlight>
              </a:rPr>
              <a:t>não existe risco</a:t>
            </a:r>
            <a:r>
              <a:rPr lang="en" sz="2400"/>
              <a:t> e não precisamos de MVP</a:t>
            </a:r>
            <a:endParaRPr sz="2400"/>
          </a:p>
          <a:p>
            <a:pPr indent="-381000" lvl="0" marL="457200" marR="0" rtl="0" algn="l">
              <a:lnSpc>
                <a:spcPct val="115000"/>
              </a:lnSpc>
              <a:spcBef>
                <a:spcPts val="1000"/>
              </a:spcBef>
              <a:spcAft>
                <a:spcPts val="0"/>
              </a:spcAft>
              <a:buSzPts val="2400"/>
              <a:buChar char="●"/>
            </a:pPr>
            <a:r>
              <a:rPr lang="en" sz="2400"/>
              <a:t>Se já sabemos que vai dar certo, não é um experimento</a:t>
            </a:r>
            <a:endParaRPr sz="2400"/>
          </a:p>
          <a:p>
            <a:pPr indent="0" lvl="0" marL="0" marR="0" rtl="0" algn="l">
              <a:lnSpc>
                <a:spcPct val="115000"/>
              </a:lnSpc>
              <a:spcBef>
                <a:spcPts val="1000"/>
              </a:spcBef>
              <a:spcAft>
                <a:spcPts val="1000"/>
              </a:spcAft>
              <a:buNone/>
            </a:pPr>
            <a:r>
              <a:t/>
            </a:r>
            <a:endParaRPr sz="2400"/>
          </a:p>
        </p:txBody>
      </p:sp>
      <p:sp>
        <p:nvSpPr>
          <p:cNvPr id="594" name="Google Shape;594;p8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MVP &amp; Engenharia de Software</a:t>
            </a:r>
            <a:endParaRPr/>
          </a:p>
        </p:txBody>
      </p:sp>
      <p:sp>
        <p:nvSpPr>
          <p:cNvPr id="600" name="Google Shape;600;p8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1" name="Google Shape;601;p86"/>
          <p:cNvSpPr txBox="1"/>
          <p:nvPr>
            <p:ph idx="1" type="body"/>
          </p:nvPr>
        </p:nvSpPr>
        <p:spPr>
          <a:xfrm>
            <a:off x="311700" y="1009481"/>
            <a:ext cx="8520600" cy="8205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SzPts val="2400"/>
              <a:buChar char="●"/>
            </a:pPr>
            <a:r>
              <a:rPr lang="en" sz="2400"/>
              <a:t>MVP não precisa usar todas as melhores práticas de ES</a:t>
            </a:r>
            <a:endParaRPr sz="2400"/>
          </a:p>
          <a:p>
            <a:pPr indent="-381000" lvl="1" marL="914400" marR="0" rtl="0" algn="l">
              <a:lnSpc>
                <a:spcPct val="115000"/>
              </a:lnSpc>
              <a:spcBef>
                <a:spcPts val="1000"/>
              </a:spcBef>
              <a:spcAft>
                <a:spcPts val="0"/>
              </a:spcAft>
              <a:buSzPts val="2400"/>
              <a:buChar char="○"/>
            </a:pPr>
            <a:r>
              <a:rPr lang="en" sz="2400"/>
              <a:t>Testes de unidade, refatorações, arquiteturas, etc</a:t>
            </a:r>
            <a:endParaRPr sz="2400"/>
          </a:p>
          <a:p>
            <a:pPr indent="-381000" lvl="0" marL="457200" marR="0" rtl="0" algn="l">
              <a:lnSpc>
                <a:spcPct val="115000"/>
              </a:lnSpc>
              <a:spcBef>
                <a:spcPts val="1000"/>
              </a:spcBef>
              <a:spcAft>
                <a:spcPts val="1000"/>
              </a:spcAft>
              <a:buSzPts val="2400"/>
              <a:buChar char="●"/>
            </a:pPr>
            <a:r>
              <a:rPr lang="en" sz="2400"/>
              <a:t>Se der certo, pode-se depois reimplementar o sistema</a:t>
            </a:r>
            <a:endParaRPr sz="24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Quanto tempo leva para construir um 1o MVP?</a:t>
            </a:r>
            <a:endParaRPr sz="2500"/>
          </a:p>
        </p:txBody>
      </p:sp>
      <p:sp>
        <p:nvSpPr>
          <p:cNvPr id="607" name="Google Shape;607;p8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SzPts val="2400"/>
              <a:buChar char="●"/>
            </a:pPr>
            <a:r>
              <a:rPr lang="en" sz="2400"/>
              <a:t>V</a:t>
            </a:r>
            <a:r>
              <a:rPr lang="en" sz="2400"/>
              <a:t>aria muito, mas tem que ser rápido</a:t>
            </a:r>
            <a:endParaRPr sz="2400"/>
          </a:p>
          <a:p>
            <a:pPr indent="-381000" lvl="0" marL="457200" marR="0" rtl="0" algn="l">
              <a:lnSpc>
                <a:spcPct val="115000"/>
              </a:lnSpc>
              <a:spcBef>
                <a:spcPts val="1000"/>
              </a:spcBef>
              <a:spcAft>
                <a:spcPts val="0"/>
              </a:spcAft>
              <a:buSzPts val="2400"/>
              <a:buChar char="●"/>
            </a:pPr>
            <a:r>
              <a:rPr lang="en" sz="2400"/>
              <a:t>Por exemplo, duas semanas…</a:t>
            </a:r>
            <a:endParaRPr sz="2400"/>
          </a:p>
          <a:p>
            <a:pPr indent="-381000" lvl="0" marL="457200" rtl="0" algn="l">
              <a:spcBef>
                <a:spcPts val="1000"/>
              </a:spcBef>
              <a:spcAft>
                <a:spcPts val="0"/>
              </a:spcAft>
              <a:buSzPts val="2400"/>
              <a:buChar char="●"/>
            </a:pPr>
            <a:r>
              <a:rPr lang="en" sz="2400"/>
              <a:t>“Se você não tiver vergonha do seu MVP, você demorou demais para lançá-lo” (Reid Hoffman)</a:t>
            </a:r>
            <a:endParaRPr sz="2400"/>
          </a:p>
          <a:p>
            <a:pPr indent="0" lvl="0" marL="0" marR="0" rtl="0" algn="l">
              <a:lnSpc>
                <a:spcPct val="115000"/>
              </a:lnSpc>
              <a:spcBef>
                <a:spcPts val="1000"/>
              </a:spcBef>
              <a:spcAft>
                <a:spcPts val="1000"/>
              </a:spcAft>
              <a:buNone/>
            </a:pPr>
            <a:r>
              <a:t/>
            </a:r>
            <a:endParaRPr sz="2400"/>
          </a:p>
        </p:txBody>
      </p:sp>
      <p:sp>
        <p:nvSpPr>
          <p:cNvPr id="608" name="Google Shape;608;p8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8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Tipos comuns de pivôs</a:t>
            </a:r>
            <a:endParaRPr sz="2500"/>
          </a:p>
        </p:txBody>
      </p:sp>
      <p:sp>
        <p:nvSpPr>
          <p:cNvPr id="614" name="Google Shape;614;p8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SzPts val="2400"/>
              <a:buChar char="●"/>
            </a:pPr>
            <a:r>
              <a:rPr lang="en" sz="2400"/>
              <a:t>Zoom-in (uma feature específica vira um produto)</a:t>
            </a:r>
            <a:endParaRPr sz="2400"/>
          </a:p>
          <a:p>
            <a:pPr indent="-381000" lvl="0" marL="457200" marR="0" rtl="0" algn="l">
              <a:lnSpc>
                <a:spcPct val="115000"/>
              </a:lnSpc>
              <a:spcBef>
                <a:spcPts val="1000"/>
              </a:spcBef>
              <a:spcAft>
                <a:spcPts val="0"/>
              </a:spcAft>
              <a:buSzPts val="2400"/>
              <a:buChar char="●"/>
            </a:pPr>
            <a:r>
              <a:rPr lang="en" sz="2400"/>
              <a:t>Segmento de clientes</a:t>
            </a:r>
            <a:endParaRPr sz="2400"/>
          </a:p>
          <a:p>
            <a:pPr indent="-381000" lvl="0" marL="457200" rtl="0" algn="l">
              <a:spcBef>
                <a:spcPts val="1000"/>
              </a:spcBef>
              <a:spcAft>
                <a:spcPts val="0"/>
              </a:spcAft>
              <a:buSzPts val="2400"/>
              <a:buChar char="●"/>
            </a:pPr>
            <a:r>
              <a:rPr lang="en" sz="2400"/>
              <a:t>Aplicação para Plataforma</a:t>
            </a:r>
            <a:endParaRPr sz="2400"/>
          </a:p>
          <a:p>
            <a:pPr indent="-381000" lvl="0" marL="457200" rtl="0" algn="l">
              <a:spcBef>
                <a:spcPts val="1000"/>
              </a:spcBef>
              <a:spcAft>
                <a:spcPts val="1000"/>
              </a:spcAft>
              <a:buSzPts val="2400"/>
              <a:buChar char="●"/>
            </a:pPr>
            <a:r>
              <a:rPr lang="en" sz="2400"/>
              <a:t>Tecnologia</a:t>
            </a:r>
            <a:endParaRPr sz="2400"/>
          </a:p>
        </p:txBody>
      </p:sp>
      <p:sp>
        <p:nvSpPr>
          <p:cNvPr id="615" name="Google Shape;615;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Zoom-in: Slack</a:t>
            </a:r>
            <a:endParaRPr sz="2500"/>
          </a:p>
        </p:txBody>
      </p:sp>
      <p:sp>
        <p:nvSpPr>
          <p:cNvPr id="621" name="Google Shape;621;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22" name="Google Shape;622;p89"/>
          <p:cNvPicPr preferRelativeResize="0"/>
          <p:nvPr/>
        </p:nvPicPr>
        <p:blipFill>
          <a:blip r:embed="rId3">
            <a:alphaModFix/>
          </a:blip>
          <a:stretch>
            <a:fillRect/>
          </a:stretch>
        </p:blipFill>
        <p:spPr>
          <a:xfrm>
            <a:off x="6582675" y="314025"/>
            <a:ext cx="2057252" cy="524350"/>
          </a:xfrm>
          <a:prstGeom prst="rect">
            <a:avLst/>
          </a:prstGeom>
          <a:noFill/>
          <a:ln>
            <a:noFill/>
          </a:ln>
        </p:spPr>
      </p:pic>
      <p:pic>
        <p:nvPicPr>
          <p:cNvPr id="623" name="Google Shape;623;p89"/>
          <p:cNvPicPr preferRelativeResize="0"/>
          <p:nvPr/>
        </p:nvPicPr>
        <p:blipFill>
          <a:blip r:embed="rId4">
            <a:alphaModFix/>
          </a:blip>
          <a:stretch>
            <a:fillRect/>
          </a:stretch>
        </p:blipFill>
        <p:spPr>
          <a:xfrm>
            <a:off x="533400" y="1170125"/>
            <a:ext cx="6432337" cy="3820974"/>
          </a:xfrm>
          <a:prstGeom prst="rect">
            <a:avLst/>
          </a:prstGeom>
          <a:noFill/>
          <a:ln>
            <a:noFill/>
          </a:ln>
        </p:spPr>
      </p:pic>
      <p:sp>
        <p:nvSpPr>
          <p:cNvPr id="624" name="Google Shape;624;p89"/>
          <p:cNvSpPr/>
          <p:nvPr/>
        </p:nvSpPr>
        <p:spPr>
          <a:xfrm>
            <a:off x="5340550" y="1671875"/>
            <a:ext cx="1487700" cy="2909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89"/>
          <p:cNvSpPr/>
          <p:nvPr/>
        </p:nvSpPr>
        <p:spPr>
          <a:xfrm flipH="1" rot="5400000">
            <a:off x="6275025" y="1412650"/>
            <a:ext cx="2387100" cy="1239300"/>
          </a:xfrm>
          <a:prstGeom prst="bentArrow">
            <a:avLst>
              <a:gd fmla="val 21230" name="adj1"/>
              <a:gd fmla="val 25000" name="adj2"/>
              <a:gd fmla="val 25000" name="adj3"/>
              <a:gd fmla="val 43750" name="adj4"/>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89"/>
          <p:cNvSpPr txBox="1"/>
          <p:nvPr/>
        </p:nvSpPr>
        <p:spPr>
          <a:xfrm>
            <a:off x="7931675" y="1811100"/>
            <a:ext cx="97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zoom-in</a:t>
            </a:r>
            <a:endParaRPr sz="1600">
              <a:solidFill>
                <a:schemeClr val="dk2"/>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9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Segmento de Clientes: Twitch</a:t>
            </a:r>
            <a:endParaRPr sz="2500"/>
          </a:p>
        </p:txBody>
      </p:sp>
      <p:sp>
        <p:nvSpPr>
          <p:cNvPr id="632" name="Google Shape;632;p90"/>
          <p:cNvSpPr txBox="1"/>
          <p:nvPr>
            <p:ph idx="1" type="body"/>
          </p:nvPr>
        </p:nvSpPr>
        <p:spPr>
          <a:xfrm>
            <a:off x="311700" y="1152475"/>
            <a:ext cx="51720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Objetivo: streaming</a:t>
            </a:r>
            <a:endParaRPr sz="2400"/>
          </a:p>
          <a:p>
            <a:pPr indent="-381000" lvl="0" marL="457200" rtl="0" algn="l">
              <a:spcBef>
                <a:spcPts val="1000"/>
              </a:spcBef>
              <a:spcAft>
                <a:spcPts val="0"/>
              </a:spcAft>
              <a:buSzPts val="2400"/>
              <a:buChar char="●"/>
            </a:pPr>
            <a:r>
              <a:rPr lang="en" sz="2400"/>
              <a:t>Público inicial amplo (justin.tv)</a:t>
            </a:r>
            <a:endParaRPr sz="2400"/>
          </a:p>
          <a:p>
            <a:pPr indent="-381000" lvl="0" marL="457200" rtl="0" algn="l">
              <a:spcBef>
                <a:spcPts val="1000"/>
              </a:spcBef>
              <a:spcAft>
                <a:spcPts val="1000"/>
              </a:spcAft>
              <a:buSzPts val="2400"/>
              <a:buChar char="●"/>
            </a:pPr>
            <a:r>
              <a:rPr lang="en" sz="2400"/>
              <a:t>Depois, gamers (twitch.tv)</a:t>
            </a:r>
            <a:endParaRPr sz="2400"/>
          </a:p>
        </p:txBody>
      </p:sp>
      <p:sp>
        <p:nvSpPr>
          <p:cNvPr id="633" name="Google Shape;633;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34" name="Google Shape;634;p90"/>
          <p:cNvPicPr preferRelativeResize="0"/>
          <p:nvPr/>
        </p:nvPicPr>
        <p:blipFill>
          <a:blip r:embed="rId3">
            <a:alphaModFix/>
          </a:blip>
          <a:stretch>
            <a:fillRect/>
          </a:stretch>
        </p:blipFill>
        <p:spPr>
          <a:xfrm>
            <a:off x="6029975" y="621800"/>
            <a:ext cx="2954725" cy="28488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9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Aplicação para Plataforma: Shopify</a:t>
            </a:r>
            <a:endParaRPr sz="2500"/>
          </a:p>
        </p:txBody>
      </p:sp>
      <p:sp>
        <p:nvSpPr>
          <p:cNvPr id="640" name="Google Shape;640;p91"/>
          <p:cNvSpPr txBox="1"/>
          <p:nvPr>
            <p:ph idx="1" type="body"/>
          </p:nvPr>
        </p:nvSpPr>
        <p:spPr>
          <a:xfrm>
            <a:off x="311700" y="1152475"/>
            <a:ext cx="46974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De: uma loja online para alugar produtos para esquiar</a:t>
            </a:r>
            <a:endParaRPr sz="2400"/>
          </a:p>
          <a:p>
            <a:pPr indent="-381000" lvl="0" marL="457200" rtl="0" algn="l">
              <a:spcBef>
                <a:spcPts val="1000"/>
              </a:spcBef>
              <a:spcAft>
                <a:spcPts val="1000"/>
              </a:spcAft>
              <a:buSzPts val="2400"/>
              <a:buChar char="●"/>
            </a:pPr>
            <a:r>
              <a:rPr lang="en" sz="2400"/>
              <a:t>Para: uma plataforma para hospedar lojas online</a:t>
            </a:r>
            <a:endParaRPr sz="2400"/>
          </a:p>
        </p:txBody>
      </p:sp>
      <p:sp>
        <p:nvSpPr>
          <p:cNvPr id="641" name="Google Shape;641;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42" name="Google Shape;642;p91"/>
          <p:cNvPicPr preferRelativeResize="0"/>
          <p:nvPr/>
        </p:nvPicPr>
        <p:blipFill>
          <a:blip r:embed="rId3">
            <a:alphaModFix/>
          </a:blip>
          <a:stretch>
            <a:fillRect/>
          </a:stretch>
        </p:blipFill>
        <p:spPr>
          <a:xfrm>
            <a:off x="5085300" y="1322525"/>
            <a:ext cx="3830100" cy="266992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9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8" name="Google Shape;648;p92"/>
          <p:cNvSpPr txBox="1"/>
          <p:nvPr/>
        </p:nvSpPr>
        <p:spPr>
          <a:xfrm>
            <a:off x="930200" y="1429850"/>
            <a:ext cx="1254900" cy="1560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0"/>
              </a:spcAft>
              <a:buNone/>
            </a:pPr>
            <a:r>
              <a:rPr lang="en" sz="1800">
                <a:solidFill>
                  <a:schemeClr val="dk2"/>
                </a:solidFill>
              </a:rPr>
              <a:t>Loja online</a:t>
            </a:r>
            <a:endParaRPr sz="1800">
              <a:solidFill>
                <a:schemeClr val="dk2"/>
              </a:solidFill>
            </a:endParaRPr>
          </a:p>
          <a:p>
            <a:pPr indent="0" lvl="0" marL="0" rtl="0" algn="ctr">
              <a:spcBef>
                <a:spcPts val="0"/>
              </a:spcBef>
              <a:spcAft>
                <a:spcPts val="0"/>
              </a:spcAft>
              <a:buNone/>
            </a:pPr>
            <a:r>
              <a:rPr lang="en" sz="1100">
                <a:solidFill>
                  <a:schemeClr val="dk2"/>
                </a:solidFill>
              </a:rPr>
              <a:t>(uma aplicação)</a:t>
            </a:r>
            <a:endParaRPr sz="1100">
              <a:solidFill>
                <a:schemeClr val="dk2"/>
              </a:solidFill>
            </a:endParaRPr>
          </a:p>
        </p:txBody>
      </p:sp>
      <p:sp>
        <p:nvSpPr>
          <p:cNvPr id="649" name="Google Shape;649;p92"/>
          <p:cNvSpPr txBox="1"/>
          <p:nvPr/>
        </p:nvSpPr>
        <p:spPr>
          <a:xfrm>
            <a:off x="518550" y="3066925"/>
            <a:ext cx="2125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2"/>
                </a:solidFill>
              </a:rPr>
              <a:t>minhaloja.com.br</a:t>
            </a:r>
            <a:endParaRPr sz="1500">
              <a:solidFill>
                <a:schemeClr val="dk2"/>
              </a:solidFill>
            </a:endParaRPr>
          </a:p>
        </p:txBody>
      </p:sp>
      <p:sp>
        <p:nvSpPr>
          <p:cNvPr id="650" name="Google Shape;650;p92"/>
          <p:cNvSpPr txBox="1"/>
          <p:nvPr/>
        </p:nvSpPr>
        <p:spPr>
          <a:xfrm>
            <a:off x="3902000" y="1429850"/>
            <a:ext cx="4449600" cy="622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Plataforma</a:t>
            </a:r>
            <a:endParaRPr sz="1800">
              <a:solidFill>
                <a:schemeClr val="dk2"/>
              </a:solidFill>
            </a:endParaRPr>
          </a:p>
        </p:txBody>
      </p:sp>
      <p:sp>
        <p:nvSpPr>
          <p:cNvPr id="651" name="Google Shape;651;p92"/>
          <p:cNvSpPr txBox="1"/>
          <p:nvPr/>
        </p:nvSpPr>
        <p:spPr>
          <a:xfrm>
            <a:off x="3902000" y="2208075"/>
            <a:ext cx="1110300" cy="715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LojaX</a:t>
            </a:r>
            <a:endParaRPr sz="1800">
              <a:solidFill>
                <a:schemeClr val="dk2"/>
              </a:solidFill>
            </a:endParaRPr>
          </a:p>
        </p:txBody>
      </p:sp>
      <p:sp>
        <p:nvSpPr>
          <p:cNvPr id="652" name="Google Shape;652;p92"/>
          <p:cNvSpPr txBox="1"/>
          <p:nvPr/>
        </p:nvSpPr>
        <p:spPr>
          <a:xfrm>
            <a:off x="3901950" y="3066925"/>
            <a:ext cx="1110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lojaX</a:t>
            </a:r>
            <a:r>
              <a:rPr lang="en" sz="1300">
                <a:solidFill>
                  <a:schemeClr val="dk2"/>
                </a:solidFill>
              </a:rPr>
              <a:t>.com.br</a:t>
            </a:r>
            <a:endParaRPr sz="1300">
              <a:solidFill>
                <a:schemeClr val="dk2"/>
              </a:solidFill>
            </a:endParaRPr>
          </a:p>
        </p:txBody>
      </p:sp>
      <p:sp>
        <p:nvSpPr>
          <p:cNvPr id="653" name="Google Shape;653;p92"/>
          <p:cNvSpPr/>
          <p:nvPr/>
        </p:nvSpPr>
        <p:spPr>
          <a:xfrm>
            <a:off x="2606525" y="1981700"/>
            <a:ext cx="953700" cy="475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92"/>
          <p:cNvSpPr txBox="1"/>
          <p:nvPr/>
        </p:nvSpPr>
        <p:spPr>
          <a:xfrm>
            <a:off x="5349800" y="2208075"/>
            <a:ext cx="1110300" cy="715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LojaY</a:t>
            </a:r>
            <a:endParaRPr sz="1800">
              <a:solidFill>
                <a:schemeClr val="dk2"/>
              </a:solidFill>
            </a:endParaRPr>
          </a:p>
        </p:txBody>
      </p:sp>
      <p:sp>
        <p:nvSpPr>
          <p:cNvPr id="655" name="Google Shape;655;p92"/>
          <p:cNvSpPr txBox="1"/>
          <p:nvPr/>
        </p:nvSpPr>
        <p:spPr>
          <a:xfrm>
            <a:off x="5349750" y="3066925"/>
            <a:ext cx="1110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lojaY.com.br</a:t>
            </a:r>
            <a:endParaRPr sz="1300">
              <a:solidFill>
                <a:schemeClr val="dk2"/>
              </a:solidFill>
            </a:endParaRPr>
          </a:p>
        </p:txBody>
      </p:sp>
      <p:sp>
        <p:nvSpPr>
          <p:cNvPr id="656" name="Google Shape;656;p92"/>
          <p:cNvSpPr txBox="1"/>
          <p:nvPr/>
        </p:nvSpPr>
        <p:spPr>
          <a:xfrm>
            <a:off x="7254800" y="2208075"/>
            <a:ext cx="1110300" cy="715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LojaZ</a:t>
            </a:r>
            <a:endParaRPr sz="1800">
              <a:solidFill>
                <a:schemeClr val="dk2"/>
              </a:solidFill>
            </a:endParaRPr>
          </a:p>
        </p:txBody>
      </p:sp>
      <p:sp>
        <p:nvSpPr>
          <p:cNvPr id="657" name="Google Shape;657;p92"/>
          <p:cNvSpPr txBox="1"/>
          <p:nvPr/>
        </p:nvSpPr>
        <p:spPr>
          <a:xfrm>
            <a:off x="7254750" y="3066925"/>
            <a:ext cx="1110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lojaZ.com.br</a:t>
            </a:r>
            <a:endParaRPr sz="1300">
              <a:solidFill>
                <a:schemeClr val="dk2"/>
              </a:solidFill>
            </a:endParaRPr>
          </a:p>
        </p:txBody>
      </p:sp>
      <p:sp>
        <p:nvSpPr>
          <p:cNvPr id="658" name="Google Shape;658;p92"/>
          <p:cNvSpPr txBox="1"/>
          <p:nvPr/>
        </p:nvSpPr>
        <p:spPr>
          <a:xfrm>
            <a:off x="6661175" y="2477225"/>
            <a:ext cx="351900" cy="17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a:t>
            </a:r>
            <a:endParaRPr sz="1800">
              <a:solidFill>
                <a:schemeClr val="dk2"/>
              </a:solidFill>
            </a:endParaRPr>
          </a:p>
        </p:txBody>
      </p:sp>
      <p:sp>
        <p:nvSpPr>
          <p:cNvPr id="659" name="Google Shape;659;p92"/>
          <p:cNvSpPr txBox="1"/>
          <p:nvPr/>
        </p:nvSpPr>
        <p:spPr>
          <a:xfrm>
            <a:off x="2696250" y="2416775"/>
            <a:ext cx="632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pivô</a:t>
            </a:r>
            <a:endParaRPr sz="1500">
              <a:solidFill>
                <a:schemeClr val="dk2"/>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Tecnologia: Android</a:t>
            </a:r>
            <a:endParaRPr sz="2500"/>
          </a:p>
        </p:txBody>
      </p:sp>
      <p:sp>
        <p:nvSpPr>
          <p:cNvPr id="665" name="Google Shape;665;p9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De: sistema operacional para câmeras</a:t>
            </a:r>
            <a:endParaRPr sz="2400"/>
          </a:p>
          <a:p>
            <a:pPr indent="-381000" lvl="0" marL="457200" rtl="0" algn="l">
              <a:spcBef>
                <a:spcPts val="1000"/>
              </a:spcBef>
              <a:spcAft>
                <a:spcPts val="1000"/>
              </a:spcAft>
              <a:buSzPts val="2400"/>
              <a:buChar char="●"/>
            </a:pPr>
            <a:r>
              <a:rPr lang="en" sz="2400"/>
              <a:t>Para: sistema operacional para celulares</a:t>
            </a:r>
            <a:endParaRPr sz="2400"/>
          </a:p>
        </p:txBody>
      </p:sp>
      <p:sp>
        <p:nvSpPr>
          <p:cNvPr id="666" name="Google Shape;666;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67" name="Google Shape;667;p93"/>
          <p:cNvPicPr preferRelativeResize="0"/>
          <p:nvPr/>
        </p:nvPicPr>
        <p:blipFill>
          <a:blip r:embed="rId3">
            <a:alphaModFix/>
          </a:blip>
          <a:stretch>
            <a:fillRect/>
          </a:stretch>
        </p:blipFill>
        <p:spPr>
          <a:xfrm>
            <a:off x="846700" y="2460250"/>
            <a:ext cx="4011050" cy="22863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4"/>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Exercícios sobre MVPs</a:t>
            </a:r>
            <a:endParaRPr sz="3200">
              <a:solidFill>
                <a:srgbClr val="FF0000"/>
              </a:solidFill>
            </a:endParaRPr>
          </a:p>
        </p:txBody>
      </p:sp>
      <p:sp>
        <p:nvSpPr>
          <p:cNvPr id="673" name="Google Shape;673;p9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9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9" name="Google Shape;679;p95"/>
          <p:cNvSpPr txBox="1"/>
          <p:nvPr>
            <p:ph idx="1" type="body"/>
          </p:nvPr>
        </p:nvSpPr>
        <p:spPr>
          <a:xfrm>
            <a:off x="311700" y="3142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800"/>
              </a:spcAft>
              <a:buSzPts val="2200"/>
              <a:buAutoNum type="arabicPeriod"/>
            </a:pPr>
            <a:r>
              <a:rPr lang="en" sz="2200"/>
              <a:t>Qual a diferença entre um MVP e uma pesquisa de mercado?</a:t>
            </a:r>
            <a:endParaRPr sz="24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5" name="Google Shape;685;p96"/>
          <p:cNvSpPr txBox="1"/>
          <p:nvPr>
            <p:ph idx="1" type="body"/>
          </p:nvPr>
        </p:nvSpPr>
        <p:spPr>
          <a:xfrm>
            <a:off x="311700" y="314275"/>
            <a:ext cx="8520600" cy="8205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0"/>
              </a:spcAft>
              <a:buNone/>
            </a:pPr>
            <a:r>
              <a:rPr lang="en" sz="2200"/>
              <a:t>2. </a:t>
            </a:r>
            <a:r>
              <a:rPr lang="en" sz="2200"/>
              <a:t>Suponha que você teve a ideia de fazer um sistema para organizar caronas para alunos da UFMG. </a:t>
            </a:r>
            <a:endParaRPr sz="2200"/>
          </a:p>
          <a:p>
            <a:pPr indent="-368300" lvl="1" marL="914400" marR="0" rtl="0" algn="l">
              <a:lnSpc>
                <a:spcPct val="114000"/>
              </a:lnSpc>
              <a:spcBef>
                <a:spcPts val="800"/>
              </a:spcBef>
              <a:spcAft>
                <a:spcPts val="0"/>
              </a:spcAft>
              <a:buSzPts val="2200"/>
              <a:buChar char="○"/>
            </a:pPr>
            <a:r>
              <a:rPr lang="en" sz="2200"/>
              <a:t>Como você implementaria um MVP para esse sistema sem escrever código?</a:t>
            </a:r>
            <a:endParaRPr sz="2200"/>
          </a:p>
          <a:p>
            <a:pPr indent="-368300" lvl="1" marL="914400" marR="0" rtl="0" algn="l">
              <a:lnSpc>
                <a:spcPct val="114000"/>
              </a:lnSpc>
              <a:spcBef>
                <a:spcPts val="800"/>
              </a:spcBef>
              <a:spcAft>
                <a:spcPts val="0"/>
              </a:spcAft>
              <a:buSzPts val="2200"/>
              <a:buChar char="○"/>
            </a:pPr>
            <a:r>
              <a:rPr lang="en" sz="2200"/>
              <a:t>Supondo que seu primeiro MVP falhou, descreva um possível pivô que você poderia tentar.</a:t>
            </a:r>
            <a:endParaRPr sz="2400"/>
          </a:p>
          <a:p>
            <a:pPr indent="0" lvl="0" marL="457200" rtl="0" algn="l">
              <a:lnSpc>
                <a:spcPct val="114000"/>
              </a:lnSpc>
              <a:spcBef>
                <a:spcPts val="800"/>
              </a:spcBef>
              <a:spcAft>
                <a:spcPts val="1000"/>
              </a:spcAft>
              <a:buNone/>
            </a:pPr>
            <a:r>
              <a:t/>
            </a:r>
            <a:endParaRPr sz="24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1" name="Google Shape;691;p97"/>
          <p:cNvSpPr txBox="1"/>
          <p:nvPr>
            <p:ph idx="1" type="body"/>
          </p:nvPr>
        </p:nvSpPr>
        <p:spPr>
          <a:xfrm>
            <a:off x="311700" y="314275"/>
            <a:ext cx="8520600" cy="820500"/>
          </a:xfrm>
          <a:prstGeom prst="rect">
            <a:avLst/>
          </a:prstGeom>
        </p:spPr>
        <p:txBody>
          <a:bodyPr anchorCtr="0" anchor="t" bIns="91425" lIns="91425" spcFirstLastPara="1" rIns="91425" wrap="square" tIns="91425">
            <a:noAutofit/>
          </a:bodyPr>
          <a:lstStyle/>
          <a:p>
            <a:pPr indent="0" lvl="0" marL="0" marR="0" rtl="0" algn="l">
              <a:lnSpc>
                <a:spcPct val="114000"/>
              </a:lnSpc>
              <a:spcBef>
                <a:spcPts val="0"/>
              </a:spcBef>
              <a:spcAft>
                <a:spcPts val="0"/>
              </a:spcAft>
              <a:buNone/>
            </a:pPr>
            <a:r>
              <a:rPr lang="en" sz="2200"/>
              <a:t>3. </a:t>
            </a:r>
            <a:r>
              <a:rPr lang="en" sz="2200"/>
              <a:t>Descreva um tipo de domínio (ou aplicação) para o qual é mais difícil e desafiador criar um MVP. Justifique sua resposta.</a:t>
            </a:r>
            <a:endParaRPr sz="2200"/>
          </a:p>
          <a:p>
            <a:pPr indent="0" lvl="0" marL="457200" rtl="0" algn="l">
              <a:lnSpc>
                <a:spcPct val="114000"/>
              </a:lnSpc>
              <a:spcBef>
                <a:spcPts val="8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a:t>Exemplo: Canva</a:t>
            </a:r>
            <a:endParaRPr sz="2500"/>
          </a:p>
        </p:txBody>
      </p:sp>
      <p:sp>
        <p:nvSpPr>
          <p:cNvPr id="697" name="Google Shape;697;p9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Primeira versão levou um ano para ser lançada</a:t>
            </a:r>
            <a:endParaRPr sz="2400"/>
          </a:p>
          <a:p>
            <a:pPr indent="-381000" lvl="0" marL="457200" rtl="0" algn="l">
              <a:spcBef>
                <a:spcPts val="1000"/>
              </a:spcBef>
              <a:spcAft>
                <a:spcPts val="1000"/>
              </a:spcAft>
              <a:buSzPts val="2400"/>
              <a:buChar char="●"/>
            </a:pPr>
            <a:r>
              <a:rPr lang="en" sz="2400"/>
              <a:t>Provavelmente, não deveria ser chamada de um </a:t>
            </a:r>
            <a:r>
              <a:rPr lang="en" sz="2400"/>
              <a:t>MVP</a:t>
            </a:r>
            <a:endParaRPr sz="2400"/>
          </a:p>
        </p:txBody>
      </p:sp>
      <p:sp>
        <p:nvSpPr>
          <p:cNvPr id="698" name="Google Shape;698;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99" name="Google Shape;699;p98"/>
          <p:cNvPicPr preferRelativeResize="0"/>
          <p:nvPr/>
        </p:nvPicPr>
        <p:blipFill>
          <a:blip r:embed="rId3">
            <a:alphaModFix/>
          </a:blip>
          <a:stretch>
            <a:fillRect/>
          </a:stretch>
        </p:blipFill>
        <p:spPr>
          <a:xfrm>
            <a:off x="1323325" y="2258125"/>
            <a:ext cx="3697200" cy="2310750"/>
          </a:xfrm>
          <a:prstGeom prst="rect">
            <a:avLst/>
          </a:prstGeom>
          <a:noFill/>
          <a:ln>
            <a:noFill/>
          </a:ln>
        </p:spPr>
      </p:pic>
      <p:sp>
        <p:nvSpPr>
          <p:cNvPr id="700" name="Google Shape;700;p98"/>
          <p:cNvSpPr txBox="1"/>
          <p:nvPr/>
        </p:nvSpPr>
        <p:spPr>
          <a:xfrm>
            <a:off x="373900" y="4719525"/>
            <a:ext cx="7392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https://techcrunch.com/2013/08/26/backed-by-3-million-in-funding-canva-launches-a-graphic-design-platform-anyone-can-use/</a:t>
            </a:r>
            <a:endParaRPr sz="1000">
              <a:solidFill>
                <a:schemeClr val="dk2"/>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9"/>
          <p:cNvSpPr txBox="1"/>
          <p:nvPr>
            <p:ph idx="1" type="body"/>
          </p:nvPr>
        </p:nvSpPr>
        <p:spPr>
          <a:xfrm>
            <a:off x="235500" y="238075"/>
            <a:ext cx="8520600" cy="1649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 sz="2000"/>
              <a:t>4</a:t>
            </a:r>
            <a:r>
              <a:rPr lang="en" sz="2000"/>
              <a:t>. Na década de 40, antes de criar o McDonalds, os fundadores da empresa fizeram várias experiências com plantas de cozinha desenhadas com giz em uma quadra de tênis. O objetivo era testar vários modelos de cozinha antes de optar por um deles. Esses modelos constituem MVPs? Sim ou não? Justifique.</a:t>
            </a:r>
            <a:endParaRPr sz="2000"/>
          </a:p>
        </p:txBody>
      </p:sp>
      <p:sp>
        <p:nvSpPr>
          <p:cNvPr id="706" name="Google Shape;706;p9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07" name="Google Shape;707;p99"/>
          <p:cNvPicPr preferRelativeResize="0"/>
          <p:nvPr/>
        </p:nvPicPr>
        <p:blipFill>
          <a:blip r:embed="rId3">
            <a:alphaModFix/>
          </a:blip>
          <a:stretch>
            <a:fillRect/>
          </a:stretch>
        </p:blipFill>
        <p:spPr>
          <a:xfrm>
            <a:off x="525500" y="2279800"/>
            <a:ext cx="3229700" cy="2420626"/>
          </a:xfrm>
          <a:prstGeom prst="rect">
            <a:avLst/>
          </a:prstGeom>
          <a:noFill/>
          <a:ln>
            <a:noFill/>
          </a:ln>
        </p:spPr>
      </p:pic>
      <p:pic>
        <p:nvPicPr>
          <p:cNvPr id="708" name="Google Shape;708;p99"/>
          <p:cNvPicPr preferRelativeResize="0"/>
          <p:nvPr/>
        </p:nvPicPr>
        <p:blipFill>
          <a:blip r:embed="rId4">
            <a:alphaModFix/>
          </a:blip>
          <a:stretch>
            <a:fillRect/>
          </a:stretch>
        </p:blipFill>
        <p:spPr>
          <a:xfrm>
            <a:off x="4136150" y="2279787"/>
            <a:ext cx="3229700" cy="2420653"/>
          </a:xfrm>
          <a:prstGeom prst="rect">
            <a:avLst/>
          </a:prstGeom>
          <a:noFill/>
          <a:ln>
            <a:noFill/>
          </a:ln>
        </p:spPr>
      </p:pic>
      <p:sp>
        <p:nvSpPr>
          <p:cNvPr id="709" name="Google Shape;709;p99"/>
          <p:cNvSpPr txBox="1"/>
          <p:nvPr/>
        </p:nvSpPr>
        <p:spPr>
          <a:xfrm>
            <a:off x="475650" y="4762500"/>
            <a:ext cx="193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Fonte: The Founder movie</a:t>
            </a:r>
            <a:endParaRPr sz="10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00"/>
          <p:cNvSpPr txBox="1"/>
          <p:nvPr>
            <p:ph idx="1" type="body"/>
          </p:nvPr>
        </p:nvSpPr>
        <p:spPr>
          <a:xfrm>
            <a:off x="235500" y="238075"/>
            <a:ext cx="8520600" cy="1649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 sz="2000"/>
              <a:t>5. Qual das duas figuras abaixo melhor descreve uma boa prática para implementação de MVPs? Nas figuras, a parte em laranja descreve as preocupações que foram consideradas no projeto do MVP.</a:t>
            </a:r>
            <a:endParaRPr sz="2000"/>
          </a:p>
        </p:txBody>
      </p:sp>
      <p:sp>
        <p:nvSpPr>
          <p:cNvPr id="715" name="Google Shape;715;p10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6" name="Google Shape;716;p100"/>
          <p:cNvPicPr preferRelativeResize="0"/>
          <p:nvPr/>
        </p:nvPicPr>
        <p:blipFill>
          <a:blip r:embed="rId3">
            <a:alphaModFix/>
          </a:blip>
          <a:stretch>
            <a:fillRect/>
          </a:stretch>
        </p:blipFill>
        <p:spPr>
          <a:xfrm>
            <a:off x="639158" y="1430575"/>
            <a:ext cx="6751497" cy="2950925"/>
          </a:xfrm>
          <a:prstGeom prst="rect">
            <a:avLst/>
          </a:prstGeom>
          <a:noFill/>
          <a:ln>
            <a:noFill/>
          </a:ln>
        </p:spPr>
      </p:pic>
      <p:sp>
        <p:nvSpPr>
          <p:cNvPr id="717" name="Google Shape;717;p100"/>
          <p:cNvSpPr txBox="1"/>
          <p:nvPr/>
        </p:nvSpPr>
        <p:spPr>
          <a:xfrm>
            <a:off x="3425750" y="4383525"/>
            <a:ext cx="61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MVP</a:t>
            </a:r>
            <a:endParaRPr sz="1500">
              <a:solidFill>
                <a:schemeClr val="dk2"/>
              </a:solidFill>
            </a:endParaRPr>
          </a:p>
        </p:txBody>
      </p:sp>
      <p:sp>
        <p:nvSpPr>
          <p:cNvPr id="718" name="Google Shape;718;p100"/>
          <p:cNvSpPr txBox="1"/>
          <p:nvPr/>
        </p:nvSpPr>
        <p:spPr>
          <a:xfrm>
            <a:off x="4111550" y="4383525"/>
            <a:ext cx="61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MVP</a:t>
            </a:r>
            <a:endParaRPr sz="1500">
              <a:solidFill>
                <a:schemeClr val="dk2"/>
              </a:solidFill>
            </a:endParaRPr>
          </a:p>
        </p:txBody>
      </p:sp>
      <p:sp>
        <p:nvSpPr>
          <p:cNvPr id="719" name="Google Shape;719;p100"/>
          <p:cNvSpPr txBox="1"/>
          <p:nvPr/>
        </p:nvSpPr>
        <p:spPr>
          <a:xfrm>
            <a:off x="2243425" y="4176900"/>
            <a:ext cx="49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a:t>
            </a:r>
            <a:endParaRPr sz="1800">
              <a:solidFill>
                <a:schemeClr val="dk2"/>
              </a:solidFill>
            </a:endParaRPr>
          </a:p>
        </p:txBody>
      </p:sp>
      <p:sp>
        <p:nvSpPr>
          <p:cNvPr id="720" name="Google Shape;720;p100"/>
          <p:cNvSpPr txBox="1"/>
          <p:nvPr/>
        </p:nvSpPr>
        <p:spPr>
          <a:xfrm>
            <a:off x="5520025" y="4176900"/>
            <a:ext cx="49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a:t>
            </a:r>
            <a:endParaRPr sz="1800">
              <a:solidFill>
                <a:schemeClr val="dk2"/>
              </a:solidFill>
            </a:endParaRPr>
          </a:p>
        </p:txBody>
      </p:sp>
      <p:sp>
        <p:nvSpPr>
          <p:cNvPr id="721" name="Google Shape;721;p100"/>
          <p:cNvSpPr txBox="1"/>
          <p:nvPr/>
        </p:nvSpPr>
        <p:spPr>
          <a:xfrm>
            <a:off x="6519300" y="4253100"/>
            <a:ext cx="2559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Source: Lean Enterprise. How High Performance Organizations Innovate at Scale</a:t>
            </a:r>
            <a:endParaRPr sz="1200">
              <a:solidFill>
                <a:schemeClr val="dk2"/>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01"/>
          <p:cNvSpPr txBox="1"/>
          <p:nvPr>
            <p:ph idx="1" type="body"/>
          </p:nvPr>
        </p:nvSpPr>
        <p:spPr>
          <a:xfrm>
            <a:off x="311700" y="238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6</a:t>
            </a:r>
            <a:r>
              <a:rPr lang="en" sz="2000"/>
              <a:t>. A Nvidia surgiu, na década de 90, como uma fabricante de placas para processamento gráfico, muito usadas, por exemplo, em jogos.</a:t>
            </a:r>
            <a:endParaRPr sz="2000"/>
          </a:p>
          <a:p>
            <a:pPr indent="0" lvl="0" marL="0" rtl="0" algn="l">
              <a:spcBef>
                <a:spcPts val="1600"/>
              </a:spcBef>
              <a:spcAft>
                <a:spcPts val="0"/>
              </a:spcAft>
              <a:buClr>
                <a:schemeClr val="dk1"/>
              </a:buClr>
              <a:buSzPts val="1100"/>
              <a:buFont typeface="Arial"/>
              <a:buNone/>
            </a:pPr>
            <a:r>
              <a:rPr lang="en" sz="2000"/>
              <a:t>No entanto, a partir de 2015, a empresa passou a priorizar a fabricação de unidades de processamento voltadas para aplicações paralelas de forma geral. </a:t>
            </a:r>
            <a:endParaRPr sz="2000"/>
          </a:p>
          <a:p>
            <a:pPr indent="0" lvl="0" marL="0" rtl="0" algn="l">
              <a:spcBef>
                <a:spcPts val="1600"/>
              </a:spcBef>
              <a:spcAft>
                <a:spcPts val="0"/>
              </a:spcAft>
              <a:buClr>
                <a:schemeClr val="dk1"/>
              </a:buClr>
              <a:buSzPts val="1100"/>
              <a:buFont typeface="Arial"/>
              <a:buNone/>
            </a:pPr>
            <a:r>
              <a:rPr lang="en" sz="2000"/>
              <a:t>Essa mudança (processamento gráfico ⇒ processamento paralelo) pode ser considerada um pivô? Justifique.</a:t>
            </a:r>
            <a:endParaRPr sz="2000"/>
          </a:p>
          <a:p>
            <a:pPr indent="0" lvl="0" marL="0" rtl="0" algn="l">
              <a:spcBef>
                <a:spcPts val="1600"/>
              </a:spcBef>
              <a:spcAft>
                <a:spcPts val="1600"/>
              </a:spcAft>
              <a:buNone/>
            </a:pPr>
            <a:r>
              <a:t/>
            </a:r>
            <a:endParaRPr/>
          </a:p>
        </p:txBody>
      </p:sp>
      <p:sp>
        <p:nvSpPr>
          <p:cNvPr id="727" name="Google Shape;727;p10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731" name="Shape 731"/>
        <p:cNvGrpSpPr/>
        <p:nvPr/>
      </p:nvGrpSpPr>
      <p:grpSpPr>
        <a:xfrm>
          <a:off x="0" y="0"/>
          <a:ext cx="0" cy="0"/>
          <a:chOff x="0" y="0"/>
          <a:chExt cx="0" cy="0"/>
        </a:xfrm>
      </p:grpSpPr>
      <p:sp>
        <p:nvSpPr>
          <p:cNvPr id="732" name="Google Shape;732;p102"/>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Implementando MVPs com IA</a:t>
            </a:r>
            <a:endParaRPr>
              <a:solidFill>
                <a:srgbClr val="FF0000"/>
              </a:solidFill>
            </a:endParaRPr>
          </a:p>
        </p:txBody>
      </p:sp>
      <p:sp>
        <p:nvSpPr>
          <p:cNvPr id="733" name="Google Shape;733;p10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737" name="Shape 737"/>
        <p:cNvGrpSpPr/>
        <p:nvPr/>
      </p:nvGrpSpPr>
      <p:grpSpPr>
        <a:xfrm>
          <a:off x="0" y="0"/>
          <a:ext cx="0" cy="0"/>
          <a:chOff x="0" y="0"/>
          <a:chExt cx="0" cy="0"/>
        </a:xfrm>
      </p:grpSpPr>
      <p:sp>
        <p:nvSpPr>
          <p:cNvPr id="738" name="Google Shape;738;p10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MVPs com IA</a:t>
            </a:r>
            <a:endParaRPr/>
          </a:p>
        </p:txBody>
      </p:sp>
      <p:sp>
        <p:nvSpPr>
          <p:cNvPr id="739" name="Google Shape;739;p10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0" name="Google Shape;740;p103"/>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LLMs são excelentes para construir MVPs</a:t>
            </a:r>
            <a:endParaRPr sz="2200"/>
          </a:p>
          <a:p>
            <a:pPr indent="-368300" lvl="0" marL="457200" marR="0" rtl="0" algn="l">
              <a:lnSpc>
                <a:spcPct val="114000"/>
              </a:lnSpc>
              <a:spcBef>
                <a:spcPts val="1000"/>
              </a:spcBef>
              <a:spcAft>
                <a:spcPts val="0"/>
              </a:spcAft>
              <a:buSzPts val="2200"/>
              <a:buChar char="●"/>
            </a:pPr>
            <a:r>
              <a:rPr lang="en" sz="2200"/>
              <a:t>Porém, tome cuidado com segurança, privacidade, LGPD, etc</a:t>
            </a:r>
            <a:endParaRPr sz="2200"/>
          </a:p>
          <a:p>
            <a:pPr indent="0" lvl="0" marL="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pic>
        <p:nvPicPr>
          <p:cNvPr id="741" name="Google Shape;741;p103" title="Screenshot 2026-03-25 at 11.29.07.png"/>
          <p:cNvPicPr preferRelativeResize="0"/>
          <p:nvPr/>
        </p:nvPicPr>
        <p:blipFill>
          <a:blip r:embed="rId3">
            <a:alphaModFix/>
          </a:blip>
          <a:stretch>
            <a:fillRect/>
          </a:stretch>
        </p:blipFill>
        <p:spPr>
          <a:xfrm>
            <a:off x="2123120" y="2124745"/>
            <a:ext cx="4746832" cy="2419351"/>
          </a:xfrm>
          <a:prstGeom prst="rect">
            <a:avLst/>
          </a:prstGeom>
          <a:noFill/>
          <a:ln>
            <a:noFill/>
          </a:ln>
        </p:spPr>
      </p:pic>
      <p:sp>
        <p:nvSpPr>
          <p:cNvPr id="742" name="Google Shape;742;p103"/>
          <p:cNvSpPr txBox="1"/>
          <p:nvPr/>
        </p:nvSpPr>
        <p:spPr>
          <a:xfrm>
            <a:off x="3342129" y="4656432"/>
            <a:ext cx="23916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u="sng">
                <a:solidFill>
                  <a:schemeClr val="hlink"/>
                </a:solidFill>
                <a:hlinkClick r:id="rId4"/>
              </a:rPr>
              <a:t>https://lovable.dev</a:t>
            </a:r>
            <a:endParaRPr sz="1300">
              <a:solidFill>
                <a:schemeClr val="dk2"/>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04"/>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Testes A/B</a:t>
            </a:r>
            <a:endParaRPr b="1">
              <a:solidFill>
                <a:srgbClr val="FF0000"/>
              </a:solidFill>
            </a:endParaRPr>
          </a:p>
        </p:txBody>
      </p:sp>
      <p:sp>
        <p:nvSpPr>
          <p:cNvPr id="748" name="Google Shape;748;p10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0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Testes A/B</a:t>
            </a:r>
            <a:endParaRPr/>
          </a:p>
        </p:txBody>
      </p:sp>
      <p:sp>
        <p:nvSpPr>
          <p:cNvPr id="754" name="Google Shape;754;p105"/>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5" name="Google Shape;755;p105"/>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Cenário de uso: duas implementações "competem" entre si</a:t>
            </a:r>
            <a:endParaRPr sz="2200"/>
          </a:p>
          <a:p>
            <a:pPr indent="-368300" lvl="0" marL="457200" marR="0" rtl="0" algn="l">
              <a:lnSpc>
                <a:spcPct val="114000"/>
              </a:lnSpc>
              <a:spcBef>
                <a:spcPts val="1000"/>
              </a:spcBef>
              <a:spcAft>
                <a:spcPts val="0"/>
              </a:spcAft>
              <a:buSzPts val="2200"/>
              <a:buChar char="●"/>
            </a:pPr>
            <a:r>
              <a:rPr lang="en" sz="2200"/>
              <a:t>Exemplo: loja virtual</a:t>
            </a:r>
            <a:endParaRPr sz="2200"/>
          </a:p>
          <a:p>
            <a:pPr indent="-368300" lvl="0" marL="457200" marR="0" rtl="0" algn="l">
              <a:lnSpc>
                <a:spcPct val="114000"/>
              </a:lnSpc>
              <a:spcBef>
                <a:spcPts val="1000"/>
              </a:spcBef>
              <a:spcAft>
                <a:spcPts val="0"/>
              </a:spcAft>
              <a:buSzPts val="2200"/>
              <a:buChar char="●"/>
            </a:pPr>
            <a:r>
              <a:rPr lang="en" sz="2200"/>
              <a:t>Sistema recomendação: </a:t>
            </a:r>
            <a:r>
              <a:rPr lang="en" sz="2100"/>
              <a:t>quem compra P também compra X,Y,Z</a:t>
            </a:r>
            <a:endParaRPr sz="2100"/>
          </a:p>
          <a:p>
            <a:pPr indent="-368300" lvl="1" marL="914400" marR="0" rtl="0" algn="l">
              <a:lnSpc>
                <a:spcPct val="114000"/>
              </a:lnSpc>
              <a:spcBef>
                <a:spcPts val="1000"/>
              </a:spcBef>
              <a:spcAft>
                <a:spcPts val="0"/>
              </a:spcAft>
              <a:buSzPts val="2200"/>
              <a:buChar char="○"/>
            </a:pPr>
            <a:r>
              <a:rPr lang="en" sz="2200"/>
              <a:t>Versão original</a:t>
            </a:r>
            <a:endParaRPr sz="2200"/>
          </a:p>
          <a:p>
            <a:pPr indent="-368300" lvl="1" marL="914400" marR="0" rtl="0" algn="l">
              <a:lnSpc>
                <a:spcPct val="114000"/>
              </a:lnSpc>
              <a:spcBef>
                <a:spcPts val="1000"/>
              </a:spcBef>
              <a:spcAft>
                <a:spcPts val="0"/>
              </a:spcAft>
              <a:buSzPts val="2200"/>
              <a:buChar char="○"/>
            </a:pPr>
            <a:r>
              <a:rPr lang="en" sz="2200"/>
              <a:t>Nova versão, proposta por alguns devs</a:t>
            </a:r>
            <a:endParaRPr sz="2200"/>
          </a:p>
          <a:p>
            <a:pPr indent="-368300" lvl="0" marL="457200" marR="0" rtl="0" algn="l">
              <a:lnSpc>
                <a:spcPct val="114000"/>
              </a:lnSpc>
              <a:spcBef>
                <a:spcPts val="1000"/>
              </a:spcBef>
              <a:spcAft>
                <a:spcPts val="0"/>
              </a:spcAft>
              <a:buSzPts val="2200"/>
              <a:buChar char="●"/>
            </a:pPr>
            <a:r>
              <a:rPr lang="en" sz="2200"/>
              <a:t>Vale a pena migrar para nova versão?</a:t>
            </a:r>
            <a:endParaRPr sz="2200"/>
          </a:p>
          <a:p>
            <a:pPr indent="-368300" lvl="0" marL="457200" marR="0" rtl="0" algn="l">
              <a:lnSpc>
                <a:spcPct val="114000"/>
              </a:lnSpc>
              <a:spcBef>
                <a:spcPts val="1000"/>
              </a:spcBef>
              <a:spcAft>
                <a:spcPts val="1000"/>
              </a:spcAft>
              <a:buSzPts val="2200"/>
              <a:buChar char="●"/>
            </a:pPr>
            <a:r>
              <a:rPr lang="en" sz="2200"/>
              <a:t>Testes A/B: deixar os dados decidirem</a:t>
            </a:r>
            <a:endParaRPr sz="24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0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Versões de controle e tratamento</a:t>
            </a:r>
            <a:endParaRPr/>
          </a:p>
        </p:txBody>
      </p:sp>
      <p:sp>
        <p:nvSpPr>
          <p:cNvPr id="761" name="Google Shape;761;p106"/>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2" name="Google Shape;762;p106"/>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Versão A: controle</a:t>
            </a:r>
            <a:endParaRPr sz="2200"/>
          </a:p>
          <a:p>
            <a:pPr indent="-368300" lvl="0" marL="457200" marR="0" rtl="0" algn="l">
              <a:lnSpc>
                <a:spcPct val="114000"/>
              </a:lnSpc>
              <a:spcBef>
                <a:spcPts val="1000"/>
              </a:spcBef>
              <a:spcAft>
                <a:spcPts val="0"/>
              </a:spcAft>
              <a:buSzPts val="2200"/>
              <a:buChar char="●"/>
            </a:pPr>
            <a:r>
              <a:rPr lang="en" sz="2200"/>
              <a:t>Versão B: tratamento</a:t>
            </a:r>
            <a:endParaRPr sz="2200"/>
          </a:p>
          <a:p>
            <a:pPr indent="-368300" lvl="0" marL="457200" marR="0" rtl="0" algn="l">
              <a:lnSpc>
                <a:spcPct val="114000"/>
              </a:lnSpc>
              <a:spcBef>
                <a:spcPts val="1000"/>
              </a:spcBef>
              <a:spcAft>
                <a:spcPts val="0"/>
              </a:spcAft>
              <a:buSzPts val="2200"/>
              <a:buChar char="●"/>
            </a:pPr>
            <a:r>
              <a:rPr lang="en" sz="2200"/>
              <a:t>Novos usuários:</a:t>
            </a:r>
            <a:endParaRPr sz="2200"/>
          </a:p>
          <a:p>
            <a:pPr indent="0" lvl="0" marL="914400" marR="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pic>
        <p:nvPicPr>
          <p:cNvPr id="763" name="Google Shape;763;p106"/>
          <p:cNvPicPr preferRelativeResize="0"/>
          <p:nvPr/>
        </p:nvPicPr>
        <p:blipFill>
          <a:blip r:embed="rId3">
            <a:alphaModFix/>
          </a:blip>
          <a:stretch>
            <a:fillRect/>
          </a:stretch>
        </p:blipFill>
        <p:spPr>
          <a:xfrm>
            <a:off x="685800" y="2430175"/>
            <a:ext cx="8304874" cy="15287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0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No final do experimento</a:t>
            </a:r>
            <a:endParaRPr/>
          </a:p>
        </p:txBody>
      </p:sp>
      <p:sp>
        <p:nvSpPr>
          <p:cNvPr id="769" name="Google Shape;769;p107"/>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0" name="Google Shape;770;p107"/>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Analisam-se os resultados</a:t>
            </a:r>
            <a:endParaRPr sz="2200"/>
          </a:p>
          <a:p>
            <a:pPr indent="-368300" lvl="0" marL="457200" marR="0" rtl="0" algn="l">
              <a:lnSpc>
                <a:spcPct val="114000"/>
              </a:lnSpc>
              <a:spcBef>
                <a:spcPts val="1000"/>
              </a:spcBef>
              <a:spcAft>
                <a:spcPts val="0"/>
              </a:spcAft>
              <a:buSzPts val="2200"/>
              <a:buChar char="●"/>
            </a:pPr>
            <a:r>
              <a:rPr lang="en" sz="2200"/>
              <a:t>Exemplo: taxa de conversão de visitas em compras</a:t>
            </a:r>
            <a:endParaRPr sz="2200"/>
          </a:p>
          <a:p>
            <a:pPr indent="-368300" lvl="0" marL="457200" marR="0" rtl="0" algn="l">
              <a:lnSpc>
                <a:spcPct val="114000"/>
              </a:lnSpc>
              <a:spcBef>
                <a:spcPts val="1000"/>
              </a:spcBef>
              <a:spcAft>
                <a:spcPts val="0"/>
              </a:spcAft>
              <a:buSzPts val="2200"/>
              <a:buChar char="●"/>
            </a:pPr>
            <a:r>
              <a:rPr lang="en" sz="2200"/>
              <a:t>Versão B introduz ganhos estatisticamente relevantes?</a:t>
            </a:r>
            <a:endParaRPr sz="2200"/>
          </a:p>
          <a:p>
            <a:pPr indent="-368300" lvl="1" marL="914400" marR="0" rtl="0" algn="l">
              <a:lnSpc>
                <a:spcPct val="114000"/>
              </a:lnSpc>
              <a:spcBef>
                <a:spcPts val="1000"/>
              </a:spcBef>
              <a:spcAft>
                <a:spcPts val="0"/>
              </a:spcAft>
              <a:buSzPts val="2200"/>
              <a:buChar char="○"/>
            </a:pPr>
            <a:r>
              <a:rPr lang="en" sz="2200"/>
              <a:t>Sim, vamos migrar para ela</a:t>
            </a:r>
            <a:endParaRPr sz="2200"/>
          </a:p>
          <a:p>
            <a:pPr indent="-368300" lvl="1" marL="914400" marR="0" rtl="0" algn="l">
              <a:lnSpc>
                <a:spcPct val="114000"/>
              </a:lnSpc>
              <a:spcBef>
                <a:spcPts val="1000"/>
              </a:spcBef>
              <a:spcAft>
                <a:spcPts val="0"/>
              </a:spcAft>
              <a:buSzPts val="2200"/>
              <a:buChar char="○"/>
            </a:pPr>
            <a:r>
              <a:rPr lang="en" sz="2200"/>
              <a:t>Não, continuamos com o algoritmo original</a:t>
            </a:r>
            <a:endParaRPr sz="2200"/>
          </a:p>
          <a:p>
            <a:pPr indent="0" lvl="0" marL="914400" marR="0" rtl="0" algn="l">
              <a:lnSpc>
                <a:spcPct val="114000"/>
              </a:lnSpc>
              <a:spcBef>
                <a:spcPts val="1000"/>
              </a:spcBef>
              <a:spcAft>
                <a:spcPts val="0"/>
              </a:spcAft>
              <a:buNone/>
            </a:pPr>
            <a:r>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08"/>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Calculadoras de tamanho de amostras</a:t>
            </a:r>
            <a:endParaRPr/>
          </a:p>
        </p:txBody>
      </p:sp>
      <p:sp>
        <p:nvSpPr>
          <p:cNvPr id="776" name="Google Shape;776;p108"/>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7" name="Google Shape;777;p108"/>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Informa-se:</a:t>
            </a:r>
            <a:endParaRPr sz="2200"/>
          </a:p>
          <a:p>
            <a:pPr indent="-368300" lvl="1" marL="914400" marR="0" rtl="0" algn="l">
              <a:lnSpc>
                <a:spcPct val="114000"/>
              </a:lnSpc>
              <a:spcBef>
                <a:spcPts val="1000"/>
              </a:spcBef>
              <a:spcAft>
                <a:spcPts val="0"/>
              </a:spcAft>
              <a:buSzPts val="2200"/>
              <a:buChar char="○"/>
            </a:pPr>
            <a:r>
              <a:rPr lang="en" sz="2200"/>
              <a:t>Taxa de conversão atual (1%)</a:t>
            </a:r>
            <a:endParaRPr sz="2200"/>
          </a:p>
          <a:p>
            <a:pPr indent="-368300" lvl="1" marL="914400" marR="0" rtl="0" algn="l">
              <a:lnSpc>
                <a:spcPct val="114000"/>
              </a:lnSpc>
              <a:spcBef>
                <a:spcPts val="1000"/>
              </a:spcBef>
              <a:spcAft>
                <a:spcPts val="0"/>
              </a:spcAft>
              <a:buSzPts val="2200"/>
              <a:buChar char="○"/>
            </a:pPr>
            <a:r>
              <a:rPr lang="en" sz="2200"/>
              <a:t>Ganho pretendido (10%)</a:t>
            </a:r>
            <a:endParaRPr sz="2200"/>
          </a:p>
          <a:p>
            <a:pPr indent="-368300" lvl="0" marL="457200" marR="0" rtl="0" algn="l">
              <a:lnSpc>
                <a:spcPct val="114000"/>
              </a:lnSpc>
              <a:spcBef>
                <a:spcPts val="1000"/>
              </a:spcBef>
              <a:spcAft>
                <a:spcPts val="0"/>
              </a:spcAft>
              <a:buSzPts val="2200"/>
              <a:buChar char="●"/>
            </a:pPr>
            <a:r>
              <a:rPr lang="en" sz="2200"/>
              <a:t>Calculadora informa:</a:t>
            </a:r>
            <a:endParaRPr sz="2200"/>
          </a:p>
          <a:p>
            <a:pPr indent="-368300" lvl="1" marL="914400" marR="0" rtl="0" algn="l">
              <a:lnSpc>
                <a:spcPct val="114000"/>
              </a:lnSpc>
              <a:spcBef>
                <a:spcPts val="1000"/>
              </a:spcBef>
              <a:spcAft>
                <a:spcPts val="0"/>
              </a:spcAft>
              <a:buSzPts val="2200"/>
              <a:buChar char="○"/>
            </a:pPr>
            <a:r>
              <a:rPr lang="en" sz="2200"/>
              <a:t>Tamanho da amostra necessário: 200K por versão</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09"/>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83" name="Google Shape;783;p109"/>
          <p:cNvPicPr preferRelativeResize="0"/>
          <p:nvPr/>
        </p:nvPicPr>
        <p:blipFill>
          <a:blip r:embed="rId3">
            <a:alphaModFix/>
          </a:blip>
          <a:stretch>
            <a:fillRect/>
          </a:stretch>
        </p:blipFill>
        <p:spPr>
          <a:xfrm>
            <a:off x="2104600" y="152425"/>
            <a:ext cx="4713876" cy="4343800"/>
          </a:xfrm>
          <a:prstGeom prst="rect">
            <a:avLst/>
          </a:prstGeom>
          <a:noFill/>
          <a:ln cap="flat" cmpd="sng" w="9525">
            <a:solidFill>
              <a:schemeClr val="dk2"/>
            </a:solidFill>
            <a:prstDash val="solid"/>
            <a:round/>
            <a:headEnd len="sm" w="sm" type="none"/>
            <a:tailEnd len="sm" w="sm" type="none"/>
          </a:ln>
        </p:spPr>
      </p:pic>
      <p:sp>
        <p:nvSpPr>
          <p:cNvPr id="784" name="Google Shape;784;p109"/>
          <p:cNvSpPr txBox="1"/>
          <p:nvPr/>
        </p:nvSpPr>
        <p:spPr>
          <a:xfrm>
            <a:off x="1155200" y="4671775"/>
            <a:ext cx="6643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hlink"/>
                </a:solidFill>
                <a:hlinkClick r:id="rId4"/>
              </a:rPr>
              <a:t>https://www.optimizely.com/sample-size-calculator/#/?conversion=1&amp;effect=10&amp;significance=95</a:t>
            </a:r>
            <a:endParaRPr sz="1200">
              <a:solidFill>
                <a:schemeClr val="dk2"/>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10"/>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4000"/>
              </a:lnSpc>
              <a:spcBef>
                <a:spcPts val="0"/>
              </a:spcBef>
              <a:spcAft>
                <a:spcPts val="1000"/>
              </a:spcAft>
              <a:buNone/>
            </a:pPr>
            <a:r>
              <a:rPr lang="en">
                <a:solidFill>
                  <a:schemeClr val="dk2"/>
                </a:solidFill>
              </a:rPr>
              <a:t>Comentários finais</a:t>
            </a:r>
            <a:endParaRPr/>
          </a:p>
        </p:txBody>
      </p:sp>
      <p:sp>
        <p:nvSpPr>
          <p:cNvPr id="790" name="Google Shape;790;p110"/>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1" name="Google Shape;791;p110"/>
          <p:cNvSpPr txBox="1"/>
          <p:nvPr>
            <p:ph idx="1" type="body"/>
          </p:nvPr>
        </p:nvSpPr>
        <p:spPr>
          <a:xfrm>
            <a:off x="311700" y="923875"/>
            <a:ext cx="8520600" cy="820500"/>
          </a:xfrm>
          <a:prstGeom prst="rect">
            <a:avLst/>
          </a:prstGeom>
        </p:spPr>
        <p:txBody>
          <a:bodyPr anchorCtr="0" anchor="t" bIns="91425" lIns="91425" spcFirstLastPara="1" rIns="91425" wrap="square" tIns="91425">
            <a:noAutofit/>
          </a:bodyPr>
          <a:lstStyle/>
          <a:p>
            <a:pPr indent="-368300" lvl="0" marL="457200" marR="0" rtl="0" algn="l">
              <a:lnSpc>
                <a:spcPct val="114000"/>
              </a:lnSpc>
              <a:spcBef>
                <a:spcPts val="0"/>
              </a:spcBef>
              <a:spcAft>
                <a:spcPts val="0"/>
              </a:spcAft>
              <a:buSzPts val="2200"/>
              <a:buChar char="●"/>
            </a:pPr>
            <a:r>
              <a:rPr lang="en" sz="2200"/>
              <a:t>Testes A/B requerem amostras grandes</a:t>
            </a:r>
            <a:endParaRPr sz="2200"/>
          </a:p>
          <a:p>
            <a:pPr indent="-368300" lvl="0" marL="457200" marR="0" rtl="0" algn="l">
              <a:lnSpc>
                <a:spcPct val="114000"/>
              </a:lnSpc>
              <a:spcBef>
                <a:spcPts val="1000"/>
              </a:spcBef>
              <a:spcAft>
                <a:spcPts val="0"/>
              </a:spcAft>
              <a:buSzPts val="2200"/>
              <a:buChar char="●"/>
            </a:pPr>
            <a:r>
              <a:rPr lang="en" sz="2200"/>
              <a:t>São usados por todas as grandes empresas da Internet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11"/>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Exercícios</a:t>
            </a:r>
            <a:endParaRPr b="1">
              <a:solidFill>
                <a:srgbClr val="FF0000"/>
              </a:solidFill>
            </a:endParaRPr>
          </a:p>
        </p:txBody>
      </p:sp>
      <p:sp>
        <p:nvSpPr>
          <p:cNvPr id="797" name="Google Shape;797;p111"/>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12"/>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3" name="Google Shape;803;p112"/>
          <p:cNvSpPr txBox="1"/>
          <p:nvPr>
            <p:ph idx="1" type="body"/>
          </p:nvPr>
        </p:nvSpPr>
        <p:spPr>
          <a:xfrm>
            <a:off x="311700" y="238075"/>
            <a:ext cx="8520600" cy="8205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t>1. Suponha um primeiro teste A/B da seguinte forma:</a:t>
            </a:r>
            <a:endParaRPr sz="2000"/>
          </a:p>
          <a:p>
            <a:pPr indent="-355600" lvl="0" marL="457200" marR="0" rtl="0" algn="l">
              <a:lnSpc>
                <a:spcPct val="115000"/>
              </a:lnSpc>
              <a:spcBef>
                <a:spcPts val="1600"/>
              </a:spcBef>
              <a:spcAft>
                <a:spcPts val="0"/>
              </a:spcAft>
              <a:buSzPts val="2000"/>
              <a:buChar char="●"/>
            </a:pPr>
            <a:r>
              <a:rPr lang="en" sz="2000"/>
              <a:t>Conversão do grupo de controle: 1%</a:t>
            </a:r>
            <a:endParaRPr sz="2000"/>
          </a:p>
          <a:p>
            <a:pPr indent="-355600" lvl="0" marL="457200" marR="0" rtl="0" algn="l">
              <a:lnSpc>
                <a:spcPct val="115000"/>
              </a:lnSpc>
              <a:spcBef>
                <a:spcPts val="0"/>
              </a:spcBef>
              <a:spcAft>
                <a:spcPts val="0"/>
              </a:spcAft>
              <a:buSzPts val="2000"/>
              <a:buChar char="●"/>
            </a:pPr>
            <a:r>
              <a:rPr lang="en" sz="2000"/>
              <a:t>Aumento pretendido nessa taxa de conversão: 10%</a:t>
            </a:r>
            <a:endParaRPr sz="2000"/>
          </a:p>
          <a:p>
            <a:pPr indent="0" lvl="0" marL="0" marR="0" rtl="0" algn="l">
              <a:lnSpc>
                <a:spcPct val="115000"/>
              </a:lnSpc>
              <a:spcBef>
                <a:spcPts val="1600"/>
              </a:spcBef>
              <a:spcAft>
                <a:spcPts val="0"/>
              </a:spcAft>
              <a:buNone/>
            </a:pPr>
            <a:r>
              <a:rPr lang="en" sz="2000"/>
              <a:t>Suponha agora um segundo teste A/B, da seguinte forma:</a:t>
            </a:r>
            <a:endParaRPr sz="2000"/>
          </a:p>
          <a:p>
            <a:pPr indent="-355600" lvl="0" marL="457200" marR="0" rtl="0" algn="l">
              <a:lnSpc>
                <a:spcPct val="115000"/>
              </a:lnSpc>
              <a:spcBef>
                <a:spcPts val="1600"/>
              </a:spcBef>
              <a:spcAft>
                <a:spcPts val="0"/>
              </a:spcAft>
              <a:buSzPts val="2000"/>
              <a:buChar char="●"/>
            </a:pPr>
            <a:r>
              <a:rPr lang="en" sz="2000"/>
              <a:t>Conversão do grupo de controle: 1%</a:t>
            </a:r>
            <a:endParaRPr sz="2000"/>
          </a:p>
          <a:p>
            <a:pPr indent="-355600" lvl="0" marL="457200" marR="0" rtl="0" algn="l">
              <a:lnSpc>
                <a:spcPct val="115000"/>
              </a:lnSpc>
              <a:spcBef>
                <a:spcPts val="0"/>
              </a:spcBef>
              <a:spcAft>
                <a:spcPts val="0"/>
              </a:spcAft>
              <a:buSzPts val="2000"/>
              <a:buChar char="●"/>
            </a:pPr>
            <a:r>
              <a:rPr lang="en" sz="2000"/>
              <a:t>Aumento pretendido nessa taxa de conversão: 30%</a:t>
            </a:r>
            <a:endParaRPr sz="2000"/>
          </a:p>
          <a:p>
            <a:pPr indent="0" lvl="0" marL="0" marR="0" rtl="0" algn="l">
              <a:lnSpc>
                <a:spcPct val="115000"/>
              </a:lnSpc>
              <a:spcBef>
                <a:spcPts val="1600"/>
              </a:spcBef>
              <a:spcAft>
                <a:spcPts val="0"/>
              </a:spcAft>
              <a:buNone/>
            </a:pPr>
            <a:r>
              <a:rPr lang="en" sz="2000"/>
              <a:t>Qual desses testes demanda uma amostra maior para ter validade? Justifique.</a:t>
            </a:r>
            <a:endParaRPr sz="2000"/>
          </a:p>
          <a:p>
            <a:pPr indent="0" lvl="0" marL="0" rtl="0" algn="l">
              <a:lnSpc>
                <a:spcPct val="114000"/>
              </a:lnSpc>
              <a:spcBef>
                <a:spcPts val="1600"/>
              </a:spcBef>
              <a:spcAft>
                <a:spcPts val="0"/>
              </a:spcAft>
              <a:buClr>
                <a:schemeClr val="dk1"/>
              </a:buClr>
              <a:buSzPts val="1100"/>
              <a:buFont typeface="Arial"/>
              <a:buNone/>
            </a:pPr>
            <a:r>
              <a:t/>
            </a:r>
            <a:endParaRPr sz="2200"/>
          </a:p>
          <a:p>
            <a:pPr indent="0" lvl="0" marL="0" marR="0" rtl="0" algn="l">
              <a:lnSpc>
                <a:spcPct val="114000"/>
              </a:lnSpc>
              <a:spcBef>
                <a:spcPts val="1000"/>
              </a:spcBef>
              <a:spcAft>
                <a:spcPts val="0"/>
              </a:spcAft>
              <a:buNone/>
            </a:pPr>
            <a:r>
              <a:t/>
            </a:r>
            <a:endParaRPr sz="2200"/>
          </a:p>
          <a:p>
            <a:pPr indent="0" lvl="0" marL="457200" marR="0" rtl="0" algn="l">
              <a:lnSpc>
                <a:spcPct val="114000"/>
              </a:lnSpc>
              <a:spcBef>
                <a:spcPts val="1000"/>
              </a:spcBef>
              <a:spcAft>
                <a:spcPts val="0"/>
              </a:spcAft>
              <a:buNone/>
            </a:pPr>
            <a:r>
              <a:rPr lang="en" sz="2200"/>
              <a:t> </a:t>
            </a:r>
            <a:endParaRPr sz="2200"/>
          </a:p>
          <a:p>
            <a:pPr indent="0" lvl="0" marL="457200" rtl="0" algn="l">
              <a:lnSpc>
                <a:spcPct val="114000"/>
              </a:lnSpc>
              <a:spcBef>
                <a:spcPts val="1000"/>
              </a:spcBef>
              <a:spcAft>
                <a:spcPts val="0"/>
              </a:spcAft>
              <a:buNone/>
            </a:pPr>
            <a:r>
              <a:t/>
            </a:r>
            <a:endParaRPr sz="2400"/>
          </a:p>
          <a:p>
            <a:pPr indent="0" lvl="0" marL="457200" rtl="0" algn="l">
              <a:lnSpc>
                <a:spcPct val="114000"/>
              </a:lnSpc>
              <a:spcBef>
                <a:spcPts val="1000"/>
              </a:spcBef>
              <a:spcAft>
                <a:spcPts val="1000"/>
              </a:spcAft>
              <a:buNone/>
            </a:pPr>
            <a:r>
              <a:t/>
            </a:r>
            <a:endParaRPr sz="2400"/>
          </a:p>
        </p:txBody>
      </p:sp>
      <p:sp>
        <p:nvSpPr>
          <p:cNvPr id="804" name="Google Shape;804;p112"/>
          <p:cNvSpPr txBox="1"/>
          <p:nvPr/>
        </p:nvSpPr>
        <p:spPr>
          <a:xfrm>
            <a:off x="1460000" y="4290775"/>
            <a:ext cx="599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Se quiser, faça o teste usando esta </a:t>
            </a:r>
            <a:r>
              <a:rPr lang="en" u="sng">
                <a:solidFill>
                  <a:schemeClr val="dk2"/>
                </a:solidFill>
                <a:hlinkClick r:id="rId3">
                  <a:extLst>
                    <a:ext uri="{A12FA001-AC4F-418D-AE19-62706E023703}">
                      <ahyp:hlinkClr val="tx"/>
                    </a:ext>
                  </a:extLst>
                </a:hlinkClick>
              </a:rPr>
              <a:t>calculadora</a:t>
            </a:r>
            <a:r>
              <a:rPr lang="en">
                <a:solidFill>
                  <a:schemeClr val="dk2"/>
                </a:solidFill>
              </a:rPr>
              <a:t> de tamanho de amostras</a:t>
            </a:r>
            <a:endParaRPr sz="1200">
              <a:solidFill>
                <a:schemeClr val="dk2"/>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13"/>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10" name="Google Shape;810;p113"/>
          <p:cNvPicPr preferRelativeResize="0"/>
          <p:nvPr/>
        </p:nvPicPr>
        <p:blipFill>
          <a:blip r:embed="rId3">
            <a:alphaModFix/>
          </a:blip>
          <a:stretch>
            <a:fillRect/>
          </a:stretch>
        </p:blipFill>
        <p:spPr>
          <a:xfrm>
            <a:off x="274875" y="154025"/>
            <a:ext cx="4069650" cy="4271599"/>
          </a:xfrm>
          <a:prstGeom prst="rect">
            <a:avLst/>
          </a:prstGeom>
          <a:noFill/>
          <a:ln>
            <a:noFill/>
          </a:ln>
        </p:spPr>
      </p:pic>
      <p:pic>
        <p:nvPicPr>
          <p:cNvPr id="811" name="Google Shape;811;p113"/>
          <p:cNvPicPr preferRelativeResize="0"/>
          <p:nvPr/>
        </p:nvPicPr>
        <p:blipFill>
          <a:blip r:embed="rId4">
            <a:alphaModFix/>
          </a:blip>
          <a:stretch>
            <a:fillRect/>
          </a:stretch>
        </p:blipFill>
        <p:spPr>
          <a:xfrm>
            <a:off x="4716750" y="131907"/>
            <a:ext cx="4069649" cy="4293718"/>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14"/>
          <p:cNvSpPr txBox="1"/>
          <p:nvPr>
            <p:ph type="title"/>
          </p:nvPr>
        </p:nvSpPr>
        <p:spPr>
          <a:xfrm>
            <a:off x="311700" y="1816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Fim</a:t>
            </a:r>
            <a:endParaRPr b="1">
              <a:solidFill>
                <a:srgbClr val="FF0000"/>
              </a:solidFill>
            </a:endParaRPr>
          </a:p>
        </p:txBody>
      </p:sp>
      <p:sp>
        <p:nvSpPr>
          <p:cNvPr id="817" name="Google Shape;817;p114"/>
          <p:cNvSpPr txBox="1"/>
          <p:nvPr>
            <p:ph idx="12" type="sldNum"/>
          </p:nvPr>
        </p:nvSpPr>
        <p:spPr>
          <a:xfrm>
            <a:off x="14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